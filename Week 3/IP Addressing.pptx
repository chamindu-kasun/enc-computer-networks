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51"/>
  </p:notesMasterIdLst>
  <p:sldIdLst>
    <p:sldId id="331" r:id="rId2"/>
    <p:sldId id="650" r:id="rId3"/>
    <p:sldId id="651" r:id="rId4"/>
    <p:sldId id="652" r:id="rId5"/>
    <p:sldId id="653" r:id="rId6"/>
    <p:sldId id="654" r:id="rId7"/>
    <p:sldId id="655" r:id="rId8"/>
    <p:sldId id="656" r:id="rId9"/>
    <p:sldId id="657" r:id="rId10"/>
    <p:sldId id="658" r:id="rId11"/>
    <p:sldId id="659" r:id="rId12"/>
    <p:sldId id="660" r:id="rId13"/>
    <p:sldId id="661" r:id="rId14"/>
    <p:sldId id="662" r:id="rId15"/>
    <p:sldId id="663" r:id="rId16"/>
    <p:sldId id="664" r:id="rId17"/>
    <p:sldId id="665" r:id="rId18"/>
    <p:sldId id="666" r:id="rId19"/>
    <p:sldId id="667" r:id="rId20"/>
    <p:sldId id="668" r:id="rId21"/>
    <p:sldId id="669" r:id="rId22"/>
    <p:sldId id="670" r:id="rId23"/>
    <p:sldId id="671" r:id="rId24"/>
    <p:sldId id="672" r:id="rId25"/>
    <p:sldId id="673" r:id="rId26"/>
    <p:sldId id="676" r:id="rId27"/>
    <p:sldId id="674" r:id="rId28"/>
    <p:sldId id="675" r:id="rId29"/>
    <p:sldId id="511" r:id="rId30"/>
    <p:sldId id="636" r:id="rId31"/>
    <p:sldId id="637" r:id="rId32"/>
    <p:sldId id="639" r:id="rId33"/>
    <p:sldId id="638" r:id="rId34"/>
    <p:sldId id="640" r:id="rId35"/>
    <p:sldId id="641" r:id="rId36"/>
    <p:sldId id="642" r:id="rId37"/>
    <p:sldId id="643" r:id="rId38"/>
    <p:sldId id="644" r:id="rId39"/>
    <p:sldId id="645" r:id="rId40"/>
    <p:sldId id="635" r:id="rId41"/>
    <p:sldId id="646" r:id="rId42"/>
    <p:sldId id="647" r:id="rId43"/>
    <p:sldId id="648" r:id="rId44"/>
    <p:sldId id="547" r:id="rId45"/>
    <p:sldId id="649" r:id="rId46"/>
    <p:sldId id="677" r:id="rId47"/>
    <p:sldId id="678" r:id="rId48"/>
    <p:sldId id="679" r:id="rId49"/>
    <p:sldId id="680" r:id="rId50"/>
  </p:sldIdLst>
  <p:sldSz cx="10058400" cy="7772400"/>
  <p:notesSz cx="10058400" cy="77724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000000"/>
          </p15:clr>
        </p15:guide>
        <p15:guide id="2" pos="216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32" roundtripDataSignature="AMtx7mide5E5K1qMnAXfCVAS8PAjD/wh6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807" autoAdjust="0"/>
    <p:restoredTop sz="94660"/>
  </p:normalViewPr>
  <p:slideViewPr>
    <p:cSldViewPr snapToGrid="0">
      <p:cViewPr varScale="1">
        <p:scale>
          <a:sx n="71" d="100"/>
          <a:sy n="71" d="100"/>
        </p:scale>
        <p:origin x="84" y="840"/>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7" Type="http://schemas.openxmlformats.org/officeDocument/2006/relationships/slide" Target="slides/slide6.xml"/><Relationship Id="rId234"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232"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23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235" Type="http://schemas.openxmlformats.org/officeDocument/2006/relationships/theme" Target="theme/theme1.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233" Type="http://schemas.openxmlformats.org/officeDocument/2006/relationships/presProps" Target="presProps.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676725" y="582925"/>
            <a:ext cx="6705925"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1005825" y="3691875"/>
            <a:ext cx="8046700" cy="3497575"/>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210634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85064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434544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024263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220604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12385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632698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242232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326017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0487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271597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700560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968850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26250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796883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060615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040501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670121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678451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8420373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856180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607595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552483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4024259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2480493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2123676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2481998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1464463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1895306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2328967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3775989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221360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3138753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3652897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8261360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6940326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5121833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8278717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1841500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9061810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6936205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2276925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0443977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8297492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4990773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7586923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4262884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5245940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312675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3"/>
        <p:cNvGrpSpPr/>
        <p:nvPr/>
      </p:nvGrpSpPr>
      <p:grpSpPr>
        <a:xfrm>
          <a:off x="0" y="0"/>
          <a:ext cx="0" cy="0"/>
          <a:chOff x="0" y="0"/>
          <a:chExt cx="0" cy="0"/>
        </a:xfrm>
      </p:grpSpPr>
      <p:sp>
        <p:nvSpPr>
          <p:cNvPr id="14" name="Google Shape;14;p17"/>
          <p:cNvSpPr txBox="1">
            <a:spLocks noGrp="1"/>
          </p:cNvSpPr>
          <p:nvPr>
            <p:ph type="title"/>
          </p:nvPr>
        </p:nvSpPr>
        <p:spPr>
          <a:xfrm>
            <a:off x="3917822" y="3268472"/>
            <a:ext cx="2222754" cy="63563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4000" b="1" i="0">
                <a:solidFill>
                  <a:srgbClr val="006533"/>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7"/>
          <p:cNvSpPr txBox="1">
            <a:spLocks noGrp="1"/>
          </p:cNvSpPr>
          <p:nvPr>
            <p:ph type="body" idx="1"/>
          </p:nvPr>
        </p:nvSpPr>
        <p:spPr>
          <a:xfrm>
            <a:off x="967739" y="1415005"/>
            <a:ext cx="6968490" cy="3034665"/>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sz="2800" b="0" i="0">
                <a:solidFill>
                  <a:srgbClr val="006533"/>
                </a:solidFill>
                <a:latin typeface="Times New Roman"/>
                <a:ea typeface="Times New Roman"/>
                <a:cs typeface="Times New Roman"/>
                <a:sym typeface="Times New Roman"/>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6" name="Google Shape;16;p17"/>
          <p:cNvSpPr txBox="1">
            <a:spLocks noGrp="1"/>
          </p:cNvSpPr>
          <p:nvPr>
            <p:ph type="ftr" idx="11"/>
          </p:nvPr>
        </p:nvSpPr>
        <p:spPr>
          <a:xfrm>
            <a:off x="3419856" y="7228332"/>
            <a:ext cx="3218688" cy="38862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7"/>
          <p:cNvSpPr txBox="1">
            <a:spLocks noGrp="1"/>
          </p:cNvSpPr>
          <p:nvPr>
            <p:ph type="dt" idx="10"/>
          </p:nvPr>
        </p:nvSpPr>
        <p:spPr>
          <a:xfrm>
            <a:off x="502920" y="7228332"/>
            <a:ext cx="2313432" cy="38862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7"/>
          <p:cNvSpPr txBox="1">
            <a:spLocks noGrp="1"/>
          </p:cNvSpPr>
          <p:nvPr>
            <p:ph type="sldNum" idx="12"/>
          </p:nvPr>
        </p:nvSpPr>
        <p:spPr>
          <a:xfrm>
            <a:off x="8869680" y="6925793"/>
            <a:ext cx="220345" cy="196850"/>
          </a:xfrm>
          <a:prstGeom prst="rect">
            <a:avLst/>
          </a:prstGeom>
          <a:noFill/>
          <a:ln>
            <a:noFill/>
          </a:ln>
        </p:spPr>
        <p:txBody>
          <a:bodyPr spcFirstLastPara="1" wrap="square" lIns="0" tIns="0" rIns="0" bIns="0" anchor="t" anchorCtr="0">
            <a:spAutoFit/>
          </a:bodyPr>
          <a:lstStyle>
            <a:lvl1pPr marL="38100" marR="0" lvl="0"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1pPr>
            <a:lvl2pPr marL="38100" marR="0" lvl="1"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2pPr>
            <a:lvl3pPr marL="38100" marR="0" lvl="2"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3pPr>
            <a:lvl4pPr marL="38100" marR="0" lvl="3"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4pPr>
            <a:lvl5pPr marL="38100" marR="0" lvl="4"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5pPr>
            <a:lvl6pPr marL="38100" marR="0" lvl="5"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6pPr>
            <a:lvl7pPr marL="38100" marR="0" lvl="6"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7pPr>
            <a:lvl8pPr marL="38100" marR="0" lvl="7"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8pPr>
            <a:lvl9pPr marL="38100" marR="0" lvl="8"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30"/>
        <p:cNvGrpSpPr/>
        <p:nvPr/>
      </p:nvGrpSpPr>
      <p:grpSpPr>
        <a:xfrm>
          <a:off x="0" y="0"/>
          <a:ext cx="0" cy="0"/>
          <a:chOff x="0" y="0"/>
          <a:chExt cx="0" cy="0"/>
        </a:xfrm>
      </p:grpSpPr>
      <p:sp>
        <p:nvSpPr>
          <p:cNvPr id="31" name="Google Shape;31;p20"/>
          <p:cNvSpPr txBox="1">
            <a:spLocks noGrp="1"/>
          </p:cNvSpPr>
          <p:nvPr>
            <p:ph type="title"/>
          </p:nvPr>
        </p:nvSpPr>
        <p:spPr>
          <a:xfrm>
            <a:off x="3917822" y="3268472"/>
            <a:ext cx="2222754" cy="63563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4000" b="1" i="0">
                <a:solidFill>
                  <a:srgbClr val="006533"/>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0"/>
          <p:cNvSpPr txBox="1">
            <a:spLocks noGrp="1"/>
          </p:cNvSpPr>
          <p:nvPr>
            <p:ph type="body" idx="1"/>
          </p:nvPr>
        </p:nvSpPr>
        <p:spPr>
          <a:xfrm>
            <a:off x="502920" y="1787652"/>
            <a:ext cx="4375404" cy="5129784"/>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33" name="Google Shape;33;p20"/>
          <p:cNvSpPr txBox="1">
            <a:spLocks noGrp="1"/>
          </p:cNvSpPr>
          <p:nvPr>
            <p:ph type="body" idx="2"/>
          </p:nvPr>
        </p:nvSpPr>
        <p:spPr>
          <a:xfrm>
            <a:off x="5180076" y="1787652"/>
            <a:ext cx="4375404" cy="5129784"/>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34" name="Google Shape;34;p20"/>
          <p:cNvSpPr txBox="1">
            <a:spLocks noGrp="1"/>
          </p:cNvSpPr>
          <p:nvPr>
            <p:ph type="ftr" idx="11"/>
          </p:nvPr>
        </p:nvSpPr>
        <p:spPr>
          <a:xfrm>
            <a:off x="3419856" y="7228332"/>
            <a:ext cx="3218688" cy="38862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20"/>
          <p:cNvSpPr txBox="1">
            <a:spLocks noGrp="1"/>
          </p:cNvSpPr>
          <p:nvPr>
            <p:ph type="dt" idx="10"/>
          </p:nvPr>
        </p:nvSpPr>
        <p:spPr>
          <a:xfrm>
            <a:off x="502920" y="7228332"/>
            <a:ext cx="2313432" cy="38862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20"/>
          <p:cNvSpPr txBox="1">
            <a:spLocks noGrp="1"/>
          </p:cNvSpPr>
          <p:nvPr>
            <p:ph type="sldNum" idx="12"/>
          </p:nvPr>
        </p:nvSpPr>
        <p:spPr>
          <a:xfrm>
            <a:off x="8869680" y="6925793"/>
            <a:ext cx="220345" cy="196850"/>
          </a:xfrm>
          <a:prstGeom prst="rect">
            <a:avLst/>
          </a:prstGeom>
          <a:noFill/>
          <a:ln>
            <a:noFill/>
          </a:ln>
        </p:spPr>
        <p:txBody>
          <a:bodyPr spcFirstLastPara="1" wrap="square" lIns="0" tIns="0" rIns="0" bIns="0" anchor="t" anchorCtr="0">
            <a:spAutoFit/>
          </a:bodyPr>
          <a:lstStyle>
            <a:lvl1pPr marL="38100" marR="0" lvl="0"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1pPr>
            <a:lvl2pPr marL="38100" marR="0" lvl="1"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2pPr>
            <a:lvl3pPr marL="38100" marR="0" lvl="2"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3pPr>
            <a:lvl4pPr marL="38100" marR="0" lvl="3"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4pPr>
            <a:lvl5pPr marL="38100" marR="0" lvl="4"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5pPr>
            <a:lvl6pPr marL="38100" marR="0" lvl="5"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6pPr>
            <a:lvl7pPr marL="38100" marR="0" lvl="6"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7pPr>
            <a:lvl8pPr marL="38100" marR="0" lvl="7"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8pPr>
            <a:lvl9pPr marL="38100" marR="0" lvl="8"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37"/>
        <p:cNvGrpSpPr/>
        <p:nvPr/>
      </p:nvGrpSpPr>
      <p:grpSpPr>
        <a:xfrm>
          <a:off x="0" y="0"/>
          <a:ext cx="0" cy="0"/>
          <a:chOff x="0" y="0"/>
          <a:chExt cx="0" cy="0"/>
        </a:xfrm>
      </p:grpSpPr>
      <p:sp>
        <p:nvSpPr>
          <p:cNvPr id="38" name="Google Shape;38;p21"/>
          <p:cNvSpPr txBox="1">
            <a:spLocks noGrp="1"/>
          </p:cNvSpPr>
          <p:nvPr>
            <p:ph type="ftr" idx="11"/>
          </p:nvPr>
        </p:nvSpPr>
        <p:spPr>
          <a:xfrm>
            <a:off x="3419856" y="7228332"/>
            <a:ext cx="3218688" cy="38862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21"/>
          <p:cNvSpPr txBox="1">
            <a:spLocks noGrp="1"/>
          </p:cNvSpPr>
          <p:nvPr>
            <p:ph type="dt" idx="10"/>
          </p:nvPr>
        </p:nvSpPr>
        <p:spPr>
          <a:xfrm>
            <a:off x="502920" y="7228332"/>
            <a:ext cx="2313432" cy="38862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21"/>
          <p:cNvSpPr txBox="1">
            <a:spLocks noGrp="1"/>
          </p:cNvSpPr>
          <p:nvPr>
            <p:ph type="sldNum" idx="12"/>
          </p:nvPr>
        </p:nvSpPr>
        <p:spPr>
          <a:xfrm>
            <a:off x="8869680" y="6925793"/>
            <a:ext cx="220345" cy="196850"/>
          </a:xfrm>
          <a:prstGeom prst="rect">
            <a:avLst/>
          </a:prstGeom>
          <a:noFill/>
          <a:ln>
            <a:noFill/>
          </a:ln>
        </p:spPr>
        <p:txBody>
          <a:bodyPr spcFirstLastPara="1" wrap="square" lIns="0" tIns="0" rIns="0" bIns="0" anchor="t" anchorCtr="0">
            <a:spAutoFit/>
          </a:bodyPr>
          <a:lstStyle>
            <a:lvl1pPr marL="38100" marR="0" lvl="0"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1pPr>
            <a:lvl2pPr marL="38100" marR="0" lvl="1"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2pPr>
            <a:lvl3pPr marL="38100" marR="0" lvl="2"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3pPr>
            <a:lvl4pPr marL="38100" marR="0" lvl="3"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4pPr>
            <a:lvl5pPr marL="38100" marR="0" lvl="4"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5pPr>
            <a:lvl6pPr marL="38100" marR="0" lvl="5"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6pPr>
            <a:lvl7pPr marL="38100" marR="0" lvl="6"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7pPr>
            <a:lvl8pPr marL="38100" marR="0" lvl="7"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8pPr>
            <a:lvl9pPr marL="38100" marR="0" lvl="8"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6"/>
          <p:cNvSpPr/>
          <p:nvPr/>
        </p:nvSpPr>
        <p:spPr>
          <a:xfrm>
            <a:off x="829056" y="676655"/>
            <a:ext cx="8238490" cy="619125"/>
          </a:xfrm>
          <a:custGeom>
            <a:avLst/>
            <a:gdLst/>
            <a:ahLst/>
            <a:cxnLst/>
            <a:rect l="l" t="t" r="r" b="b"/>
            <a:pathLst>
              <a:path w="8238490" h="619125" extrusionOk="0">
                <a:moveTo>
                  <a:pt x="8238490" y="0"/>
                </a:moveTo>
                <a:lnTo>
                  <a:pt x="19050" y="0"/>
                </a:lnTo>
                <a:lnTo>
                  <a:pt x="8890" y="0"/>
                </a:lnTo>
                <a:lnTo>
                  <a:pt x="0" y="0"/>
                </a:lnTo>
                <a:lnTo>
                  <a:pt x="0" y="618744"/>
                </a:lnTo>
                <a:lnTo>
                  <a:pt x="8890" y="618744"/>
                </a:lnTo>
                <a:lnTo>
                  <a:pt x="8890" y="14224"/>
                </a:lnTo>
                <a:lnTo>
                  <a:pt x="13970" y="14224"/>
                </a:lnTo>
                <a:lnTo>
                  <a:pt x="9144" y="19050"/>
                </a:lnTo>
                <a:lnTo>
                  <a:pt x="9144" y="618744"/>
                </a:lnTo>
                <a:lnTo>
                  <a:pt x="19050" y="618744"/>
                </a:lnTo>
                <a:lnTo>
                  <a:pt x="19050" y="19050"/>
                </a:lnTo>
                <a:lnTo>
                  <a:pt x="8238490" y="19050"/>
                </a:lnTo>
                <a:lnTo>
                  <a:pt x="8238490" y="0"/>
                </a:lnTo>
                <a:close/>
              </a:path>
            </a:pathLst>
          </a:custGeom>
          <a:solidFill>
            <a:srgbClr val="CC99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 name="Google Shape;7;p16"/>
          <p:cNvSpPr/>
          <p:nvPr/>
        </p:nvSpPr>
        <p:spPr>
          <a:xfrm>
            <a:off x="914400" y="6620256"/>
            <a:ext cx="8229600" cy="19050"/>
          </a:xfrm>
          <a:custGeom>
            <a:avLst/>
            <a:gdLst/>
            <a:ahLst/>
            <a:cxnLst/>
            <a:rect l="l" t="t" r="r" b="b"/>
            <a:pathLst>
              <a:path w="8229600" h="19050" extrusionOk="0">
                <a:moveTo>
                  <a:pt x="8229600" y="19050"/>
                </a:moveTo>
                <a:lnTo>
                  <a:pt x="8229600" y="0"/>
                </a:lnTo>
                <a:lnTo>
                  <a:pt x="0" y="0"/>
                </a:lnTo>
                <a:lnTo>
                  <a:pt x="0" y="19050"/>
                </a:lnTo>
                <a:lnTo>
                  <a:pt x="8229600" y="19050"/>
                </a:lnTo>
                <a:close/>
              </a:path>
            </a:pathLst>
          </a:custGeom>
          <a:solidFill>
            <a:srgbClr val="CC99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 name="Google Shape;8;p16"/>
          <p:cNvSpPr txBox="1">
            <a:spLocks noGrp="1"/>
          </p:cNvSpPr>
          <p:nvPr>
            <p:ph type="title"/>
          </p:nvPr>
        </p:nvSpPr>
        <p:spPr>
          <a:xfrm>
            <a:off x="3917822" y="3268472"/>
            <a:ext cx="2222754" cy="635635"/>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4000" b="1" i="0" u="none" strike="noStrike" cap="none">
                <a:solidFill>
                  <a:srgbClr val="006533"/>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9" name="Google Shape;9;p16"/>
          <p:cNvSpPr txBox="1">
            <a:spLocks noGrp="1"/>
          </p:cNvSpPr>
          <p:nvPr>
            <p:ph type="body" idx="1"/>
          </p:nvPr>
        </p:nvSpPr>
        <p:spPr>
          <a:xfrm>
            <a:off x="967739" y="1415005"/>
            <a:ext cx="6968490" cy="3034665"/>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1400"/>
              <a:buFont typeface="Arial"/>
              <a:buNone/>
              <a:defRPr sz="2800" b="0" i="0" u="none" strike="noStrike" cap="none">
                <a:solidFill>
                  <a:srgbClr val="006533"/>
                </a:solidFill>
                <a:latin typeface="Times New Roman"/>
                <a:ea typeface="Times New Roman"/>
                <a:cs typeface="Times New Roman"/>
                <a:sym typeface="Times New Roman"/>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10" name="Google Shape;10;p16"/>
          <p:cNvSpPr txBox="1">
            <a:spLocks noGrp="1"/>
          </p:cNvSpPr>
          <p:nvPr>
            <p:ph type="ftr" idx="11"/>
          </p:nvPr>
        </p:nvSpPr>
        <p:spPr>
          <a:xfrm>
            <a:off x="3419856" y="7228332"/>
            <a:ext cx="3218688" cy="388620"/>
          </a:xfrm>
          <a:prstGeom prst="rect">
            <a:avLst/>
          </a:prstGeom>
          <a:noFill/>
          <a:ln>
            <a:noFill/>
          </a:ln>
        </p:spPr>
        <p:txBody>
          <a:bodyPr spcFirstLastPara="1" wrap="square" lIns="0" tIns="0" rIns="0" bIns="0" anchor="t" anchorCtr="0">
            <a:spAutoFit/>
          </a:bodyPr>
          <a:lstStyle>
            <a:lvl1pPr marR="0" lvl="0" algn="ctr"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6"/>
          <p:cNvSpPr txBox="1">
            <a:spLocks noGrp="1"/>
          </p:cNvSpPr>
          <p:nvPr>
            <p:ph type="dt" idx="10"/>
          </p:nvPr>
        </p:nvSpPr>
        <p:spPr>
          <a:xfrm>
            <a:off x="502920" y="7228332"/>
            <a:ext cx="2313432" cy="38862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2" name="Google Shape;12;p16"/>
          <p:cNvSpPr txBox="1">
            <a:spLocks noGrp="1"/>
          </p:cNvSpPr>
          <p:nvPr>
            <p:ph type="sldNum" idx="12"/>
          </p:nvPr>
        </p:nvSpPr>
        <p:spPr>
          <a:xfrm>
            <a:off x="8869680" y="6925793"/>
            <a:ext cx="220345" cy="196850"/>
          </a:xfrm>
          <a:prstGeom prst="rect">
            <a:avLst/>
          </a:prstGeom>
          <a:noFill/>
          <a:ln>
            <a:noFill/>
          </a:ln>
        </p:spPr>
        <p:txBody>
          <a:bodyPr spcFirstLastPara="1" wrap="square" lIns="0" tIns="0" rIns="0" bIns="0" anchor="t" anchorCtr="0">
            <a:spAutoFit/>
          </a:bodyPr>
          <a:lstStyle>
            <a:lvl1pPr marL="38100" marR="0" lvl="0" indent="0" algn="l" rtl="0">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1pPr>
            <a:lvl2pPr marL="38100" marR="0" lvl="1" indent="0" algn="l" rtl="0">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2pPr>
            <a:lvl3pPr marL="38100" marR="0" lvl="2" indent="0" algn="l" rtl="0">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3pPr>
            <a:lvl4pPr marL="38100" marR="0" lvl="3" indent="0" algn="l" rtl="0">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4pPr>
            <a:lvl5pPr marL="38100" marR="0" lvl="4" indent="0" algn="l" rtl="0">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5pPr>
            <a:lvl6pPr marL="38100" marR="0" lvl="5" indent="0" algn="l" rtl="0">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6pPr>
            <a:lvl7pPr marL="38100" marR="0" lvl="6" indent="0" algn="l" rtl="0">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7pPr>
            <a:lvl8pPr marL="38100" marR="0" lvl="7" indent="0" algn="l" rtl="0">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8pPr>
            <a:lvl9pPr marL="38100" marR="0" lvl="8" indent="0" algn="l" rtl="0">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9pPr>
          </a:lstStyle>
          <a:p>
            <a:pPr marL="38100" lvl="0" indent="0" algn="l"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2" r:id="rId2"/>
    <p:sldLayoutId id="2147483653"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1510747" y="2819000"/>
            <a:ext cx="7136601" cy="936154"/>
          </a:xfrm>
          <a:prstGeom prst="rect">
            <a:avLst/>
          </a:prstGeom>
          <a:noFill/>
          <a:ln>
            <a:noFill/>
          </a:ln>
        </p:spPr>
        <p:txBody>
          <a:bodyPr spcFirstLastPara="1" wrap="square" lIns="0" tIns="12700" rIns="0" bIns="0" anchor="t" anchorCtr="0">
            <a:spAutoFit/>
          </a:bodyPr>
          <a:lstStyle/>
          <a:p>
            <a:pPr lvl="0" algn="ctr"/>
            <a:r>
              <a:rPr lang="en-US" sz="6000" dirty="0" smtClean="0"/>
              <a:t>Computer Networks</a:t>
            </a: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1</a:t>
            </a:fld>
            <a:endParaRP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6246281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Question</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2</a:t>
            </a:fld>
            <a:endParaRPr/>
          </a:p>
        </p:txBody>
      </p:sp>
      <p:sp>
        <p:nvSpPr>
          <p:cNvPr id="4" name="Google Shape;56;p8"/>
          <p:cNvSpPr txBox="1"/>
          <p:nvPr/>
        </p:nvSpPr>
        <p:spPr>
          <a:xfrm>
            <a:off x="993900" y="1833375"/>
            <a:ext cx="8142000" cy="1022060"/>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A signal is produced by varying the intensity of a specific type of energy over time through an appropriate medium. What are the types of energy that can be used for this purpose?</a:t>
            </a:r>
            <a:endParaRPr lang="en-US" sz="2000" dirty="0">
              <a:latin typeface="Times New Roman"/>
              <a:ea typeface="Times New Roman"/>
              <a:cs typeface="Times New Roman"/>
              <a:sym typeface="Times New Roman"/>
            </a:endParaRP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50968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Answer</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3</a:t>
            </a:fld>
            <a:endParaRPr/>
          </a:p>
        </p:txBody>
      </p:sp>
      <p:sp>
        <p:nvSpPr>
          <p:cNvPr id="4" name="Google Shape;56;p8"/>
          <p:cNvSpPr txBox="1"/>
          <p:nvPr/>
        </p:nvSpPr>
        <p:spPr>
          <a:xfrm>
            <a:off x="993900" y="1833375"/>
            <a:ext cx="8142000" cy="714283"/>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The main types of energy used are electrical energy, electromagnetic energy, light (optical) energy.</a:t>
            </a: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22661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Question</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4</a:t>
            </a:fld>
            <a:endParaRPr/>
          </a:p>
        </p:txBody>
      </p:sp>
      <p:sp>
        <p:nvSpPr>
          <p:cNvPr id="4" name="Google Shape;56;p8"/>
          <p:cNvSpPr txBox="1"/>
          <p:nvPr/>
        </p:nvSpPr>
        <p:spPr>
          <a:xfrm>
            <a:off x="993900" y="1833375"/>
            <a:ext cx="8142000" cy="406506"/>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Why Throughput &lt; Bandwidth?</a:t>
            </a: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82275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Answer</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5</a:t>
            </a:fld>
            <a:endParaRPr/>
          </a:p>
        </p:txBody>
      </p:sp>
      <p:sp>
        <p:nvSpPr>
          <p:cNvPr id="4" name="Google Shape;56;p8"/>
          <p:cNvSpPr txBox="1"/>
          <p:nvPr/>
        </p:nvSpPr>
        <p:spPr>
          <a:xfrm>
            <a:off x="993900" y="1833375"/>
            <a:ext cx="8142000" cy="2868719"/>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In real networks, we never achieve full bandwidth due to</a:t>
            </a:r>
            <a:r>
              <a:rPr lang="en-US" sz="2000" dirty="0" smtClean="0">
                <a:latin typeface="Times New Roman"/>
                <a:ea typeface="Times New Roman"/>
                <a:cs typeface="Times New Roman"/>
                <a:sym typeface="Times New Roman"/>
              </a:rPr>
              <a:t>:</a:t>
            </a:r>
          </a:p>
          <a:p>
            <a:pPr marL="146050">
              <a:buClr>
                <a:srgbClr val="CC9A00"/>
              </a:buClr>
              <a:buSzPts val="1300"/>
            </a:pPr>
            <a:endParaRPr lang="en-US" sz="2000" dirty="0">
              <a:latin typeface="Times New Roman"/>
              <a:ea typeface="Times New Roman"/>
              <a:cs typeface="Times New Roman"/>
              <a:sym typeface="Times New Roman"/>
            </a:endParaRPr>
          </a:p>
          <a:p>
            <a:pPr marL="488950" indent="-342900">
              <a:buClr>
                <a:srgbClr val="CC9A00"/>
              </a:buClr>
              <a:buSzPts val="1300"/>
              <a:buFont typeface="Arial" panose="020B0604020202020204" pitchFamily="34" charset="0"/>
              <a:buChar char="•"/>
            </a:pPr>
            <a:r>
              <a:rPr lang="en-US" sz="2000" dirty="0" smtClean="0">
                <a:latin typeface="Times New Roman"/>
                <a:ea typeface="Times New Roman"/>
                <a:cs typeface="Times New Roman"/>
                <a:sym typeface="Times New Roman"/>
              </a:rPr>
              <a:t>Network </a:t>
            </a:r>
            <a:r>
              <a:rPr lang="en-US" sz="2000" dirty="0">
                <a:latin typeface="Times New Roman"/>
                <a:ea typeface="Times New Roman"/>
                <a:cs typeface="Times New Roman"/>
                <a:sym typeface="Times New Roman"/>
              </a:rPr>
              <a:t>congestion (too many devices)</a:t>
            </a:r>
          </a:p>
          <a:p>
            <a:pPr marL="488950" indent="-342900">
              <a:buClr>
                <a:srgbClr val="CC9A00"/>
              </a:buClr>
              <a:buSzPts val="1300"/>
              <a:buFont typeface="Arial" panose="020B0604020202020204" pitchFamily="34" charset="0"/>
              <a:buChar char="•"/>
            </a:pPr>
            <a:r>
              <a:rPr lang="en-US" sz="2000" dirty="0" smtClean="0">
                <a:latin typeface="Times New Roman"/>
                <a:ea typeface="Times New Roman"/>
                <a:cs typeface="Times New Roman"/>
                <a:sym typeface="Times New Roman"/>
              </a:rPr>
              <a:t>Packet </a:t>
            </a:r>
            <a:r>
              <a:rPr lang="en-US" sz="2000" dirty="0">
                <a:latin typeface="Times New Roman"/>
                <a:ea typeface="Times New Roman"/>
                <a:cs typeface="Times New Roman"/>
                <a:sym typeface="Times New Roman"/>
              </a:rPr>
              <a:t>loss &amp; retransmissions</a:t>
            </a:r>
          </a:p>
          <a:p>
            <a:pPr marL="488950" indent="-342900">
              <a:buClr>
                <a:srgbClr val="CC9A00"/>
              </a:buClr>
              <a:buSzPts val="1300"/>
              <a:buFont typeface="Arial" panose="020B0604020202020204" pitchFamily="34" charset="0"/>
              <a:buChar char="•"/>
            </a:pPr>
            <a:r>
              <a:rPr lang="en-US" sz="2000" dirty="0" smtClean="0">
                <a:latin typeface="Times New Roman"/>
                <a:ea typeface="Times New Roman"/>
                <a:cs typeface="Times New Roman"/>
                <a:sym typeface="Times New Roman"/>
              </a:rPr>
              <a:t>Protocol </a:t>
            </a:r>
            <a:r>
              <a:rPr lang="en-US" sz="2000" dirty="0">
                <a:latin typeface="Times New Roman"/>
                <a:ea typeface="Times New Roman"/>
                <a:cs typeface="Times New Roman"/>
                <a:sym typeface="Times New Roman"/>
              </a:rPr>
              <a:t>overhead (headers, control data)</a:t>
            </a:r>
          </a:p>
          <a:p>
            <a:pPr marL="488950" indent="-342900">
              <a:buClr>
                <a:srgbClr val="CC9A00"/>
              </a:buClr>
              <a:buSzPts val="1300"/>
              <a:buFont typeface="Arial" panose="020B0604020202020204" pitchFamily="34" charset="0"/>
              <a:buChar char="•"/>
            </a:pPr>
            <a:r>
              <a:rPr lang="en-US" sz="2000" dirty="0" smtClean="0">
                <a:latin typeface="Times New Roman"/>
                <a:ea typeface="Times New Roman"/>
                <a:cs typeface="Times New Roman"/>
                <a:sym typeface="Times New Roman"/>
              </a:rPr>
              <a:t>Delays </a:t>
            </a:r>
            <a:r>
              <a:rPr lang="en-US" sz="2000" dirty="0">
                <a:latin typeface="Times New Roman"/>
                <a:ea typeface="Times New Roman"/>
                <a:cs typeface="Times New Roman"/>
                <a:sym typeface="Times New Roman"/>
              </a:rPr>
              <a:t>and </a:t>
            </a:r>
            <a:r>
              <a:rPr lang="en-US" sz="2000" dirty="0" smtClean="0">
                <a:latin typeface="Times New Roman"/>
                <a:ea typeface="Times New Roman"/>
                <a:cs typeface="Times New Roman"/>
                <a:sym typeface="Times New Roman"/>
              </a:rPr>
              <a:t>interference</a:t>
            </a:r>
          </a:p>
          <a:p>
            <a:pPr marL="146050">
              <a:buClr>
                <a:srgbClr val="CC9A00"/>
              </a:buClr>
              <a:buSzPts val="1300"/>
            </a:pPr>
            <a:endParaRPr lang="en-US" sz="2000" dirty="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Actual data transfer (throughput) is always less than theoretical maximum (bandwidth).</a:t>
            </a: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90268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Question</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6</a:t>
            </a:fld>
            <a:endParaRPr/>
          </a:p>
        </p:txBody>
      </p:sp>
      <p:sp>
        <p:nvSpPr>
          <p:cNvPr id="4" name="Google Shape;56;p8"/>
          <p:cNvSpPr txBox="1"/>
          <p:nvPr/>
        </p:nvSpPr>
        <p:spPr>
          <a:xfrm>
            <a:off x="993900" y="1833375"/>
            <a:ext cx="8142000" cy="406506"/>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What </a:t>
            </a:r>
            <a:r>
              <a:rPr lang="en-US" sz="2000" dirty="0" smtClean="0">
                <a:latin typeface="Times New Roman"/>
                <a:ea typeface="Times New Roman"/>
                <a:cs typeface="Times New Roman"/>
                <a:sym typeface="Times New Roman"/>
              </a:rPr>
              <a:t>is Pulse Code Modulation (PCM)?</a:t>
            </a:r>
            <a:endParaRPr lang="en-US" sz="2000" dirty="0">
              <a:latin typeface="Times New Roman"/>
              <a:ea typeface="Times New Roman"/>
              <a:cs typeface="Times New Roman"/>
              <a:sym typeface="Times New Roman"/>
            </a:endParaRP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74072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Answer</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7</a:t>
            </a:fld>
            <a:endParaRPr/>
          </a:p>
        </p:txBody>
      </p:sp>
      <p:sp>
        <p:nvSpPr>
          <p:cNvPr id="4" name="Google Shape;56;p8"/>
          <p:cNvSpPr txBox="1"/>
          <p:nvPr/>
        </p:nvSpPr>
        <p:spPr>
          <a:xfrm>
            <a:off x="993900" y="1833375"/>
            <a:ext cx="8142000" cy="4099825"/>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Pulse Code Modulation (PCM) is used in digital communication systems to convert analog signals such as voice into digital form for transmission, and then reconstruct them back into analog form at the receiver</a:t>
            </a:r>
            <a:r>
              <a:rPr lang="en-US" sz="2000" dirty="0" smtClean="0">
                <a:latin typeface="Times New Roman"/>
                <a:ea typeface="Times New Roman"/>
                <a:cs typeface="Times New Roman"/>
                <a:sym typeface="Times New Roman"/>
              </a:rPr>
              <a:t>.</a:t>
            </a:r>
          </a:p>
          <a:p>
            <a:pPr marL="457200" indent="-311150">
              <a:buClr>
                <a:srgbClr val="CC9A00"/>
              </a:buClr>
              <a:buSzPts val="1300"/>
              <a:buFont typeface="Noto Sans Symbols"/>
              <a:buChar char="❑"/>
            </a:pPr>
            <a:endParaRPr lang="en-US" sz="2000" dirty="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Three steps of PCM:</a:t>
            </a:r>
          </a:p>
          <a:p>
            <a:pPr marL="488950" indent="-342900">
              <a:buClr>
                <a:srgbClr val="CC9A00"/>
              </a:buClr>
              <a:buSzPts val="1300"/>
              <a:buFont typeface="Arial" panose="020B0604020202020204" pitchFamily="34" charset="0"/>
              <a:buChar char="•"/>
            </a:pPr>
            <a:r>
              <a:rPr lang="en-US" sz="2000" dirty="0" smtClean="0">
                <a:latin typeface="Times New Roman"/>
                <a:ea typeface="Times New Roman"/>
                <a:cs typeface="Times New Roman"/>
                <a:sym typeface="Times New Roman"/>
              </a:rPr>
              <a:t>1. Sampling: The analog signal is measured at regular time intervals. (Takes “snapshots” of the signal)</a:t>
            </a:r>
          </a:p>
          <a:p>
            <a:pPr marL="488950" indent="-342900">
              <a:buClr>
                <a:srgbClr val="CC9A00"/>
              </a:buClr>
              <a:buSzPts val="1300"/>
              <a:buFont typeface="Arial" panose="020B0604020202020204" pitchFamily="34" charset="0"/>
              <a:buChar char="•"/>
            </a:pPr>
            <a:endParaRPr lang="en-US" sz="2000" dirty="0">
              <a:latin typeface="Times New Roman"/>
              <a:ea typeface="Times New Roman"/>
              <a:cs typeface="Times New Roman"/>
              <a:sym typeface="Times New Roman"/>
            </a:endParaRPr>
          </a:p>
          <a:p>
            <a:pPr marL="488950" indent="-342900">
              <a:buClr>
                <a:srgbClr val="CC9A00"/>
              </a:buClr>
              <a:buSzPts val="1300"/>
              <a:buFont typeface="Arial" panose="020B0604020202020204" pitchFamily="34" charset="0"/>
              <a:buChar char="•"/>
            </a:pPr>
            <a:r>
              <a:rPr lang="en-US" sz="2000" dirty="0" smtClean="0">
                <a:latin typeface="Times New Roman"/>
                <a:ea typeface="Times New Roman"/>
                <a:cs typeface="Times New Roman"/>
                <a:sym typeface="Times New Roman"/>
              </a:rPr>
              <a:t>2. Quantization: Each sample is assigned a closest numerical value. (Rounding the signal levels)</a:t>
            </a:r>
          </a:p>
          <a:p>
            <a:pPr marL="488950" indent="-342900">
              <a:buClr>
                <a:srgbClr val="CC9A00"/>
              </a:buClr>
              <a:buSzPts val="1300"/>
              <a:buFont typeface="Arial" panose="020B0604020202020204" pitchFamily="34" charset="0"/>
              <a:buChar char="•"/>
            </a:pPr>
            <a:endParaRPr lang="en-US" sz="2000" dirty="0">
              <a:latin typeface="Times New Roman"/>
              <a:ea typeface="Times New Roman"/>
              <a:cs typeface="Times New Roman"/>
              <a:sym typeface="Times New Roman"/>
            </a:endParaRPr>
          </a:p>
          <a:p>
            <a:pPr marL="488950" indent="-342900">
              <a:buClr>
                <a:srgbClr val="CC9A00"/>
              </a:buClr>
              <a:buSzPts val="1300"/>
              <a:buFont typeface="Arial" panose="020B0604020202020204" pitchFamily="34" charset="0"/>
              <a:buChar char="•"/>
            </a:pPr>
            <a:r>
              <a:rPr lang="en-US" sz="2000" dirty="0" smtClean="0">
                <a:latin typeface="Times New Roman"/>
                <a:ea typeface="Times New Roman"/>
                <a:cs typeface="Times New Roman"/>
                <a:sym typeface="Times New Roman"/>
              </a:rPr>
              <a:t>3. Encoding: The values are converted into binary code. (0s and 1s)</a:t>
            </a:r>
          </a:p>
          <a:p>
            <a:pPr marL="457200" indent="-311150">
              <a:buClr>
                <a:srgbClr val="CC9A00"/>
              </a:buClr>
              <a:buSzPts val="1300"/>
              <a:buFont typeface="Noto Sans Symbols"/>
              <a:buChar char="❑"/>
            </a:pPr>
            <a:endParaRPr lang="en-US" sz="2000" dirty="0" smtClean="0">
              <a:latin typeface="Times New Roman"/>
              <a:ea typeface="Times New Roman"/>
              <a:cs typeface="Times New Roman"/>
              <a:sym typeface="Times New Roman"/>
            </a:endParaRP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31164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Question</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8</a:t>
            </a:fld>
            <a:endParaRPr/>
          </a:p>
        </p:txBody>
      </p:sp>
      <p:sp>
        <p:nvSpPr>
          <p:cNvPr id="4" name="Google Shape;56;p8"/>
          <p:cNvSpPr txBox="1"/>
          <p:nvPr/>
        </p:nvSpPr>
        <p:spPr>
          <a:xfrm>
            <a:off x="993900" y="1833375"/>
            <a:ext cx="8142000" cy="1637613"/>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A communication link has a data rate of 10 Mbps and a propagation delay of 50 milliseconds. </a:t>
            </a:r>
            <a:endParaRPr lang="en-US" sz="2000" dirty="0" smtClean="0">
              <a:latin typeface="Times New Roman"/>
              <a:ea typeface="Times New Roman"/>
              <a:cs typeface="Times New Roman"/>
              <a:sym typeface="Times New Roman"/>
            </a:endParaRPr>
          </a:p>
          <a:p>
            <a:pPr marL="146050">
              <a:buClr>
                <a:srgbClr val="CC9A00"/>
              </a:buClr>
              <a:buSzPts val="1300"/>
            </a:pPr>
            <a:endParaRPr lang="en-US" sz="2000" dirty="0">
              <a:latin typeface="Times New Roman"/>
              <a:ea typeface="Times New Roman"/>
              <a:cs typeface="Times New Roman"/>
              <a:sym typeface="Times New Roman"/>
            </a:endParaRPr>
          </a:p>
          <a:p>
            <a:pPr marL="603250" indent="-457200">
              <a:buClr>
                <a:srgbClr val="CC9A00"/>
              </a:buClr>
              <a:buSzPts val="1300"/>
              <a:buAutoNum type="alphaLcParenBoth"/>
            </a:pPr>
            <a:r>
              <a:rPr lang="en-US" sz="2000" dirty="0" smtClean="0">
                <a:latin typeface="Times New Roman"/>
                <a:ea typeface="Times New Roman"/>
                <a:cs typeface="Times New Roman"/>
                <a:sym typeface="Times New Roman"/>
              </a:rPr>
              <a:t>Explain </a:t>
            </a:r>
            <a:r>
              <a:rPr lang="en-US" sz="2000" dirty="0">
                <a:latin typeface="Times New Roman"/>
                <a:ea typeface="Times New Roman"/>
                <a:cs typeface="Times New Roman"/>
                <a:sym typeface="Times New Roman"/>
              </a:rPr>
              <a:t>what the delay-throughput </a:t>
            </a:r>
            <a:r>
              <a:rPr lang="en-US" sz="2000" dirty="0" smtClean="0">
                <a:latin typeface="Times New Roman"/>
                <a:ea typeface="Times New Roman"/>
                <a:cs typeface="Times New Roman"/>
                <a:sym typeface="Times New Roman"/>
              </a:rPr>
              <a:t>product.</a:t>
            </a:r>
          </a:p>
          <a:p>
            <a:pPr marL="603250" indent="-457200">
              <a:buClr>
                <a:srgbClr val="CC9A00"/>
              </a:buClr>
              <a:buSzPts val="1300"/>
              <a:buFont typeface="Arial"/>
              <a:buAutoNum type="alphaLcParenBoth"/>
            </a:pPr>
            <a:r>
              <a:rPr lang="en-US" sz="2000" dirty="0">
                <a:latin typeface="Times New Roman"/>
                <a:ea typeface="Times New Roman"/>
                <a:cs typeface="Times New Roman"/>
                <a:sym typeface="Times New Roman"/>
              </a:rPr>
              <a:t>Calculate the delay-throughput </a:t>
            </a:r>
            <a:r>
              <a:rPr lang="en-US" sz="2000" dirty="0" smtClean="0">
                <a:latin typeface="Times New Roman"/>
                <a:ea typeface="Times New Roman"/>
                <a:cs typeface="Times New Roman"/>
                <a:sym typeface="Times New Roman"/>
              </a:rPr>
              <a:t>product.</a:t>
            </a:r>
            <a:endParaRPr lang="en-US" sz="2000" dirty="0">
              <a:latin typeface="Times New Roman"/>
              <a:ea typeface="Times New Roman"/>
              <a:cs typeface="Times New Roman"/>
              <a:sym typeface="Times New Roman"/>
            </a:endParaRPr>
          </a:p>
        </p:txBody>
      </p:sp>
    </p:spTree>
    <p:extLst>
      <p:ext uri="{BB962C8B-B14F-4D97-AF65-F5344CB8AC3E}">
        <p14:creationId xmlns:p14="http://schemas.microsoft.com/office/powerpoint/2010/main" val="3704846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Answer</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9</a:t>
            </a:fld>
            <a:endParaRPr/>
          </a:p>
        </p:txBody>
      </p:sp>
      <p:sp>
        <p:nvSpPr>
          <p:cNvPr id="4" name="Google Shape;56;p8"/>
          <p:cNvSpPr txBox="1"/>
          <p:nvPr/>
        </p:nvSpPr>
        <p:spPr>
          <a:xfrm>
            <a:off x="993900" y="1833375"/>
            <a:ext cx="8142000" cy="2868719"/>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Propagation Delay: The time taken for a signal to travel from the sender to the receiver through a transmission medium.</a:t>
            </a:r>
          </a:p>
          <a:p>
            <a:pPr marL="457200" indent="-311150">
              <a:buClr>
                <a:srgbClr val="CC9A00"/>
              </a:buClr>
              <a:buSzPts val="1300"/>
              <a:buFont typeface="Noto Sans Symbols"/>
              <a:buChar char="❑"/>
            </a:pPr>
            <a:endParaRPr lang="en-US" sz="2000" dirty="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(a) Delay-Throughput Product: The amount of data (in bits) that can be presented in the communication link at any given time.</a:t>
            </a:r>
          </a:p>
          <a:p>
            <a:pPr marL="457200" indent="-311150">
              <a:buClr>
                <a:srgbClr val="CC9A00"/>
              </a:buClr>
              <a:buSzPts val="1300"/>
              <a:buFont typeface="Noto Sans Symbols"/>
              <a:buChar char="❑"/>
            </a:pPr>
            <a:endParaRPr lang="en-US" sz="2000" dirty="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(b) </a:t>
            </a:r>
            <a:r>
              <a:rPr lang="en-US" sz="2000" dirty="0">
                <a:latin typeface="Times New Roman"/>
                <a:ea typeface="Times New Roman"/>
                <a:cs typeface="Times New Roman"/>
                <a:sym typeface="Times New Roman"/>
              </a:rPr>
              <a:t>Delay–Throughput </a:t>
            </a:r>
            <a:r>
              <a:rPr lang="en-US" sz="2000" dirty="0" smtClean="0">
                <a:latin typeface="Times New Roman"/>
                <a:ea typeface="Times New Roman"/>
                <a:cs typeface="Times New Roman"/>
                <a:sym typeface="Times New Roman"/>
              </a:rPr>
              <a:t>Product = Data Rate × Propagation Delay</a:t>
            </a:r>
            <a:endParaRPr lang="en-US" sz="2000" dirty="0">
              <a:latin typeface="Times New Roman"/>
              <a:ea typeface="Times New Roman"/>
              <a:cs typeface="Times New Roman"/>
              <a:sym typeface="Times New Roman"/>
            </a:endParaRPr>
          </a:p>
          <a:p>
            <a:pPr marL="146050" lvl="2">
              <a:buClr>
                <a:srgbClr val="CC9A00"/>
              </a:buClr>
              <a:buSzPts val="1300"/>
            </a:pPr>
            <a:r>
              <a:rPr lang="en-US" sz="2000" dirty="0" smtClean="0">
                <a:latin typeface="Times New Roman"/>
                <a:ea typeface="Times New Roman"/>
                <a:cs typeface="Times New Roman"/>
                <a:sym typeface="Times New Roman"/>
              </a:rPr>
              <a:t>                                                       =10×10</a:t>
            </a:r>
            <a:r>
              <a:rPr lang="en-US" sz="2000" baseline="30000" dirty="0" smtClean="0">
                <a:latin typeface="Times New Roman"/>
                <a:ea typeface="Times New Roman"/>
                <a:cs typeface="Times New Roman"/>
                <a:sym typeface="Times New Roman"/>
              </a:rPr>
              <a:t>6</a:t>
            </a:r>
            <a:r>
              <a:rPr lang="en-US" sz="2000" dirty="0" smtClean="0">
                <a:latin typeface="Times New Roman"/>
                <a:ea typeface="Times New Roman"/>
                <a:cs typeface="Times New Roman"/>
                <a:sym typeface="Times New Roman"/>
              </a:rPr>
              <a:t> bits s</a:t>
            </a:r>
            <a:r>
              <a:rPr lang="en-US" sz="2000" baseline="30000" dirty="0" smtClean="0">
                <a:latin typeface="Times New Roman"/>
                <a:ea typeface="Times New Roman"/>
                <a:cs typeface="Times New Roman"/>
                <a:sym typeface="Times New Roman"/>
              </a:rPr>
              <a:t>-1   </a:t>
            </a:r>
            <a:r>
              <a:rPr lang="en-US" sz="2000" dirty="0" smtClean="0">
                <a:latin typeface="Times New Roman"/>
                <a:ea typeface="Times New Roman"/>
                <a:cs typeface="Times New Roman"/>
                <a:sym typeface="Times New Roman"/>
              </a:rPr>
              <a:t>× 0.05 s</a:t>
            </a:r>
          </a:p>
          <a:p>
            <a:pPr marL="146050" lvl="2">
              <a:buClr>
                <a:srgbClr val="CC9A00"/>
              </a:buClr>
              <a:buSzPts val="1300"/>
            </a:pPr>
            <a:r>
              <a:rPr lang="en-US" sz="2000" dirty="0" smtClean="0">
                <a:latin typeface="Times New Roman"/>
                <a:ea typeface="Times New Roman"/>
                <a:cs typeface="Times New Roman"/>
                <a:sym typeface="Times New Roman"/>
              </a:rPr>
              <a:t>                                                       =500,000 </a:t>
            </a:r>
            <a:r>
              <a:rPr lang="en-US" sz="2000" dirty="0">
                <a:latin typeface="Times New Roman"/>
                <a:ea typeface="Times New Roman"/>
                <a:cs typeface="Times New Roman"/>
                <a:sym typeface="Times New Roman"/>
              </a:rPr>
              <a:t>bits</a:t>
            </a:r>
          </a:p>
        </p:txBody>
      </p:sp>
    </p:spTree>
    <p:extLst>
      <p:ext uri="{BB962C8B-B14F-4D97-AF65-F5344CB8AC3E}">
        <p14:creationId xmlns:p14="http://schemas.microsoft.com/office/powerpoint/2010/main" val="4023605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Question</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10</a:t>
            </a:fld>
            <a:endParaRPr/>
          </a:p>
        </p:txBody>
      </p:sp>
      <p:sp>
        <p:nvSpPr>
          <p:cNvPr id="4" name="Google Shape;56;p8"/>
          <p:cNvSpPr txBox="1"/>
          <p:nvPr/>
        </p:nvSpPr>
        <p:spPr>
          <a:xfrm>
            <a:off x="993900" y="1833375"/>
            <a:ext cx="8142000" cy="406506"/>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What </a:t>
            </a:r>
            <a:r>
              <a:rPr lang="en-US" sz="2000" dirty="0" smtClean="0">
                <a:latin typeface="Times New Roman"/>
                <a:ea typeface="Times New Roman"/>
                <a:cs typeface="Times New Roman"/>
                <a:sym typeface="Times New Roman"/>
              </a:rPr>
              <a:t>is Manchester Encoding in digital communication?</a:t>
            </a:r>
            <a:endParaRPr lang="en-US" sz="2000" dirty="0">
              <a:latin typeface="Times New Roman"/>
              <a:ea typeface="Times New Roman"/>
              <a:cs typeface="Times New Roman"/>
              <a:sym typeface="Times New Roman"/>
            </a:endParaRP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26483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Question</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11</a:t>
            </a:fld>
            <a:endParaRPr/>
          </a:p>
        </p:txBody>
      </p:sp>
      <p:sp>
        <p:nvSpPr>
          <p:cNvPr id="4" name="Google Shape;56;p8"/>
          <p:cNvSpPr txBox="1"/>
          <p:nvPr/>
        </p:nvSpPr>
        <p:spPr>
          <a:xfrm>
            <a:off x="993900" y="1833375"/>
            <a:ext cx="8142000" cy="1022060"/>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Using Manchester Encoding, draw the timing diagram for the 8-bit binary pattern: 10101100. Assume the signal starts with a high-to-low transition for a ‘0’ and a low-to-high transition for a ‘1’.</a:t>
            </a:r>
            <a:endParaRPr lang="en-US" sz="2000" dirty="0">
              <a:latin typeface="Times New Roman"/>
              <a:ea typeface="Times New Roman"/>
              <a:cs typeface="Times New Roman"/>
              <a:sym typeface="Times New Roman"/>
            </a:endParaRP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83657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Question</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12</a:t>
            </a:fld>
            <a:endParaRPr/>
          </a:p>
        </p:txBody>
      </p:sp>
      <p:sp>
        <p:nvSpPr>
          <p:cNvPr id="4" name="Google Shape;56;p8"/>
          <p:cNvSpPr txBox="1"/>
          <p:nvPr/>
        </p:nvSpPr>
        <p:spPr>
          <a:xfrm>
            <a:off x="993900" y="1833375"/>
            <a:ext cx="8142000" cy="714283"/>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How does a Layer 2 switch build its Forwarding Table in a Local Area Network (LAN)? Explain the process.</a:t>
            </a:r>
            <a:endParaRPr lang="en-US" sz="2000" dirty="0">
              <a:latin typeface="Times New Roman"/>
              <a:ea typeface="Times New Roman"/>
              <a:cs typeface="Times New Roman"/>
              <a:sym typeface="Times New Roman"/>
            </a:endParaRP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77959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Answer</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13</a:t>
            </a:fld>
            <a:endParaRPr/>
          </a:p>
        </p:txBody>
      </p:sp>
      <p:sp>
        <p:nvSpPr>
          <p:cNvPr id="4" name="Google Shape;56;p8"/>
          <p:cNvSpPr txBox="1"/>
          <p:nvPr/>
        </p:nvSpPr>
        <p:spPr>
          <a:xfrm>
            <a:off x="993900" y="1833375"/>
            <a:ext cx="8142000" cy="1329836"/>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smtClean="0">
                <a:latin typeface="Times New Roman" panose="02020603050405020304" pitchFamily="18" charset="0"/>
                <a:ea typeface="Times New Roman"/>
                <a:cs typeface="Times New Roman" panose="02020603050405020304" pitchFamily="18" charset="0"/>
                <a:sym typeface="Times New Roman"/>
              </a:rPr>
              <a:t>PC1 sends data </a:t>
            </a:r>
            <a:r>
              <a:rPr lang="en-US" sz="2000" dirty="0" smtClean="0">
                <a:latin typeface="Times New Roman" panose="02020603050405020304" pitchFamily="18" charset="0"/>
                <a:cs typeface="Times New Roman" panose="02020603050405020304" pitchFamily="18" charset="0"/>
              </a:rPr>
              <a:t>→ Switch learns PC1 MAC on Port 1</a:t>
            </a:r>
          </a:p>
          <a:p>
            <a:pPr marL="457200" indent="-311150">
              <a:buClr>
                <a:srgbClr val="CC9A00"/>
              </a:buClr>
              <a:buSzPts val="1300"/>
              <a:buFont typeface="Noto Sans Symbols"/>
              <a:buChar char="❑"/>
            </a:pPr>
            <a:r>
              <a:rPr lang="en-US" sz="2000" dirty="0" smtClean="0">
                <a:latin typeface="Times New Roman" panose="02020603050405020304" pitchFamily="18" charset="0"/>
                <a:cs typeface="Times New Roman" panose="02020603050405020304" pitchFamily="18" charset="0"/>
              </a:rPr>
              <a:t>Destination unknown </a:t>
            </a:r>
            <a:r>
              <a:rPr lang="en-US" sz="2000" dirty="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Switch floods </a:t>
            </a:r>
          </a:p>
          <a:p>
            <a:pPr marL="457200" indent="-311150">
              <a:buClr>
                <a:srgbClr val="CC9A00"/>
              </a:buClr>
              <a:buSzPts val="1300"/>
              <a:buFont typeface="Noto Sans Symbols"/>
              <a:buChar char="❑"/>
            </a:pPr>
            <a:r>
              <a:rPr lang="en-US" sz="2000" dirty="0" smtClean="0">
                <a:latin typeface="Times New Roman" panose="02020603050405020304" pitchFamily="18" charset="0"/>
                <a:ea typeface="Times New Roman"/>
                <a:cs typeface="Times New Roman" panose="02020603050405020304" pitchFamily="18" charset="0"/>
                <a:sym typeface="Times New Roman"/>
              </a:rPr>
              <a:t>PC2 replies </a:t>
            </a:r>
            <a:r>
              <a:rPr lang="en-US" sz="2000" dirty="0" smtClean="0">
                <a:latin typeface="Times New Roman" panose="02020603050405020304" pitchFamily="18" charset="0"/>
                <a:cs typeface="Times New Roman" panose="02020603050405020304" pitchFamily="18" charset="0"/>
              </a:rPr>
              <a:t>→ Switch learns PC2 MAC on Port 2</a:t>
            </a:r>
          </a:p>
          <a:p>
            <a:pPr marL="457200" indent="-311150">
              <a:buClr>
                <a:srgbClr val="CC9A00"/>
              </a:buClr>
              <a:buSzPts val="1300"/>
              <a:buFont typeface="Noto Sans Symbols"/>
              <a:buChar char="❑"/>
            </a:pPr>
            <a:r>
              <a:rPr lang="en-US" sz="2000" dirty="0" smtClean="0">
                <a:latin typeface="Times New Roman" panose="02020603050405020304" pitchFamily="18" charset="0"/>
                <a:ea typeface="Times New Roman"/>
                <a:cs typeface="Times New Roman" panose="02020603050405020304" pitchFamily="18" charset="0"/>
                <a:sym typeface="Times New Roman"/>
              </a:rPr>
              <a:t>Next time </a:t>
            </a:r>
            <a:r>
              <a:rPr lang="en-US" sz="2000" dirty="0" smtClean="0">
                <a:latin typeface="Times New Roman" panose="02020603050405020304" pitchFamily="18" charset="0"/>
                <a:cs typeface="Times New Roman" panose="02020603050405020304" pitchFamily="18" charset="0"/>
              </a:rPr>
              <a:t>→ Switch sends directly (no flooding)</a:t>
            </a:r>
            <a:endParaRPr lang="en-US" sz="2000" dirty="0">
              <a:latin typeface="Times New Roman" panose="02020603050405020304" pitchFamily="18" charset="0"/>
              <a:ea typeface="Times New Roman"/>
              <a:cs typeface="Times New Roman" panose="02020603050405020304" pitchFamily="18" charset="0"/>
              <a:sym typeface="Times New Roman"/>
            </a:endParaRP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53912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Question</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14</a:t>
            </a:fld>
            <a:endParaRPr/>
          </a:p>
        </p:txBody>
      </p:sp>
      <p:sp>
        <p:nvSpPr>
          <p:cNvPr id="4" name="Google Shape;56;p8"/>
          <p:cNvSpPr txBox="1"/>
          <p:nvPr/>
        </p:nvSpPr>
        <p:spPr>
          <a:xfrm>
            <a:off x="993900" y="1833375"/>
            <a:ext cx="8142000" cy="406506"/>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What are Layer 2 loops in a LAN, and why they problematic?</a:t>
            </a:r>
            <a:endParaRPr lang="en-US" sz="2000" dirty="0">
              <a:latin typeface="Times New Roman"/>
              <a:ea typeface="Times New Roman"/>
              <a:cs typeface="Times New Roman"/>
              <a:sym typeface="Times New Roman"/>
            </a:endParaRP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93324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Answer</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15</a:t>
            </a:fld>
            <a:endParaRPr/>
          </a:p>
        </p:txBody>
      </p:sp>
      <p:sp>
        <p:nvSpPr>
          <p:cNvPr id="4" name="Google Shape;56;p8"/>
          <p:cNvSpPr txBox="1"/>
          <p:nvPr/>
        </p:nvSpPr>
        <p:spPr>
          <a:xfrm>
            <a:off x="993900" y="1833375"/>
            <a:ext cx="8142000" cy="1022060"/>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smtClean="0">
                <a:latin typeface="Times New Roman" panose="02020603050405020304" pitchFamily="18" charset="0"/>
                <a:ea typeface="Times New Roman"/>
                <a:cs typeface="Times New Roman" panose="02020603050405020304" pitchFamily="18" charset="0"/>
                <a:sym typeface="Times New Roman"/>
              </a:rPr>
              <a:t>A Layer 2 loop is a condition in a Local Area Network (LAN) where frames circulate continuously between switches due to multiple redundant paths. </a:t>
            </a:r>
            <a:endParaRPr lang="en-US" sz="2000" dirty="0">
              <a:latin typeface="Times New Roman" panose="02020603050405020304" pitchFamily="18" charset="0"/>
              <a:ea typeface="Times New Roman"/>
              <a:cs typeface="Times New Roman" panose="02020603050405020304" pitchFamily="18" charset="0"/>
              <a:sym typeface="Times New Roman"/>
            </a:endParaRP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What is Spanning Tree Protocol (STP) - Mini-Course and Hands-on Lab"/>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06923" y="3166234"/>
            <a:ext cx="4515954" cy="31688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9848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16</a:t>
            </a:fld>
            <a:endParaRPr/>
          </a:p>
        </p:txBody>
      </p:sp>
      <p:sp>
        <p:nvSpPr>
          <p:cNvPr id="4" name="Google Shape;56;p8"/>
          <p:cNvSpPr txBox="1"/>
          <p:nvPr/>
        </p:nvSpPr>
        <p:spPr>
          <a:xfrm>
            <a:off x="883805" y="759949"/>
            <a:ext cx="8142000" cy="4715378"/>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smtClean="0">
                <a:latin typeface="Times New Roman" panose="02020603050405020304" pitchFamily="18" charset="0"/>
                <a:ea typeface="Times New Roman"/>
                <a:cs typeface="Times New Roman" panose="02020603050405020304" pitchFamily="18" charset="0"/>
                <a:sym typeface="Times New Roman"/>
              </a:rPr>
              <a:t>Layer 2 refers to the Data Link Layer in the OSI model. It is responsible for sending data frames within a local network (LAN) using MAC addresses.</a:t>
            </a:r>
          </a:p>
          <a:p>
            <a:pPr marL="457200" indent="-311150">
              <a:buClr>
                <a:srgbClr val="CC9A00"/>
              </a:buClr>
              <a:buSzPts val="1300"/>
              <a:buFont typeface="Noto Sans Symbols"/>
              <a:buChar char="❑"/>
            </a:pPr>
            <a:endParaRPr lang="en-US" sz="2000" dirty="0" smtClean="0">
              <a:latin typeface="Times New Roman" panose="02020603050405020304" pitchFamily="18" charset="0"/>
              <a:ea typeface="Times New Roman"/>
              <a:cs typeface="Times New Roman" panose="02020603050405020304" pitchFamily="18" charset="0"/>
              <a:sym typeface="Times New Roman"/>
            </a:endParaRPr>
          </a:p>
          <a:p>
            <a:pPr marL="457200" indent="-311150">
              <a:buClr>
                <a:srgbClr val="CC9A00"/>
              </a:buClr>
              <a:buSzPts val="1300"/>
              <a:buFont typeface="Noto Sans Symbols"/>
              <a:buChar char="❑"/>
            </a:pPr>
            <a:r>
              <a:rPr lang="en-US" sz="2000" dirty="0" smtClean="0">
                <a:latin typeface="Times New Roman" panose="02020603050405020304" pitchFamily="18" charset="0"/>
                <a:ea typeface="Times New Roman"/>
                <a:cs typeface="Times New Roman" panose="02020603050405020304" pitchFamily="18" charset="0"/>
                <a:sym typeface="Times New Roman"/>
              </a:rPr>
              <a:t>Layer 2 loops happen because for reliability, networks often connect switches with redundant links. But Layer 2 (Ethernet – The most common Layer 2 technology used in LANs) does not have a built-in mechanism like TTL (Time to Live – A field used in Layer 3(Network Layer)) to stop frames. Ethernet does not track how long a frame has been traveling. So frames can loop forever.</a:t>
            </a:r>
          </a:p>
          <a:p>
            <a:pPr marL="146050">
              <a:buClr>
                <a:srgbClr val="CC9A00"/>
              </a:buClr>
              <a:buSzPts val="1300"/>
            </a:pPr>
            <a:endParaRPr lang="en-US" sz="2000" dirty="0" smtClean="0">
              <a:latin typeface="Times New Roman" panose="02020603050405020304" pitchFamily="18" charset="0"/>
              <a:ea typeface="Times New Roman"/>
              <a:cs typeface="Times New Roman" panose="02020603050405020304" pitchFamily="18" charset="0"/>
              <a:sym typeface="Times New Roman"/>
            </a:endParaRPr>
          </a:p>
          <a:p>
            <a:pPr marL="457200" indent="-311150">
              <a:buClr>
                <a:srgbClr val="CC9A00"/>
              </a:buClr>
              <a:buSzPts val="1300"/>
              <a:buFont typeface="Noto Sans Symbols"/>
              <a:buChar char="❑"/>
            </a:pPr>
            <a:r>
              <a:rPr lang="en-US" sz="2000" dirty="0" smtClean="0">
                <a:latin typeface="Times New Roman" panose="02020603050405020304" pitchFamily="18" charset="0"/>
                <a:ea typeface="Times New Roman"/>
                <a:cs typeface="Times New Roman" panose="02020603050405020304" pitchFamily="18" charset="0"/>
                <a:sym typeface="Times New Roman"/>
              </a:rPr>
              <a:t>Loops are problematic because they lead to broadcast storms, Mac address table instability, multiple frame copies, and network congestion. These issues can severely degrade network performance.</a:t>
            </a:r>
          </a:p>
          <a:p>
            <a:pPr marL="146050">
              <a:buClr>
                <a:srgbClr val="CC9A00"/>
              </a:buClr>
              <a:buSzPts val="1300"/>
            </a:pPr>
            <a:endParaRPr lang="en-US" sz="2000" dirty="0" smtClean="0">
              <a:latin typeface="Times New Roman" panose="02020603050405020304" pitchFamily="18"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4174475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Question</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17</a:t>
            </a:fld>
            <a:endParaRPr/>
          </a:p>
        </p:txBody>
      </p:sp>
      <p:sp>
        <p:nvSpPr>
          <p:cNvPr id="4" name="Google Shape;56;p8"/>
          <p:cNvSpPr txBox="1"/>
          <p:nvPr/>
        </p:nvSpPr>
        <p:spPr>
          <a:xfrm>
            <a:off x="993900" y="1833375"/>
            <a:ext cx="8142000" cy="714283"/>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Explain the difference between Physical and Logical LAN topologies. Provide one example for each to illustrate your answer.</a:t>
            </a:r>
            <a:endParaRPr lang="en-US" sz="2000" dirty="0">
              <a:latin typeface="Times New Roman"/>
              <a:ea typeface="Times New Roman"/>
              <a:cs typeface="Times New Roman"/>
              <a:sym typeface="Times New Roman"/>
            </a:endParaRP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58581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Answer</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18</a:t>
            </a:fld>
            <a:endParaRPr/>
          </a:p>
        </p:txBody>
      </p:sp>
      <p:sp>
        <p:nvSpPr>
          <p:cNvPr id="4" name="Google Shape;56;p8"/>
          <p:cNvSpPr txBox="1"/>
          <p:nvPr/>
        </p:nvSpPr>
        <p:spPr>
          <a:xfrm>
            <a:off x="993900" y="1833375"/>
            <a:ext cx="8142000" cy="2868719"/>
          </a:xfrm>
          <a:prstGeom prst="rect">
            <a:avLst/>
          </a:prstGeom>
          <a:noFill/>
          <a:ln>
            <a:noFill/>
          </a:ln>
        </p:spPr>
        <p:txBody>
          <a:bodyPr spcFirstLastPara="1" wrap="square" lIns="0" tIns="97775" rIns="0" bIns="0" anchor="t" anchorCtr="0">
            <a:spAutoFit/>
          </a:bodyPr>
          <a:lstStyle/>
          <a:p>
            <a:pPr marL="488950" indent="-342900">
              <a:buClr>
                <a:srgbClr val="CC9A00"/>
              </a:buClr>
              <a:buSzPts val="1300"/>
              <a:buFont typeface="Wingdings" panose="05000000000000000000" pitchFamily="2" charset="2"/>
              <a:buChar char="q"/>
            </a:pPr>
            <a:r>
              <a:rPr lang="en-US" sz="2000" dirty="0" smtClean="0">
                <a:latin typeface="Times New Roman"/>
                <a:ea typeface="Times New Roman"/>
                <a:cs typeface="Times New Roman"/>
                <a:sym typeface="Times New Roman"/>
              </a:rPr>
              <a:t>Physical topology refers to the actual physical layout of devices and cables in a network.</a:t>
            </a:r>
          </a:p>
          <a:p>
            <a:pPr marL="488950" indent="-342900">
              <a:buClr>
                <a:srgbClr val="CC9A00"/>
              </a:buClr>
              <a:buSzPts val="1300"/>
              <a:buFont typeface="Wingdings" panose="05000000000000000000" pitchFamily="2" charset="2"/>
              <a:buChar char="q"/>
            </a:pPr>
            <a:endParaRPr lang="en-US" sz="2000" dirty="0">
              <a:latin typeface="Times New Roman"/>
              <a:ea typeface="Times New Roman"/>
              <a:cs typeface="Times New Roman"/>
              <a:sym typeface="Times New Roman"/>
            </a:endParaRPr>
          </a:p>
          <a:p>
            <a:pPr marL="488950" indent="-342900">
              <a:buClr>
                <a:srgbClr val="CC9A00"/>
              </a:buClr>
              <a:buSzPts val="1300"/>
              <a:buFont typeface="Wingdings" panose="05000000000000000000" pitchFamily="2" charset="2"/>
              <a:buChar char="q"/>
            </a:pPr>
            <a:r>
              <a:rPr lang="en-US" sz="2000" dirty="0" smtClean="0">
                <a:latin typeface="Times New Roman"/>
                <a:ea typeface="Times New Roman"/>
                <a:cs typeface="Times New Roman"/>
                <a:sym typeface="Times New Roman"/>
              </a:rPr>
              <a:t>Logical topology refers to how data flows between devices, regardless of physical connections.</a:t>
            </a:r>
          </a:p>
          <a:p>
            <a:pPr marL="146050">
              <a:buClr>
                <a:srgbClr val="CC9A00"/>
              </a:buClr>
              <a:buSzPts val="1300"/>
            </a:pPr>
            <a:endParaRPr lang="en-US" sz="2000" dirty="0" smtClean="0">
              <a:latin typeface="Times New Roman"/>
              <a:ea typeface="Times New Roman"/>
              <a:cs typeface="Times New Roman"/>
              <a:sym typeface="Times New Roman"/>
            </a:endParaRPr>
          </a:p>
          <a:p>
            <a:pPr marL="488950" indent="-342900">
              <a:buClr>
                <a:srgbClr val="CC9A00"/>
              </a:buClr>
              <a:buSzPts val="1300"/>
              <a:buFont typeface="Wingdings" panose="05000000000000000000" pitchFamily="2" charset="2"/>
              <a:buChar char="q"/>
            </a:pPr>
            <a:r>
              <a:rPr lang="en-US" sz="2000" dirty="0">
                <a:latin typeface="Times New Roman"/>
                <a:ea typeface="Times New Roman"/>
                <a:cs typeface="Times New Roman"/>
                <a:sym typeface="Times New Roman"/>
              </a:rPr>
              <a:t>For example, a network may have a star physical topology where all devices are connected to a central hub, but it operates as a logical bus because the hub broadcasts messages to all connected devices.</a:t>
            </a: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73940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Question</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19</a:t>
            </a:fld>
            <a:endParaRPr/>
          </a:p>
        </p:txBody>
      </p:sp>
      <p:sp>
        <p:nvSpPr>
          <p:cNvPr id="4" name="Google Shape;56;p8"/>
          <p:cNvSpPr txBox="1"/>
          <p:nvPr/>
        </p:nvSpPr>
        <p:spPr>
          <a:xfrm>
            <a:off x="993900" y="1833375"/>
            <a:ext cx="8142000" cy="1022060"/>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In the Ethernet (or IEEE 802.3) frame format, the Destination MAC address appears as the first field in the frame header. Why is it important to place the destination address at the beginning of the frame?</a:t>
            </a: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05244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Answer</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20</a:t>
            </a:fld>
            <a:endParaRPr/>
          </a:p>
        </p:txBody>
      </p:sp>
      <p:sp>
        <p:nvSpPr>
          <p:cNvPr id="4" name="Google Shape;56;p8"/>
          <p:cNvSpPr txBox="1"/>
          <p:nvPr/>
        </p:nvSpPr>
        <p:spPr>
          <a:xfrm>
            <a:off x="993900" y="1833375"/>
            <a:ext cx="8142000" cy="2868719"/>
          </a:xfrm>
          <a:prstGeom prst="rect">
            <a:avLst/>
          </a:prstGeom>
          <a:noFill/>
          <a:ln>
            <a:noFill/>
          </a:ln>
        </p:spPr>
        <p:txBody>
          <a:bodyPr spcFirstLastPara="1" wrap="square" lIns="0" tIns="97775" rIns="0" bIns="0" anchor="t" anchorCtr="0">
            <a:spAutoFit/>
          </a:bodyPr>
          <a:lstStyle/>
          <a:p>
            <a:pPr marL="488950" indent="-342900">
              <a:buClr>
                <a:srgbClr val="CC9A00"/>
              </a:buClr>
              <a:buSzPts val="1300"/>
              <a:buFont typeface="Wingdings" panose="05000000000000000000" pitchFamily="2" charset="2"/>
              <a:buChar char="q"/>
            </a:pPr>
            <a:r>
              <a:rPr lang="en-US" sz="2000" dirty="0" smtClean="0">
                <a:latin typeface="Times New Roman"/>
                <a:ea typeface="Times New Roman"/>
                <a:cs typeface="Times New Roman"/>
                <a:sym typeface="Times New Roman"/>
              </a:rPr>
              <a:t>The destination MAC address is placed at the beginning of the Ethernet frame so that network devices (Switches/NICs) can quickly determine whether the frame is intended for them or where it should be forwarded.</a:t>
            </a:r>
          </a:p>
          <a:p>
            <a:pPr marL="488950" indent="-342900">
              <a:buClr>
                <a:srgbClr val="CC9A00"/>
              </a:buClr>
              <a:buSzPts val="1300"/>
              <a:buFont typeface="Wingdings" panose="05000000000000000000" pitchFamily="2" charset="2"/>
              <a:buChar char="q"/>
            </a:pPr>
            <a:endParaRPr lang="en-US" sz="2000" dirty="0" smtClean="0">
              <a:latin typeface="Times New Roman"/>
              <a:ea typeface="Times New Roman"/>
              <a:cs typeface="Times New Roman"/>
              <a:sym typeface="Times New Roman"/>
            </a:endParaRPr>
          </a:p>
          <a:p>
            <a:pPr marL="488950" indent="-342900">
              <a:buClr>
                <a:srgbClr val="CC9A00"/>
              </a:buClr>
              <a:buSzPts val="1300"/>
              <a:buFont typeface="Wingdings" panose="05000000000000000000" pitchFamily="2" charset="2"/>
              <a:buChar char="q"/>
            </a:pPr>
            <a:r>
              <a:rPr lang="en-US" sz="2000" dirty="0" smtClean="0">
                <a:latin typeface="Times New Roman"/>
                <a:ea typeface="Times New Roman"/>
                <a:cs typeface="Times New Roman"/>
                <a:sym typeface="Times New Roman"/>
              </a:rPr>
              <a:t>If </a:t>
            </a:r>
            <a:r>
              <a:rPr lang="en-US" sz="2000" dirty="0">
                <a:latin typeface="Times New Roman"/>
                <a:ea typeface="Times New Roman"/>
                <a:cs typeface="Times New Roman"/>
                <a:sym typeface="Times New Roman"/>
              </a:rPr>
              <a:t>not relevant, the device can discard or forward the frame quickly without processing the entire </a:t>
            </a:r>
            <a:r>
              <a:rPr lang="en-US" sz="2000" dirty="0" smtClean="0">
                <a:latin typeface="Times New Roman"/>
                <a:ea typeface="Times New Roman"/>
                <a:cs typeface="Times New Roman"/>
                <a:sym typeface="Times New Roman"/>
              </a:rPr>
              <a:t>frame</a:t>
            </a:r>
          </a:p>
          <a:p>
            <a:pPr marL="146050">
              <a:buClr>
                <a:srgbClr val="CC9A00"/>
              </a:buClr>
              <a:buSzPts val="1300"/>
            </a:pPr>
            <a:endParaRPr lang="en-US" sz="2000" dirty="0" smtClean="0">
              <a:latin typeface="Times New Roman"/>
              <a:ea typeface="Times New Roman"/>
              <a:cs typeface="Times New Roman"/>
              <a:sym typeface="Times New Roman"/>
            </a:endParaRPr>
          </a:p>
          <a:p>
            <a:pPr marL="488950" indent="-342900">
              <a:buClr>
                <a:srgbClr val="CC9A00"/>
              </a:buClr>
              <a:buSzPts val="1300"/>
              <a:buFont typeface="Wingdings" panose="05000000000000000000" pitchFamily="2" charset="2"/>
              <a:buChar char="q"/>
            </a:pPr>
            <a:r>
              <a:rPr lang="en-US" sz="2000" dirty="0" smtClean="0">
                <a:latin typeface="Times New Roman"/>
                <a:ea typeface="Times New Roman"/>
                <a:cs typeface="Times New Roman"/>
                <a:sym typeface="Times New Roman"/>
              </a:rPr>
              <a:t>This improves efficiency, enable fast forwarding, reduce unnecessary processing.</a:t>
            </a:r>
            <a:endParaRPr lang="en-US" sz="2000" dirty="0">
              <a:latin typeface="Times New Roman"/>
              <a:ea typeface="Times New Roman"/>
              <a:cs typeface="Times New Roman"/>
              <a:sym typeface="Times New Roman"/>
            </a:endParaRP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08981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Question</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21</a:t>
            </a:fld>
            <a:endParaRPr/>
          </a:p>
        </p:txBody>
      </p:sp>
      <p:sp>
        <p:nvSpPr>
          <p:cNvPr id="4" name="Google Shape;56;p8"/>
          <p:cNvSpPr txBox="1"/>
          <p:nvPr/>
        </p:nvSpPr>
        <p:spPr>
          <a:xfrm>
            <a:off x="993900" y="1833375"/>
            <a:ext cx="8142000" cy="714283"/>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Draw and label the Ethernet frame header format, clearly indicating the size of each field in bytes.</a:t>
            </a: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45009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Answer</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22</a:t>
            </a:fld>
            <a:endParaRPr/>
          </a:p>
        </p:txBody>
      </p:sp>
      <p:graphicFrame>
        <p:nvGraphicFramePr>
          <p:cNvPr id="2" name="Table 1"/>
          <p:cNvGraphicFramePr>
            <a:graphicFrameLocks noGrp="1"/>
          </p:cNvGraphicFramePr>
          <p:nvPr>
            <p:extLst/>
          </p:nvPr>
        </p:nvGraphicFramePr>
        <p:xfrm>
          <a:off x="738407" y="2033001"/>
          <a:ext cx="8513169" cy="1036320"/>
        </p:xfrm>
        <a:graphic>
          <a:graphicData uri="http://schemas.openxmlformats.org/drawingml/2006/table">
            <a:tbl>
              <a:tblPr firstRow="1" bandRow="1">
                <a:tableStyleId>{5940675A-B579-460E-94D1-54222C63F5DA}</a:tableStyleId>
              </a:tblPr>
              <a:tblGrid>
                <a:gridCol w="1216167">
                  <a:extLst>
                    <a:ext uri="{9D8B030D-6E8A-4147-A177-3AD203B41FA5}">
                      <a16:colId xmlns:a16="http://schemas.microsoft.com/office/drawing/2014/main" val="1765414299"/>
                    </a:ext>
                  </a:extLst>
                </a:gridCol>
                <a:gridCol w="1216167">
                  <a:extLst>
                    <a:ext uri="{9D8B030D-6E8A-4147-A177-3AD203B41FA5}">
                      <a16:colId xmlns:a16="http://schemas.microsoft.com/office/drawing/2014/main" val="97026769"/>
                    </a:ext>
                  </a:extLst>
                </a:gridCol>
                <a:gridCol w="1216167">
                  <a:extLst>
                    <a:ext uri="{9D8B030D-6E8A-4147-A177-3AD203B41FA5}">
                      <a16:colId xmlns:a16="http://schemas.microsoft.com/office/drawing/2014/main" val="3540517796"/>
                    </a:ext>
                  </a:extLst>
                </a:gridCol>
                <a:gridCol w="1216167">
                  <a:extLst>
                    <a:ext uri="{9D8B030D-6E8A-4147-A177-3AD203B41FA5}">
                      <a16:colId xmlns:a16="http://schemas.microsoft.com/office/drawing/2014/main" val="4133183002"/>
                    </a:ext>
                  </a:extLst>
                </a:gridCol>
                <a:gridCol w="1216167">
                  <a:extLst>
                    <a:ext uri="{9D8B030D-6E8A-4147-A177-3AD203B41FA5}">
                      <a16:colId xmlns:a16="http://schemas.microsoft.com/office/drawing/2014/main" val="1304242861"/>
                    </a:ext>
                  </a:extLst>
                </a:gridCol>
                <a:gridCol w="1216167">
                  <a:extLst>
                    <a:ext uri="{9D8B030D-6E8A-4147-A177-3AD203B41FA5}">
                      <a16:colId xmlns:a16="http://schemas.microsoft.com/office/drawing/2014/main" val="2310300910"/>
                    </a:ext>
                  </a:extLst>
                </a:gridCol>
                <a:gridCol w="1216167">
                  <a:extLst>
                    <a:ext uri="{9D8B030D-6E8A-4147-A177-3AD203B41FA5}">
                      <a16:colId xmlns:a16="http://schemas.microsoft.com/office/drawing/2014/main" val="3255724837"/>
                    </a:ext>
                  </a:extLst>
                </a:gridCol>
              </a:tblGrid>
              <a:tr h="308035">
                <a:tc>
                  <a:txBody>
                    <a:bodyPr/>
                    <a:lstStyle/>
                    <a:p>
                      <a:r>
                        <a:rPr lang="en-US" dirty="0" smtClean="0"/>
                        <a:t>Preamble</a:t>
                      </a:r>
                      <a:endParaRPr lang="en-US" dirty="0"/>
                    </a:p>
                  </a:txBody>
                  <a:tcPr/>
                </a:tc>
                <a:tc>
                  <a:txBody>
                    <a:bodyPr/>
                    <a:lstStyle/>
                    <a:p>
                      <a:r>
                        <a:rPr lang="en-US" dirty="0" smtClean="0"/>
                        <a:t>SFD</a:t>
                      </a:r>
                      <a:endParaRPr lang="en-US" dirty="0"/>
                    </a:p>
                  </a:txBody>
                  <a:tcPr/>
                </a:tc>
                <a:tc>
                  <a:txBody>
                    <a:bodyPr/>
                    <a:lstStyle/>
                    <a:p>
                      <a:r>
                        <a:rPr lang="en-US" dirty="0" smtClean="0"/>
                        <a:t>Destination MAC</a:t>
                      </a:r>
                      <a:endParaRPr lang="en-US" dirty="0"/>
                    </a:p>
                  </a:txBody>
                  <a:tcPr/>
                </a:tc>
                <a:tc>
                  <a:txBody>
                    <a:bodyPr/>
                    <a:lstStyle/>
                    <a:p>
                      <a:r>
                        <a:rPr lang="en-US" dirty="0" smtClean="0"/>
                        <a:t>Source MAC</a:t>
                      </a:r>
                      <a:endParaRPr lang="en-US" dirty="0"/>
                    </a:p>
                  </a:txBody>
                  <a:tcPr/>
                </a:tc>
                <a:tc>
                  <a:txBody>
                    <a:bodyPr/>
                    <a:lstStyle/>
                    <a:p>
                      <a:r>
                        <a:rPr lang="en-US" dirty="0" smtClean="0"/>
                        <a:t>Type/Length</a:t>
                      </a:r>
                      <a:endParaRPr lang="en-US" dirty="0"/>
                    </a:p>
                  </a:txBody>
                  <a:tcPr/>
                </a:tc>
                <a:tc>
                  <a:txBody>
                    <a:bodyPr/>
                    <a:lstStyle/>
                    <a:p>
                      <a:r>
                        <a:rPr lang="en-US" dirty="0" smtClean="0"/>
                        <a:t>Data</a:t>
                      </a:r>
                      <a:endParaRPr lang="en-US" dirty="0"/>
                    </a:p>
                  </a:txBody>
                  <a:tcPr/>
                </a:tc>
                <a:tc>
                  <a:txBody>
                    <a:bodyPr/>
                    <a:lstStyle/>
                    <a:p>
                      <a:r>
                        <a:rPr lang="en-US" dirty="0" smtClean="0"/>
                        <a:t>FCS</a:t>
                      </a:r>
                      <a:endParaRPr lang="en-US" dirty="0"/>
                    </a:p>
                  </a:txBody>
                  <a:tcPr/>
                </a:tc>
                <a:extLst>
                  <a:ext uri="{0D108BD9-81ED-4DB2-BD59-A6C34878D82A}">
                    <a16:rowId xmlns:a16="http://schemas.microsoft.com/office/drawing/2014/main" val="1721400702"/>
                  </a:ext>
                </a:extLst>
              </a:tr>
              <a:tr h="308035">
                <a:tc>
                  <a:txBody>
                    <a:bodyPr/>
                    <a:lstStyle/>
                    <a:p>
                      <a:r>
                        <a:rPr lang="en-US" dirty="0" smtClean="0"/>
                        <a:t>7 bytes</a:t>
                      </a:r>
                      <a:endParaRPr lang="en-US" dirty="0"/>
                    </a:p>
                  </a:txBody>
                  <a:tcPr/>
                </a:tc>
                <a:tc>
                  <a:txBody>
                    <a:bodyPr/>
                    <a:lstStyle/>
                    <a:p>
                      <a:r>
                        <a:rPr lang="en-US" dirty="0" smtClean="0"/>
                        <a:t>1 byte</a:t>
                      </a:r>
                      <a:endParaRPr lang="en-US" dirty="0"/>
                    </a:p>
                  </a:txBody>
                  <a:tcPr/>
                </a:tc>
                <a:tc>
                  <a:txBody>
                    <a:bodyPr/>
                    <a:lstStyle/>
                    <a:p>
                      <a:r>
                        <a:rPr lang="en-US" dirty="0" smtClean="0"/>
                        <a:t>6 bytes</a:t>
                      </a:r>
                      <a:endParaRPr lang="en-US" dirty="0"/>
                    </a:p>
                  </a:txBody>
                  <a:tcPr/>
                </a:tc>
                <a:tc>
                  <a:txBody>
                    <a:bodyPr/>
                    <a:lstStyle/>
                    <a:p>
                      <a:r>
                        <a:rPr lang="en-US" dirty="0" smtClean="0"/>
                        <a:t>6 bytes</a:t>
                      </a:r>
                      <a:endParaRPr lang="en-US" dirty="0"/>
                    </a:p>
                  </a:txBody>
                  <a:tcPr/>
                </a:tc>
                <a:tc>
                  <a:txBody>
                    <a:bodyPr/>
                    <a:lstStyle/>
                    <a:p>
                      <a:r>
                        <a:rPr lang="en-US" dirty="0" smtClean="0"/>
                        <a:t>2 bytes</a:t>
                      </a:r>
                      <a:endParaRPr lang="en-US" dirty="0"/>
                    </a:p>
                  </a:txBody>
                  <a:tcPr/>
                </a:tc>
                <a:tc>
                  <a:txBody>
                    <a:bodyPr/>
                    <a:lstStyle/>
                    <a:p>
                      <a:r>
                        <a:rPr lang="en-US" dirty="0" smtClean="0"/>
                        <a:t>46-1500 bytes</a:t>
                      </a:r>
                      <a:endParaRPr lang="en-US" dirty="0"/>
                    </a:p>
                  </a:txBody>
                  <a:tcPr/>
                </a:tc>
                <a:tc>
                  <a:txBody>
                    <a:bodyPr/>
                    <a:lstStyle/>
                    <a:p>
                      <a:r>
                        <a:rPr lang="en-US" dirty="0" smtClean="0"/>
                        <a:t>4 bytes</a:t>
                      </a:r>
                      <a:endParaRPr lang="en-US" dirty="0"/>
                    </a:p>
                  </a:txBody>
                  <a:tcPr/>
                </a:tc>
                <a:extLst>
                  <a:ext uri="{0D108BD9-81ED-4DB2-BD59-A6C34878D82A}">
                    <a16:rowId xmlns:a16="http://schemas.microsoft.com/office/drawing/2014/main" val="2854048322"/>
                  </a:ext>
                </a:extLst>
              </a:tr>
            </a:tbl>
          </a:graphicData>
        </a:graphic>
      </p:graphicFrame>
    </p:spTree>
    <p:extLst>
      <p:ext uri="{BB962C8B-B14F-4D97-AF65-F5344CB8AC3E}">
        <p14:creationId xmlns:p14="http://schemas.microsoft.com/office/powerpoint/2010/main" val="186569338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Question</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23</a:t>
            </a:fld>
            <a:endParaRPr/>
          </a:p>
        </p:txBody>
      </p:sp>
      <p:sp>
        <p:nvSpPr>
          <p:cNvPr id="4" name="Google Shape;56;p8"/>
          <p:cNvSpPr txBox="1"/>
          <p:nvPr/>
        </p:nvSpPr>
        <p:spPr>
          <a:xfrm>
            <a:off x="993900" y="1833375"/>
            <a:ext cx="8142000" cy="2253166"/>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When one host in a Local Area Network (LAN) wants to communicate with another using IP, it needs the destination's MAC address for the Ethernet frame</a:t>
            </a:r>
            <a:r>
              <a:rPr lang="en-US" sz="2000" dirty="0" smtClean="0">
                <a:latin typeface="Times New Roman"/>
                <a:ea typeface="Times New Roman"/>
                <a:cs typeface="Times New Roman"/>
                <a:sym typeface="Times New Roman"/>
              </a:rPr>
              <a:t>.</a:t>
            </a:r>
          </a:p>
          <a:p>
            <a:pPr marL="146050">
              <a:buClr>
                <a:srgbClr val="CC9A00"/>
              </a:buClr>
              <a:buSzPts val="1300"/>
            </a:pPr>
            <a:endParaRPr lang="en-US" sz="2000" dirty="0">
              <a:latin typeface="Times New Roman"/>
              <a:ea typeface="Times New Roman"/>
              <a:cs typeface="Times New Roman"/>
              <a:sym typeface="Times New Roman"/>
            </a:endParaRPr>
          </a:p>
          <a:p>
            <a:pPr marL="603250" indent="-457200">
              <a:buClr>
                <a:srgbClr val="CC9A00"/>
              </a:buClr>
              <a:buSzPts val="1300"/>
              <a:buFont typeface="+mj-lt"/>
              <a:buAutoNum type="alphaLcParenR"/>
            </a:pPr>
            <a:r>
              <a:rPr lang="en-US" sz="2000" dirty="0" smtClean="0">
                <a:latin typeface="Times New Roman"/>
                <a:ea typeface="Times New Roman"/>
                <a:cs typeface="Times New Roman"/>
                <a:sym typeface="Times New Roman"/>
              </a:rPr>
              <a:t>Describe </a:t>
            </a:r>
            <a:r>
              <a:rPr lang="en-US" sz="2000" dirty="0">
                <a:latin typeface="Times New Roman"/>
                <a:ea typeface="Times New Roman"/>
                <a:cs typeface="Times New Roman"/>
                <a:sym typeface="Times New Roman"/>
              </a:rPr>
              <a:t>what happens when the destination MAC address is not already known to the sender.</a:t>
            </a:r>
          </a:p>
          <a:p>
            <a:pPr marL="603250" indent="-457200">
              <a:buClr>
                <a:srgbClr val="CC9A00"/>
              </a:buClr>
              <a:buSzPts val="1300"/>
              <a:buFont typeface="+mj-lt"/>
              <a:buAutoNum type="alphaLcParenR"/>
            </a:pPr>
            <a:r>
              <a:rPr lang="en-US" sz="2000" dirty="0" smtClean="0">
                <a:latin typeface="Times New Roman"/>
                <a:ea typeface="Times New Roman"/>
                <a:cs typeface="Times New Roman"/>
                <a:sym typeface="Times New Roman"/>
              </a:rPr>
              <a:t>What </a:t>
            </a:r>
            <a:r>
              <a:rPr lang="en-US" sz="2000" dirty="0">
                <a:latin typeface="Times New Roman"/>
                <a:ea typeface="Times New Roman"/>
                <a:cs typeface="Times New Roman"/>
                <a:sym typeface="Times New Roman"/>
              </a:rPr>
              <a:t>kind of message is sent and how is it delivered on the LAN?</a:t>
            </a:r>
            <a:endParaRPr lang="en-US" sz="2000" dirty="0">
              <a:latin typeface="Times New Roman"/>
              <a:ea typeface="Times New Roman"/>
              <a:cs typeface="Times New Roman"/>
              <a:sym typeface="Times New Roman"/>
            </a:endParaRP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76508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Answer</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24</a:t>
            </a:fld>
            <a:endParaRPr/>
          </a:p>
        </p:txBody>
      </p:sp>
      <p:sp>
        <p:nvSpPr>
          <p:cNvPr id="4" name="Google Shape;56;p8"/>
          <p:cNvSpPr txBox="1"/>
          <p:nvPr/>
        </p:nvSpPr>
        <p:spPr>
          <a:xfrm>
            <a:off x="993900" y="1833375"/>
            <a:ext cx="8142000" cy="3176495"/>
          </a:xfrm>
          <a:prstGeom prst="rect">
            <a:avLst/>
          </a:prstGeom>
          <a:noFill/>
          <a:ln>
            <a:noFill/>
          </a:ln>
        </p:spPr>
        <p:txBody>
          <a:bodyPr spcFirstLastPara="1" wrap="square" lIns="0" tIns="97775" rIns="0" bIns="0" anchor="t" anchorCtr="0">
            <a:spAutoFit/>
          </a:bodyPr>
          <a:lstStyle/>
          <a:p>
            <a:pPr marL="603250" indent="-457200">
              <a:buClr>
                <a:srgbClr val="CC9A00"/>
              </a:buClr>
              <a:buSzPts val="1300"/>
              <a:buFont typeface="+mj-lt"/>
              <a:buAutoNum type="alphaLcParenR"/>
            </a:pPr>
            <a:r>
              <a:rPr lang="en-US" sz="2000" dirty="0" smtClean="0">
                <a:latin typeface="Times New Roman"/>
                <a:ea typeface="Times New Roman"/>
                <a:cs typeface="Times New Roman"/>
                <a:sym typeface="Times New Roman"/>
              </a:rPr>
              <a:t>When the destination MAC address is unknown, the sender initiates the Address Resolution Protocol (ARP).</a:t>
            </a:r>
          </a:p>
          <a:p>
            <a:pPr marL="488950" indent="-342900">
              <a:buClr>
                <a:srgbClr val="CC9A00"/>
              </a:buClr>
              <a:buSzPts val="1300"/>
              <a:buFont typeface="Wingdings" panose="05000000000000000000" pitchFamily="2" charset="2"/>
              <a:buChar char="q"/>
            </a:pPr>
            <a:endParaRPr lang="en-US" sz="2000" dirty="0">
              <a:latin typeface="Times New Roman"/>
              <a:ea typeface="Times New Roman"/>
              <a:cs typeface="Times New Roman"/>
              <a:sym typeface="Times New Roman"/>
            </a:endParaRPr>
          </a:p>
          <a:p>
            <a:pPr marL="603250" indent="-457200">
              <a:buClr>
                <a:srgbClr val="CC9A00"/>
              </a:buClr>
              <a:buSzPts val="1300"/>
              <a:buFont typeface="+mj-lt"/>
              <a:buAutoNum type="arabicPeriod"/>
            </a:pPr>
            <a:r>
              <a:rPr lang="en-US" sz="2000" dirty="0" smtClean="0">
                <a:latin typeface="Times New Roman"/>
                <a:ea typeface="Times New Roman"/>
                <a:cs typeface="Times New Roman"/>
                <a:sym typeface="Times New Roman"/>
              </a:rPr>
              <a:t>First the sender checks its local ARP cache to see if the mapping exists.</a:t>
            </a:r>
            <a:endParaRPr lang="en-US" sz="2000" dirty="0" smtClean="0">
              <a:latin typeface="Times New Roman"/>
              <a:ea typeface="Times New Roman"/>
              <a:cs typeface="Times New Roman"/>
              <a:sym typeface="Times New Roman"/>
            </a:endParaRPr>
          </a:p>
          <a:p>
            <a:pPr marL="603250" indent="-457200">
              <a:buClr>
                <a:srgbClr val="CC9A00"/>
              </a:buClr>
              <a:buSzPts val="1300"/>
              <a:buFont typeface="+mj-lt"/>
              <a:buAutoNum type="arabicPeriod"/>
            </a:pPr>
            <a:endParaRPr lang="en-US" sz="2000" dirty="0" smtClean="0">
              <a:latin typeface="Times New Roman"/>
              <a:ea typeface="Times New Roman"/>
              <a:cs typeface="Times New Roman"/>
              <a:sym typeface="Times New Roman"/>
            </a:endParaRPr>
          </a:p>
          <a:p>
            <a:pPr marL="603250" indent="-457200">
              <a:buClr>
                <a:srgbClr val="CC9A00"/>
              </a:buClr>
              <a:buSzPts val="1300"/>
              <a:buFont typeface="+mj-lt"/>
              <a:buAutoNum type="arabicPeriod"/>
            </a:pPr>
            <a:r>
              <a:rPr lang="en-US" sz="2000" dirty="0" smtClean="0">
                <a:latin typeface="Times New Roman"/>
                <a:ea typeface="Times New Roman"/>
                <a:cs typeface="Times New Roman"/>
                <a:sym typeface="Times New Roman"/>
              </a:rPr>
              <a:t>If not found, the sender pauses the IP packet delivery and creates an ARP Request packet.</a:t>
            </a:r>
            <a:endParaRPr lang="en-US" sz="2000" dirty="0" smtClean="0">
              <a:latin typeface="Times New Roman"/>
              <a:ea typeface="Times New Roman"/>
              <a:cs typeface="Times New Roman"/>
              <a:sym typeface="Times New Roman"/>
            </a:endParaRPr>
          </a:p>
          <a:p>
            <a:pPr marL="603250" indent="-457200">
              <a:buClr>
                <a:srgbClr val="CC9A00"/>
              </a:buClr>
              <a:buSzPts val="1300"/>
              <a:buFont typeface="+mj-lt"/>
              <a:buAutoNum type="arabicPeriod"/>
            </a:pPr>
            <a:endParaRPr lang="en-US" sz="2000" dirty="0" smtClean="0">
              <a:latin typeface="Times New Roman"/>
              <a:ea typeface="Times New Roman"/>
              <a:cs typeface="Times New Roman"/>
              <a:sym typeface="Times New Roman"/>
            </a:endParaRPr>
          </a:p>
          <a:p>
            <a:pPr marL="603250" indent="-457200">
              <a:buClr>
                <a:srgbClr val="CC9A00"/>
              </a:buClr>
              <a:buSzPts val="1300"/>
              <a:buFont typeface="+mj-lt"/>
              <a:buAutoNum type="arabicPeriod"/>
            </a:pPr>
            <a:r>
              <a:rPr lang="en-US" sz="2000" dirty="0" smtClean="0">
                <a:latin typeface="Times New Roman"/>
                <a:ea typeface="Times New Roman"/>
                <a:cs typeface="Times New Roman"/>
                <a:sym typeface="Times New Roman"/>
              </a:rPr>
              <a:t>This request basically asks: “Who has this IP address? Tell me your MAC address”</a:t>
            </a:r>
            <a:endParaRPr lang="en-US" sz="2000" dirty="0">
              <a:latin typeface="Times New Roman"/>
              <a:ea typeface="Times New Roman"/>
              <a:cs typeface="Times New Roman"/>
              <a:sym typeface="Times New Roman"/>
            </a:endParaRP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74748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Answer</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25</a:t>
            </a:fld>
            <a:endParaRPr/>
          </a:p>
        </p:txBody>
      </p:sp>
      <p:sp>
        <p:nvSpPr>
          <p:cNvPr id="4" name="Google Shape;56;p8"/>
          <p:cNvSpPr txBox="1"/>
          <p:nvPr/>
        </p:nvSpPr>
        <p:spPr>
          <a:xfrm>
            <a:off x="993900" y="1833375"/>
            <a:ext cx="8142000" cy="3176495"/>
          </a:xfrm>
          <a:prstGeom prst="rect">
            <a:avLst/>
          </a:prstGeom>
          <a:noFill/>
          <a:ln>
            <a:noFill/>
          </a:ln>
        </p:spPr>
        <p:txBody>
          <a:bodyPr spcFirstLastPara="1" wrap="square" lIns="0" tIns="97775" rIns="0" bIns="0" anchor="t" anchorCtr="0">
            <a:spAutoFit/>
          </a:bodyPr>
          <a:lstStyle/>
          <a:p>
            <a:pPr marL="146050">
              <a:buClr>
                <a:srgbClr val="CC9A00"/>
              </a:buClr>
              <a:buSzPts val="1300"/>
            </a:pPr>
            <a:r>
              <a:rPr lang="en-US" sz="2000" dirty="0" smtClean="0">
                <a:latin typeface="Times New Roman"/>
                <a:ea typeface="Times New Roman"/>
                <a:cs typeface="Times New Roman"/>
                <a:sym typeface="Times New Roman"/>
              </a:rPr>
              <a:t>b)	The message is an ARP Request. It is send as a Broadcast frame. </a:t>
            </a:r>
          </a:p>
          <a:p>
            <a:pPr marL="488950" indent="-342900">
              <a:buClr>
                <a:srgbClr val="CC9A00"/>
              </a:buClr>
              <a:buSzPts val="1300"/>
              <a:buFont typeface="Wingdings" panose="05000000000000000000" pitchFamily="2" charset="2"/>
              <a:buChar char="q"/>
            </a:pPr>
            <a:endParaRPr lang="en-US" sz="2000" dirty="0">
              <a:latin typeface="Times New Roman"/>
              <a:ea typeface="Times New Roman"/>
              <a:cs typeface="Times New Roman"/>
              <a:sym typeface="Times New Roman"/>
            </a:endParaRPr>
          </a:p>
          <a:p>
            <a:pPr marL="603250" indent="-457200">
              <a:buClr>
                <a:srgbClr val="CC9A00"/>
              </a:buClr>
              <a:buSzPts val="1300"/>
              <a:buFont typeface="+mj-lt"/>
              <a:buAutoNum type="arabicPeriod"/>
            </a:pPr>
            <a:r>
              <a:rPr lang="en-US" sz="2000" dirty="0" smtClean="0">
                <a:latin typeface="Times New Roman"/>
                <a:ea typeface="Times New Roman"/>
                <a:cs typeface="Times New Roman"/>
                <a:sym typeface="Times New Roman"/>
              </a:rPr>
              <a:t>The destination MAC address in the Ethernet header is set to all ones (FF:FF:FF:FF:FF:FF)</a:t>
            </a:r>
          </a:p>
          <a:p>
            <a:pPr marL="603250" indent="-457200">
              <a:buClr>
                <a:srgbClr val="CC9A00"/>
              </a:buClr>
              <a:buSzPts val="1300"/>
              <a:buFont typeface="+mj-lt"/>
              <a:buAutoNum type="arabicPeriod"/>
            </a:pPr>
            <a:endParaRPr lang="en-US" sz="2000" dirty="0" smtClean="0">
              <a:latin typeface="Times New Roman"/>
              <a:ea typeface="Times New Roman"/>
              <a:cs typeface="Times New Roman"/>
              <a:sym typeface="Times New Roman"/>
            </a:endParaRPr>
          </a:p>
          <a:p>
            <a:pPr marL="603250" indent="-457200">
              <a:buClr>
                <a:srgbClr val="CC9A00"/>
              </a:buClr>
              <a:buSzPts val="1300"/>
              <a:buFont typeface="+mj-lt"/>
              <a:buAutoNum type="arabicPeriod"/>
            </a:pPr>
            <a:r>
              <a:rPr lang="en-US" sz="2000" dirty="0" smtClean="0">
                <a:latin typeface="Times New Roman"/>
                <a:ea typeface="Times New Roman"/>
                <a:cs typeface="Times New Roman"/>
                <a:sym typeface="Times New Roman"/>
              </a:rPr>
              <a:t>This ensures every device in the local network segment receives and process the request.</a:t>
            </a:r>
            <a:endParaRPr lang="en-US" sz="2000" dirty="0" smtClean="0">
              <a:latin typeface="Times New Roman"/>
              <a:ea typeface="Times New Roman"/>
              <a:cs typeface="Times New Roman"/>
              <a:sym typeface="Times New Roman"/>
            </a:endParaRPr>
          </a:p>
          <a:p>
            <a:pPr marL="603250" indent="-457200">
              <a:buClr>
                <a:srgbClr val="CC9A00"/>
              </a:buClr>
              <a:buSzPts val="1300"/>
              <a:buFont typeface="+mj-lt"/>
              <a:buAutoNum type="arabicPeriod"/>
            </a:pPr>
            <a:endParaRPr lang="en-US" sz="2000" dirty="0" smtClean="0">
              <a:latin typeface="Times New Roman"/>
              <a:ea typeface="Times New Roman"/>
              <a:cs typeface="Times New Roman"/>
              <a:sym typeface="Times New Roman"/>
            </a:endParaRPr>
          </a:p>
          <a:p>
            <a:pPr marL="603250" indent="-457200">
              <a:buClr>
                <a:srgbClr val="CC9A00"/>
              </a:buClr>
              <a:buSzPts val="1300"/>
              <a:buFont typeface="+mj-lt"/>
              <a:buAutoNum type="arabicPeriod"/>
            </a:pPr>
            <a:r>
              <a:rPr lang="en-US" sz="2000" dirty="0" smtClean="0">
                <a:latin typeface="Times New Roman"/>
                <a:ea typeface="Times New Roman"/>
                <a:cs typeface="Times New Roman"/>
                <a:sym typeface="Times New Roman"/>
              </a:rPr>
              <a:t>Only the host with the matching IP address will respond with a Unicast ARP Reply containing its MAC address.</a:t>
            </a:r>
            <a:endParaRPr lang="en-US" sz="2000" dirty="0">
              <a:latin typeface="Times New Roman"/>
              <a:ea typeface="Times New Roman"/>
              <a:cs typeface="Times New Roman"/>
              <a:sym typeface="Times New Roman"/>
            </a:endParaRP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76696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Question</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26</a:t>
            </a:fld>
            <a:endParaRPr/>
          </a:p>
        </p:txBody>
      </p:sp>
      <p:sp>
        <p:nvSpPr>
          <p:cNvPr id="4" name="Google Shape;56;p8"/>
          <p:cNvSpPr txBox="1"/>
          <p:nvPr/>
        </p:nvSpPr>
        <p:spPr>
          <a:xfrm>
            <a:off x="993900" y="1833375"/>
            <a:ext cx="8142000" cy="2253166"/>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When one host in a Local Area Network (LAN) wants to communicate with another using IP, it needs the destination's MAC address for the Ethernet frame</a:t>
            </a:r>
            <a:r>
              <a:rPr lang="en-US" sz="2000" dirty="0" smtClean="0">
                <a:latin typeface="Times New Roman"/>
                <a:ea typeface="Times New Roman"/>
                <a:cs typeface="Times New Roman"/>
                <a:sym typeface="Times New Roman"/>
              </a:rPr>
              <a:t>.</a:t>
            </a:r>
          </a:p>
          <a:p>
            <a:pPr marL="146050">
              <a:buClr>
                <a:srgbClr val="CC9A00"/>
              </a:buClr>
              <a:buSzPts val="1300"/>
            </a:pPr>
            <a:endParaRPr lang="en-US" sz="2000" dirty="0">
              <a:latin typeface="Times New Roman"/>
              <a:ea typeface="Times New Roman"/>
              <a:cs typeface="Times New Roman"/>
              <a:sym typeface="Times New Roman"/>
            </a:endParaRPr>
          </a:p>
          <a:p>
            <a:pPr marL="603250" indent="-457200">
              <a:buClr>
                <a:srgbClr val="CC9A00"/>
              </a:buClr>
              <a:buSzPts val="1300"/>
              <a:buFont typeface="+mj-lt"/>
              <a:buAutoNum type="alphaLcParenR"/>
            </a:pPr>
            <a:r>
              <a:rPr lang="en-US" sz="2000" dirty="0" smtClean="0">
                <a:latin typeface="Times New Roman"/>
                <a:ea typeface="Times New Roman"/>
                <a:cs typeface="Times New Roman"/>
                <a:sym typeface="Times New Roman"/>
              </a:rPr>
              <a:t>Describe </a:t>
            </a:r>
            <a:r>
              <a:rPr lang="en-US" sz="2000" dirty="0">
                <a:latin typeface="Times New Roman"/>
                <a:ea typeface="Times New Roman"/>
                <a:cs typeface="Times New Roman"/>
                <a:sym typeface="Times New Roman"/>
              </a:rPr>
              <a:t>what happens when the destination MAC address is not already known to the sender.</a:t>
            </a:r>
          </a:p>
          <a:p>
            <a:pPr marL="603250" indent="-457200">
              <a:buClr>
                <a:srgbClr val="CC9A00"/>
              </a:buClr>
              <a:buSzPts val="1300"/>
              <a:buFont typeface="+mj-lt"/>
              <a:buAutoNum type="alphaLcParenR"/>
            </a:pPr>
            <a:r>
              <a:rPr lang="en-US" sz="2000" dirty="0" smtClean="0">
                <a:latin typeface="Times New Roman"/>
                <a:ea typeface="Times New Roman"/>
                <a:cs typeface="Times New Roman"/>
                <a:sym typeface="Times New Roman"/>
              </a:rPr>
              <a:t>What </a:t>
            </a:r>
            <a:r>
              <a:rPr lang="en-US" sz="2000" dirty="0">
                <a:latin typeface="Times New Roman"/>
                <a:ea typeface="Times New Roman"/>
                <a:cs typeface="Times New Roman"/>
                <a:sym typeface="Times New Roman"/>
              </a:rPr>
              <a:t>kind of message is sent and how is it delivered on the LAN?</a:t>
            </a:r>
            <a:endParaRPr lang="en-US" sz="2000" dirty="0">
              <a:latin typeface="Times New Roman"/>
              <a:ea typeface="Times New Roman"/>
              <a:cs typeface="Times New Roman"/>
              <a:sym typeface="Times New Roman"/>
            </a:endParaRP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61474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Answer</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27</a:t>
            </a:fld>
            <a:endParaRPr/>
          </a:p>
        </p:txBody>
      </p:sp>
      <p:sp>
        <p:nvSpPr>
          <p:cNvPr id="4" name="Google Shape;56;p8"/>
          <p:cNvSpPr txBox="1"/>
          <p:nvPr/>
        </p:nvSpPr>
        <p:spPr>
          <a:xfrm>
            <a:off x="993900" y="1833375"/>
            <a:ext cx="8142000" cy="3176495"/>
          </a:xfrm>
          <a:prstGeom prst="rect">
            <a:avLst/>
          </a:prstGeom>
          <a:noFill/>
          <a:ln>
            <a:noFill/>
          </a:ln>
        </p:spPr>
        <p:txBody>
          <a:bodyPr spcFirstLastPara="1" wrap="square" lIns="0" tIns="97775" rIns="0" bIns="0" anchor="t" anchorCtr="0">
            <a:spAutoFit/>
          </a:bodyPr>
          <a:lstStyle/>
          <a:p>
            <a:pPr marL="603250" indent="-457200">
              <a:buClr>
                <a:srgbClr val="CC9A00"/>
              </a:buClr>
              <a:buSzPts val="1300"/>
              <a:buFont typeface="+mj-lt"/>
              <a:buAutoNum type="alphaLcParenR"/>
            </a:pPr>
            <a:r>
              <a:rPr lang="en-US" sz="2000" dirty="0" smtClean="0">
                <a:latin typeface="Times New Roman"/>
                <a:ea typeface="Times New Roman"/>
                <a:cs typeface="Times New Roman"/>
                <a:sym typeface="Times New Roman"/>
              </a:rPr>
              <a:t>When the destination MAC address is unknown, the sender initiates the Address Resolution Protocol (ARP).</a:t>
            </a:r>
          </a:p>
          <a:p>
            <a:pPr marL="488950" indent="-342900">
              <a:buClr>
                <a:srgbClr val="CC9A00"/>
              </a:buClr>
              <a:buSzPts val="1300"/>
              <a:buFont typeface="Wingdings" panose="05000000000000000000" pitchFamily="2" charset="2"/>
              <a:buChar char="q"/>
            </a:pPr>
            <a:endParaRPr lang="en-US" sz="2000" dirty="0">
              <a:latin typeface="Times New Roman"/>
              <a:ea typeface="Times New Roman"/>
              <a:cs typeface="Times New Roman"/>
              <a:sym typeface="Times New Roman"/>
            </a:endParaRPr>
          </a:p>
          <a:p>
            <a:pPr marL="603250" indent="-457200">
              <a:buClr>
                <a:srgbClr val="CC9A00"/>
              </a:buClr>
              <a:buSzPts val="1300"/>
              <a:buFont typeface="+mj-lt"/>
              <a:buAutoNum type="arabicPeriod"/>
            </a:pPr>
            <a:r>
              <a:rPr lang="en-US" sz="2000" dirty="0" smtClean="0">
                <a:latin typeface="Times New Roman"/>
                <a:ea typeface="Times New Roman"/>
                <a:cs typeface="Times New Roman"/>
                <a:sym typeface="Times New Roman"/>
              </a:rPr>
              <a:t>First the sender checks its local ARP cache to see if the mapping exists.</a:t>
            </a:r>
            <a:endParaRPr lang="en-US" sz="2000" dirty="0" smtClean="0">
              <a:latin typeface="Times New Roman"/>
              <a:ea typeface="Times New Roman"/>
              <a:cs typeface="Times New Roman"/>
              <a:sym typeface="Times New Roman"/>
            </a:endParaRPr>
          </a:p>
          <a:p>
            <a:pPr marL="603250" indent="-457200">
              <a:buClr>
                <a:srgbClr val="CC9A00"/>
              </a:buClr>
              <a:buSzPts val="1300"/>
              <a:buFont typeface="+mj-lt"/>
              <a:buAutoNum type="arabicPeriod"/>
            </a:pPr>
            <a:endParaRPr lang="en-US" sz="2000" dirty="0" smtClean="0">
              <a:latin typeface="Times New Roman"/>
              <a:ea typeface="Times New Roman"/>
              <a:cs typeface="Times New Roman"/>
              <a:sym typeface="Times New Roman"/>
            </a:endParaRPr>
          </a:p>
          <a:p>
            <a:pPr marL="603250" indent="-457200">
              <a:buClr>
                <a:srgbClr val="CC9A00"/>
              </a:buClr>
              <a:buSzPts val="1300"/>
              <a:buFont typeface="+mj-lt"/>
              <a:buAutoNum type="arabicPeriod"/>
            </a:pPr>
            <a:r>
              <a:rPr lang="en-US" sz="2000" dirty="0" smtClean="0">
                <a:latin typeface="Times New Roman"/>
                <a:ea typeface="Times New Roman"/>
                <a:cs typeface="Times New Roman"/>
                <a:sym typeface="Times New Roman"/>
              </a:rPr>
              <a:t>If not found, the sender pauses the IP packet delivery and creates an ARP Request packet.</a:t>
            </a:r>
            <a:endParaRPr lang="en-US" sz="2000" dirty="0" smtClean="0">
              <a:latin typeface="Times New Roman"/>
              <a:ea typeface="Times New Roman"/>
              <a:cs typeface="Times New Roman"/>
              <a:sym typeface="Times New Roman"/>
            </a:endParaRPr>
          </a:p>
          <a:p>
            <a:pPr marL="603250" indent="-457200">
              <a:buClr>
                <a:srgbClr val="CC9A00"/>
              </a:buClr>
              <a:buSzPts val="1300"/>
              <a:buFont typeface="+mj-lt"/>
              <a:buAutoNum type="arabicPeriod"/>
            </a:pPr>
            <a:endParaRPr lang="en-US" sz="2000" dirty="0" smtClean="0">
              <a:latin typeface="Times New Roman"/>
              <a:ea typeface="Times New Roman"/>
              <a:cs typeface="Times New Roman"/>
              <a:sym typeface="Times New Roman"/>
            </a:endParaRPr>
          </a:p>
          <a:p>
            <a:pPr marL="603250" indent="-457200">
              <a:buClr>
                <a:srgbClr val="CC9A00"/>
              </a:buClr>
              <a:buSzPts val="1300"/>
              <a:buFont typeface="+mj-lt"/>
              <a:buAutoNum type="arabicPeriod"/>
            </a:pPr>
            <a:r>
              <a:rPr lang="en-US" sz="2000" dirty="0" smtClean="0">
                <a:latin typeface="Times New Roman"/>
                <a:ea typeface="Times New Roman"/>
                <a:cs typeface="Times New Roman"/>
                <a:sym typeface="Times New Roman"/>
              </a:rPr>
              <a:t>This request basically asks: “Who has this IP address? Tell me your MAC address”</a:t>
            </a:r>
            <a:endParaRPr lang="en-US" sz="2000" dirty="0">
              <a:latin typeface="Times New Roman"/>
              <a:ea typeface="Times New Roman"/>
              <a:cs typeface="Times New Roman"/>
              <a:sym typeface="Times New Roman"/>
            </a:endParaRP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82518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Answer</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28</a:t>
            </a:fld>
            <a:endParaRPr/>
          </a:p>
        </p:txBody>
      </p:sp>
      <p:sp>
        <p:nvSpPr>
          <p:cNvPr id="4" name="Google Shape;56;p8"/>
          <p:cNvSpPr txBox="1"/>
          <p:nvPr/>
        </p:nvSpPr>
        <p:spPr>
          <a:xfrm>
            <a:off x="993900" y="1833375"/>
            <a:ext cx="8142000" cy="3176495"/>
          </a:xfrm>
          <a:prstGeom prst="rect">
            <a:avLst/>
          </a:prstGeom>
          <a:noFill/>
          <a:ln>
            <a:noFill/>
          </a:ln>
        </p:spPr>
        <p:txBody>
          <a:bodyPr spcFirstLastPara="1" wrap="square" lIns="0" tIns="97775" rIns="0" bIns="0" anchor="t" anchorCtr="0">
            <a:spAutoFit/>
          </a:bodyPr>
          <a:lstStyle/>
          <a:p>
            <a:pPr marL="146050">
              <a:buClr>
                <a:srgbClr val="CC9A00"/>
              </a:buClr>
              <a:buSzPts val="1300"/>
            </a:pPr>
            <a:r>
              <a:rPr lang="en-US" sz="2000" dirty="0" smtClean="0">
                <a:latin typeface="Times New Roman"/>
                <a:ea typeface="Times New Roman"/>
                <a:cs typeface="Times New Roman"/>
                <a:sym typeface="Times New Roman"/>
              </a:rPr>
              <a:t>b)	The message is an ARP Request. It is send as a Broadcast frame. </a:t>
            </a:r>
          </a:p>
          <a:p>
            <a:pPr marL="488950" indent="-342900">
              <a:buClr>
                <a:srgbClr val="CC9A00"/>
              </a:buClr>
              <a:buSzPts val="1300"/>
              <a:buFont typeface="Wingdings" panose="05000000000000000000" pitchFamily="2" charset="2"/>
              <a:buChar char="q"/>
            </a:pPr>
            <a:endParaRPr lang="en-US" sz="2000" dirty="0">
              <a:latin typeface="Times New Roman"/>
              <a:ea typeface="Times New Roman"/>
              <a:cs typeface="Times New Roman"/>
              <a:sym typeface="Times New Roman"/>
            </a:endParaRPr>
          </a:p>
          <a:p>
            <a:pPr marL="603250" indent="-457200">
              <a:buClr>
                <a:srgbClr val="CC9A00"/>
              </a:buClr>
              <a:buSzPts val="1300"/>
              <a:buFont typeface="+mj-lt"/>
              <a:buAutoNum type="arabicPeriod"/>
            </a:pPr>
            <a:r>
              <a:rPr lang="en-US" sz="2000" dirty="0" smtClean="0">
                <a:latin typeface="Times New Roman"/>
                <a:ea typeface="Times New Roman"/>
                <a:cs typeface="Times New Roman"/>
                <a:sym typeface="Times New Roman"/>
              </a:rPr>
              <a:t>The destination MAC address in the Ethernet header is set to all ones (FF:FF:FF:FF:FF:FF)</a:t>
            </a:r>
          </a:p>
          <a:p>
            <a:pPr marL="603250" indent="-457200">
              <a:buClr>
                <a:srgbClr val="CC9A00"/>
              </a:buClr>
              <a:buSzPts val="1300"/>
              <a:buFont typeface="+mj-lt"/>
              <a:buAutoNum type="arabicPeriod"/>
            </a:pPr>
            <a:endParaRPr lang="en-US" sz="2000" dirty="0" smtClean="0">
              <a:latin typeface="Times New Roman"/>
              <a:ea typeface="Times New Roman"/>
              <a:cs typeface="Times New Roman"/>
              <a:sym typeface="Times New Roman"/>
            </a:endParaRPr>
          </a:p>
          <a:p>
            <a:pPr marL="603250" indent="-457200">
              <a:buClr>
                <a:srgbClr val="CC9A00"/>
              </a:buClr>
              <a:buSzPts val="1300"/>
              <a:buFont typeface="+mj-lt"/>
              <a:buAutoNum type="arabicPeriod"/>
            </a:pPr>
            <a:r>
              <a:rPr lang="en-US" sz="2000" dirty="0" smtClean="0">
                <a:latin typeface="Times New Roman"/>
                <a:ea typeface="Times New Roman"/>
                <a:cs typeface="Times New Roman"/>
                <a:sym typeface="Times New Roman"/>
              </a:rPr>
              <a:t>This ensures every device in the local network segment receives and process the request.</a:t>
            </a:r>
            <a:endParaRPr lang="en-US" sz="2000" dirty="0" smtClean="0">
              <a:latin typeface="Times New Roman"/>
              <a:ea typeface="Times New Roman"/>
              <a:cs typeface="Times New Roman"/>
              <a:sym typeface="Times New Roman"/>
            </a:endParaRPr>
          </a:p>
          <a:p>
            <a:pPr marL="603250" indent="-457200">
              <a:buClr>
                <a:srgbClr val="CC9A00"/>
              </a:buClr>
              <a:buSzPts val="1300"/>
              <a:buFont typeface="+mj-lt"/>
              <a:buAutoNum type="arabicPeriod"/>
            </a:pPr>
            <a:endParaRPr lang="en-US" sz="2000" dirty="0" smtClean="0">
              <a:latin typeface="Times New Roman"/>
              <a:ea typeface="Times New Roman"/>
              <a:cs typeface="Times New Roman"/>
              <a:sym typeface="Times New Roman"/>
            </a:endParaRPr>
          </a:p>
          <a:p>
            <a:pPr marL="603250" indent="-457200">
              <a:buClr>
                <a:srgbClr val="CC9A00"/>
              </a:buClr>
              <a:buSzPts val="1300"/>
              <a:buFont typeface="+mj-lt"/>
              <a:buAutoNum type="arabicPeriod"/>
            </a:pPr>
            <a:r>
              <a:rPr lang="en-US" sz="2000" dirty="0" smtClean="0">
                <a:latin typeface="Times New Roman"/>
                <a:ea typeface="Times New Roman"/>
                <a:cs typeface="Times New Roman"/>
                <a:sym typeface="Times New Roman"/>
              </a:rPr>
              <a:t>Only the host with the matching IP address will respond with a Unicast ARP Reply containing its MAC address.</a:t>
            </a:r>
            <a:endParaRPr lang="en-US" sz="2000" dirty="0">
              <a:latin typeface="Times New Roman"/>
              <a:ea typeface="Times New Roman"/>
              <a:cs typeface="Times New Roman"/>
              <a:sym typeface="Times New Roman"/>
            </a:endParaRP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21000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1213344" y="2971800"/>
            <a:ext cx="7812461" cy="936154"/>
          </a:xfrm>
          <a:prstGeom prst="rect">
            <a:avLst/>
          </a:prstGeom>
          <a:noFill/>
          <a:ln>
            <a:noFill/>
          </a:ln>
        </p:spPr>
        <p:txBody>
          <a:bodyPr spcFirstLastPara="1" wrap="square" lIns="0" tIns="12700" rIns="0" bIns="0" anchor="t" anchorCtr="0">
            <a:spAutoFit/>
          </a:bodyPr>
          <a:lstStyle/>
          <a:p>
            <a:pPr lvl="0" algn="ctr"/>
            <a:r>
              <a:rPr lang="en-US" sz="6000" dirty="0"/>
              <a:t>4</a:t>
            </a:r>
            <a:r>
              <a:rPr lang="en-US" sz="6000" dirty="0" smtClean="0"/>
              <a:t>. IP Addressing</a:t>
            </a: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29</a:t>
            </a:fld>
            <a:endParaRP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1085604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smtClean="0"/>
              <a:t>IP Addresses:</a:t>
            </a:r>
            <a:endParaRPr lang="en-US" dirty="0"/>
          </a:p>
        </p:txBody>
      </p:sp>
      <p:sp>
        <p:nvSpPr>
          <p:cNvPr id="56" name="Google Shape;56;p8"/>
          <p:cNvSpPr txBox="1"/>
          <p:nvPr/>
        </p:nvSpPr>
        <p:spPr>
          <a:xfrm>
            <a:off x="883805" y="1864906"/>
            <a:ext cx="8142000" cy="1945389"/>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An IP address is a unique logical address assigned to a device on a network to identify it and enable </a:t>
            </a:r>
            <a:r>
              <a:rPr lang="en-US" sz="2000" dirty="0" smtClean="0">
                <a:latin typeface="Times New Roman"/>
                <a:ea typeface="Times New Roman"/>
                <a:cs typeface="Times New Roman"/>
                <a:sym typeface="Times New Roman"/>
              </a:rPr>
              <a:t>communication.</a:t>
            </a:r>
          </a:p>
          <a:p>
            <a:pPr marL="146050" lvl="0">
              <a:buClr>
                <a:srgbClr val="CC9A00"/>
              </a:buClr>
              <a:buSzPts val="1300"/>
            </a:pP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Types of  IP Addresses:</a:t>
            </a:r>
          </a:p>
          <a:p>
            <a:pPr marL="603250" lvl="0" indent="-457200">
              <a:buClr>
                <a:srgbClr val="CC9A00"/>
              </a:buClr>
              <a:buSzPts val="1300"/>
              <a:buFont typeface="+mj-lt"/>
              <a:buAutoNum type="arabicPeriod"/>
            </a:pPr>
            <a:r>
              <a:rPr lang="en-US" sz="2000" dirty="0" smtClean="0">
                <a:latin typeface="Times New Roman"/>
                <a:ea typeface="Times New Roman"/>
                <a:cs typeface="Times New Roman"/>
                <a:sym typeface="Times New Roman"/>
              </a:rPr>
              <a:t>IPv4</a:t>
            </a:r>
          </a:p>
          <a:p>
            <a:pPr marL="603250" lvl="0" indent="-457200">
              <a:buClr>
                <a:srgbClr val="CC9A00"/>
              </a:buClr>
              <a:buSzPts val="1300"/>
              <a:buFont typeface="+mj-lt"/>
              <a:buAutoNum type="arabicPeriod"/>
            </a:pPr>
            <a:r>
              <a:rPr lang="en-US" sz="2000" dirty="0" smtClean="0">
                <a:latin typeface="Times New Roman"/>
                <a:ea typeface="Times New Roman"/>
                <a:cs typeface="Times New Roman"/>
                <a:sym typeface="Times New Roman"/>
              </a:rPr>
              <a:t>IPv6</a:t>
            </a:r>
            <a:endParaRPr lang="en-US" sz="2000" dirty="0">
              <a:latin typeface="Times New Roman"/>
              <a:ea typeface="Times New Roman"/>
              <a:cs typeface="Times New Roman"/>
              <a:sym typeface="Times New Roman"/>
            </a:endParaRP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30</a:t>
            </a:fld>
            <a:endParaRPr/>
          </a:p>
        </p:txBody>
      </p:sp>
      <p:sp>
        <p:nvSpPr>
          <p:cNvPr id="2" name="AutoShape 2" descr="Network Switches | Juniper Networks U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2001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smtClean="0"/>
              <a:t>IPv4 </a:t>
            </a:r>
            <a:r>
              <a:rPr lang="en-US" dirty="0"/>
              <a:t>Addresses</a:t>
            </a:r>
            <a:r>
              <a:rPr lang="en-US" dirty="0" smtClean="0"/>
              <a:t>:</a:t>
            </a:r>
            <a:endParaRPr lang="en-US" dirty="0"/>
          </a:p>
        </p:txBody>
      </p:sp>
      <p:sp>
        <p:nvSpPr>
          <p:cNvPr id="56" name="Google Shape;56;p8"/>
          <p:cNvSpPr txBox="1"/>
          <p:nvPr/>
        </p:nvSpPr>
        <p:spPr>
          <a:xfrm>
            <a:off x="883805" y="1864906"/>
            <a:ext cx="8142000" cy="1022060"/>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An </a:t>
            </a:r>
            <a:r>
              <a:rPr lang="en-US" sz="2000" dirty="0" smtClean="0">
                <a:latin typeface="Times New Roman"/>
                <a:ea typeface="Times New Roman"/>
                <a:cs typeface="Times New Roman"/>
                <a:sym typeface="Times New Roman"/>
              </a:rPr>
              <a:t>IPv4 address is a 32 bit long identifier.</a:t>
            </a:r>
          </a:p>
          <a:p>
            <a:pPr marL="146050" lvl="0">
              <a:buClr>
                <a:srgbClr val="CC9A00"/>
              </a:buClr>
              <a:buSzPts val="1300"/>
            </a:pP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Max possible IPv4 Addresses: 2</a:t>
            </a:r>
            <a:r>
              <a:rPr lang="en-US" sz="2000" baseline="30000" dirty="0" smtClean="0">
                <a:latin typeface="Times New Roman"/>
                <a:ea typeface="Times New Roman"/>
                <a:cs typeface="Times New Roman"/>
                <a:sym typeface="Times New Roman"/>
              </a:rPr>
              <a:t>32</a:t>
            </a:r>
            <a:r>
              <a:rPr lang="en-US" sz="2000" dirty="0" smtClean="0">
                <a:latin typeface="Times New Roman"/>
                <a:ea typeface="Times New Roman"/>
                <a:cs typeface="Times New Roman"/>
                <a:sym typeface="Times New Roman"/>
              </a:rPr>
              <a:t> = 4.09 Billion</a:t>
            </a:r>
            <a:endParaRPr lang="en-US" sz="2000" baseline="30000" dirty="0">
              <a:latin typeface="Times New Roman"/>
              <a:ea typeface="Times New Roman"/>
              <a:cs typeface="Times New Roman"/>
              <a:sym typeface="Times New Roman"/>
            </a:endParaRP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31</a:t>
            </a:fld>
            <a:endParaRPr/>
          </a:p>
        </p:txBody>
      </p:sp>
      <p:sp>
        <p:nvSpPr>
          <p:cNvPr id="2" name="AutoShape 2" descr="Network Switches | Juniper Networks U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 name="Picture 2"/>
          <p:cNvPicPr>
            <a:picLocks noChangeAspect="1"/>
          </p:cNvPicPr>
          <p:nvPr/>
        </p:nvPicPr>
        <p:blipFill>
          <a:blip r:embed="rId3"/>
          <a:stretch>
            <a:fillRect/>
          </a:stretch>
        </p:blipFill>
        <p:spPr>
          <a:xfrm>
            <a:off x="1185139" y="3405348"/>
            <a:ext cx="7840666" cy="2497911"/>
          </a:xfrm>
          <a:prstGeom prst="rect">
            <a:avLst/>
          </a:prstGeom>
        </p:spPr>
      </p:pic>
    </p:spTree>
    <p:extLst>
      <p:ext uri="{BB962C8B-B14F-4D97-AF65-F5344CB8AC3E}">
        <p14:creationId xmlns:p14="http://schemas.microsoft.com/office/powerpoint/2010/main" val="1317826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smtClean="0"/>
              <a:t>IPv4 </a:t>
            </a:r>
            <a:r>
              <a:rPr lang="en-US" dirty="0"/>
              <a:t>Addresses</a:t>
            </a:r>
            <a:r>
              <a:rPr lang="en-US" dirty="0" smtClean="0"/>
              <a:t>:</a:t>
            </a:r>
            <a:endParaRPr lang="en-US" dirty="0"/>
          </a:p>
        </p:txBody>
      </p:sp>
      <p:sp>
        <p:nvSpPr>
          <p:cNvPr id="56" name="Google Shape;56;p8"/>
          <p:cNvSpPr txBox="1"/>
          <p:nvPr/>
        </p:nvSpPr>
        <p:spPr>
          <a:xfrm>
            <a:off x="883805" y="1864906"/>
            <a:ext cx="8142000" cy="1022060"/>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IP addresses are written in dotted decimal notation.</a:t>
            </a:r>
          </a:p>
          <a:p>
            <a:pPr marL="146050" lvl="0">
              <a:buClr>
                <a:srgbClr val="CC9A00"/>
              </a:buClr>
              <a:buSzPts val="1300"/>
            </a:pP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Each byte is identified by a decimal number in the range [0-255]</a:t>
            </a:r>
            <a:endParaRPr lang="en-US" sz="2000" baseline="30000" dirty="0">
              <a:latin typeface="Times New Roman"/>
              <a:ea typeface="Times New Roman"/>
              <a:cs typeface="Times New Roman"/>
              <a:sym typeface="Times New Roman"/>
            </a:endParaRP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32</a:t>
            </a:fld>
            <a:endParaRPr/>
          </a:p>
        </p:txBody>
      </p:sp>
      <p:sp>
        <p:nvSpPr>
          <p:cNvPr id="2" name="AutoShape 2" descr="Network Switches | Juniper Networks U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 name="Picture 3"/>
          <p:cNvPicPr>
            <a:picLocks noChangeAspect="1"/>
          </p:cNvPicPr>
          <p:nvPr/>
        </p:nvPicPr>
        <p:blipFill>
          <a:blip r:embed="rId3"/>
          <a:stretch>
            <a:fillRect/>
          </a:stretch>
        </p:blipFill>
        <p:spPr>
          <a:xfrm>
            <a:off x="1419954" y="3553493"/>
            <a:ext cx="6930670" cy="2313200"/>
          </a:xfrm>
          <a:prstGeom prst="rect">
            <a:avLst/>
          </a:prstGeom>
        </p:spPr>
      </p:pic>
    </p:spTree>
    <p:extLst>
      <p:ext uri="{BB962C8B-B14F-4D97-AF65-F5344CB8AC3E}">
        <p14:creationId xmlns:p14="http://schemas.microsoft.com/office/powerpoint/2010/main" val="3398681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smtClean="0"/>
              <a:t>Network prefix and Host number</a:t>
            </a:r>
            <a:endParaRPr lang="en-US" dirty="0"/>
          </a:p>
        </p:txBody>
      </p:sp>
      <p:sp>
        <p:nvSpPr>
          <p:cNvPr id="56" name="Google Shape;56;p8"/>
          <p:cNvSpPr txBox="1"/>
          <p:nvPr/>
        </p:nvSpPr>
        <p:spPr>
          <a:xfrm>
            <a:off x="883805" y="1864906"/>
            <a:ext cx="8142000" cy="2253166"/>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An IP address is divided into two parts</a:t>
            </a:r>
            <a:r>
              <a:rPr lang="en-US" sz="2000" dirty="0" smtClean="0">
                <a:latin typeface="Times New Roman"/>
                <a:ea typeface="Times New Roman"/>
                <a:cs typeface="Times New Roman"/>
                <a:sym typeface="Times New Roman"/>
              </a:rPr>
              <a:t>:</a:t>
            </a:r>
          </a:p>
          <a:p>
            <a:pPr marL="488950" lvl="0" indent="-342900">
              <a:buClr>
                <a:srgbClr val="CC9A00"/>
              </a:buClr>
              <a:buSzPts val="1300"/>
              <a:buFont typeface="Arial" panose="020B0604020202020204" pitchFamily="34" charset="0"/>
              <a:buChar char="•"/>
            </a:pPr>
            <a:r>
              <a:rPr lang="en-US" sz="2000" dirty="0" smtClean="0">
                <a:latin typeface="Times New Roman"/>
                <a:ea typeface="Times New Roman"/>
                <a:cs typeface="Times New Roman"/>
                <a:sym typeface="Times New Roman"/>
              </a:rPr>
              <a:t>Network prefix</a:t>
            </a:r>
          </a:p>
          <a:p>
            <a:pPr marL="488950" lvl="0" indent="-342900">
              <a:buClr>
                <a:srgbClr val="CC9A00"/>
              </a:buClr>
              <a:buSzPts val="1300"/>
              <a:buFont typeface="Arial" panose="020B0604020202020204" pitchFamily="34" charset="0"/>
              <a:buChar char="•"/>
            </a:pPr>
            <a:r>
              <a:rPr lang="en-US" sz="2000" dirty="0" smtClean="0">
                <a:latin typeface="Times New Roman"/>
                <a:ea typeface="Times New Roman"/>
                <a:cs typeface="Times New Roman"/>
                <a:sym typeface="Times New Roman"/>
              </a:rPr>
              <a:t>Host number</a:t>
            </a:r>
          </a:p>
          <a:p>
            <a:pPr marL="146050" lvl="0">
              <a:buClr>
                <a:srgbClr val="CC9A00"/>
              </a:buClr>
              <a:buSzPts val="1300"/>
            </a:pPr>
            <a:endParaRPr lang="en-US" sz="2000" dirty="0">
              <a:latin typeface="Times New Roman"/>
              <a:ea typeface="Times New Roman"/>
              <a:cs typeface="Times New Roman"/>
              <a:sym typeface="Times New Roman"/>
            </a:endParaRPr>
          </a:p>
          <a:p>
            <a:pPr marL="488950" lvl="0" indent="-342900">
              <a:buClr>
                <a:srgbClr val="CC9A00"/>
              </a:buClr>
              <a:buSzPts val="1300"/>
              <a:buFont typeface="Wingdings" panose="05000000000000000000" pitchFamily="2" charset="2"/>
              <a:buChar char="q"/>
            </a:pPr>
            <a:r>
              <a:rPr lang="en-US" sz="2000" dirty="0" smtClean="0">
                <a:latin typeface="Times New Roman"/>
                <a:ea typeface="Times New Roman"/>
                <a:cs typeface="Times New Roman"/>
                <a:sym typeface="Times New Roman"/>
              </a:rPr>
              <a:t>Network prefix identifies the network.</a:t>
            </a:r>
          </a:p>
          <a:p>
            <a:pPr marL="146050" lvl="0">
              <a:buClr>
                <a:srgbClr val="CC9A00"/>
              </a:buClr>
              <a:buSzPts val="1300"/>
            </a:pPr>
            <a:endParaRPr lang="en-US" sz="2000" dirty="0" smtClean="0">
              <a:latin typeface="Times New Roman"/>
              <a:ea typeface="Times New Roman"/>
              <a:cs typeface="Times New Roman"/>
              <a:sym typeface="Times New Roman"/>
            </a:endParaRPr>
          </a:p>
          <a:p>
            <a:pPr marL="488950" lvl="0" indent="-342900">
              <a:buClr>
                <a:srgbClr val="CC9A00"/>
              </a:buClr>
              <a:buSzPts val="1300"/>
              <a:buFont typeface="Wingdings" panose="05000000000000000000" pitchFamily="2" charset="2"/>
              <a:buChar char="q"/>
            </a:pPr>
            <a:r>
              <a:rPr lang="en-US" sz="2000" dirty="0" smtClean="0">
                <a:latin typeface="Times New Roman"/>
                <a:ea typeface="Times New Roman"/>
                <a:cs typeface="Times New Roman"/>
                <a:sym typeface="Times New Roman"/>
              </a:rPr>
              <a:t>Host part identifies the specific device within that network.</a:t>
            </a: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33</a:t>
            </a:fld>
            <a:endParaRPr/>
          </a:p>
        </p:txBody>
      </p:sp>
      <p:sp>
        <p:nvSpPr>
          <p:cNvPr id="2" name="AutoShape 2" descr="Network Switches | Juniper Networks U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783781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smtClean="0"/>
              <a:t>How long the Network prefix is?</a:t>
            </a:r>
            <a:endParaRPr lang="en-US" dirty="0"/>
          </a:p>
        </p:txBody>
      </p:sp>
      <p:sp>
        <p:nvSpPr>
          <p:cNvPr id="56" name="Google Shape;56;p8"/>
          <p:cNvSpPr txBox="1"/>
          <p:nvPr/>
        </p:nvSpPr>
        <p:spPr>
          <a:xfrm>
            <a:off x="883805" y="1864906"/>
            <a:ext cx="8142000" cy="1329836"/>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Before 1993 the network prefix is implicitly defined. (Class-Based-Addressing)</a:t>
            </a:r>
          </a:p>
          <a:p>
            <a:pPr marL="146050" lvl="0">
              <a:buClr>
                <a:srgbClr val="CC9A00"/>
              </a:buClr>
              <a:buSzPts val="1300"/>
            </a:pPr>
            <a:endParaRPr lang="en-US" sz="2000" dirty="0">
              <a:latin typeface="Times New Roman"/>
              <a:ea typeface="Times New Roman"/>
              <a:cs typeface="Times New Roman"/>
              <a:sym typeface="Times New Roman"/>
            </a:endParaRPr>
          </a:p>
          <a:p>
            <a:pPr marL="488950" lvl="0" indent="-342900">
              <a:buClr>
                <a:srgbClr val="CC9A00"/>
              </a:buClr>
              <a:buSzPts val="1300"/>
              <a:buFont typeface="Wingdings" panose="05000000000000000000" pitchFamily="2" charset="2"/>
              <a:buChar char="q"/>
            </a:pPr>
            <a:r>
              <a:rPr lang="en-US" sz="2000" dirty="0" smtClean="0">
                <a:latin typeface="Times New Roman"/>
                <a:ea typeface="Times New Roman"/>
                <a:cs typeface="Times New Roman"/>
                <a:sym typeface="Times New Roman"/>
              </a:rPr>
              <a:t>After 1993 the network prefix is indicated by a </a:t>
            </a:r>
            <a:r>
              <a:rPr lang="en-US" sz="2000" dirty="0" err="1" smtClean="0">
                <a:latin typeface="Times New Roman"/>
                <a:ea typeface="Times New Roman"/>
                <a:cs typeface="Times New Roman"/>
                <a:sym typeface="Times New Roman"/>
              </a:rPr>
              <a:t>netmask</a:t>
            </a:r>
            <a:r>
              <a:rPr lang="en-US" sz="2000" dirty="0" smtClean="0">
                <a:latin typeface="Times New Roman"/>
                <a:ea typeface="Times New Roman"/>
                <a:cs typeface="Times New Roman"/>
                <a:sym typeface="Times New Roman"/>
              </a:rPr>
              <a:t>.</a:t>
            </a: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34</a:t>
            </a:fld>
            <a:endParaRPr/>
          </a:p>
        </p:txBody>
      </p:sp>
      <p:sp>
        <p:nvSpPr>
          <p:cNvPr id="2" name="AutoShape 2" descr="Network Switches | Juniper Networks U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724000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err="1" smtClean="0"/>
              <a:t>Classful</a:t>
            </a:r>
            <a:r>
              <a:rPr lang="en-US" dirty="0" smtClean="0"/>
              <a:t> IP Addresses</a:t>
            </a:r>
            <a:endParaRPr lang="en-US" dirty="0"/>
          </a:p>
        </p:txBody>
      </p:sp>
      <p:sp>
        <p:nvSpPr>
          <p:cNvPr id="56" name="Google Shape;56;p8"/>
          <p:cNvSpPr txBox="1"/>
          <p:nvPr/>
        </p:nvSpPr>
        <p:spPr>
          <a:xfrm>
            <a:off x="883805" y="1864906"/>
            <a:ext cx="8142000" cy="2868719"/>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Address space is divided into classes:</a:t>
            </a:r>
          </a:p>
          <a:p>
            <a:pPr marL="146050" lvl="0">
              <a:buClr>
                <a:srgbClr val="CC9A00"/>
              </a:buClr>
              <a:buSzPts val="1300"/>
            </a:pPr>
            <a:endParaRPr lang="en-US" sz="2000" dirty="0" smtClean="0">
              <a:latin typeface="Times New Roman"/>
              <a:ea typeface="Times New Roman"/>
              <a:cs typeface="Times New Roman"/>
              <a:sym typeface="Times New Roman"/>
            </a:endParaRPr>
          </a:p>
          <a:p>
            <a:pPr marL="488950" lvl="0" indent="-342900">
              <a:buClr>
                <a:srgbClr val="CC9A00"/>
              </a:buClr>
              <a:buSzPts val="1300"/>
              <a:buFont typeface="Arial" panose="020B0604020202020204" pitchFamily="34" charset="0"/>
              <a:buChar char="•"/>
            </a:pPr>
            <a:r>
              <a:rPr lang="en-US" sz="2000" dirty="0" smtClean="0">
                <a:latin typeface="Times New Roman"/>
                <a:ea typeface="Times New Roman"/>
                <a:cs typeface="Times New Roman"/>
                <a:sym typeface="Times New Roman"/>
              </a:rPr>
              <a:t>Class A: Network prefix is 8 bits long</a:t>
            </a:r>
          </a:p>
          <a:p>
            <a:pPr marL="488950" lvl="0" indent="-342900">
              <a:buClr>
                <a:srgbClr val="CC9A00"/>
              </a:buClr>
              <a:buSzPts val="1300"/>
              <a:buFont typeface="Arial" panose="020B0604020202020204" pitchFamily="34" charset="0"/>
              <a:buChar char="•"/>
            </a:pPr>
            <a:r>
              <a:rPr lang="en-US" sz="2000" dirty="0" smtClean="0">
                <a:latin typeface="Times New Roman"/>
                <a:ea typeface="Times New Roman"/>
                <a:cs typeface="Times New Roman"/>
                <a:sym typeface="Times New Roman"/>
              </a:rPr>
              <a:t>Class B: Network prefix is 16 bits long</a:t>
            </a:r>
          </a:p>
          <a:p>
            <a:pPr marL="488950" lvl="0" indent="-342900">
              <a:buClr>
                <a:srgbClr val="CC9A00"/>
              </a:buClr>
              <a:buSzPts val="1300"/>
              <a:buFont typeface="Arial" panose="020B0604020202020204" pitchFamily="34" charset="0"/>
              <a:buChar char="•"/>
            </a:pPr>
            <a:r>
              <a:rPr lang="en-US" sz="2000" dirty="0" smtClean="0">
                <a:latin typeface="Times New Roman"/>
                <a:ea typeface="Times New Roman"/>
                <a:cs typeface="Times New Roman"/>
                <a:sym typeface="Times New Roman"/>
              </a:rPr>
              <a:t>Class C: Network prefix is 24 bits long</a:t>
            </a:r>
          </a:p>
          <a:p>
            <a:pPr marL="488950" lvl="0" indent="-342900">
              <a:buClr>
                <a:srgbClr val="CC9A00"/>
              </a:buClr>
              <a:buSzPts val="1300"/>
              <a:buFont typeface="Arial" panose="020B0604020202020204" pitchFamily="34" charset="0"/>
              <a:buChar char="•"/>
            </a:pPr>
            <a:endParaRPr lang="en-US" sz="2000" dirty="0">
              <a:latin typeface="Times New Roman"/>
              <a:ea typeface="Times New Roman"/>
              <a:cs typeface="Times New Roman"/>
              <a:sym typeface="Times New Roman"/>
            </a:endParaRPr>
          </a:p>
          <a:p>
            <a:pPr marL="488950" lvl="0" indent="-342900">
              <a:buClr>
                <a:srgbClr val="CC9A00"/>
              </a:buClr>
              <a:buSzPts val="1300"/>
              <a:buFont typeface="Wingdings" panose="05000000000000000000" pitchFamily="2" charset="2"/>
              <a:buChar char="q"/>
            </a:pPr>
            <a:r>
              <a:rPr lang="en-US" sz="2000" dirty="0" smtClean="0">
                <a:latin typeface="Times New Roman"/>
                <a:ea typeface="Times New Roman"/>
                <a:cs typeface="Times New Roman"/>
                <a:sym typeface="Times New Roman"/>
              </a:rPr>
              <a:t>Class is identified by the first few bits of the IP address:</a:t>
            </a:r>
          </a:p>
          <a:p>
            <a:pPr marL="488950" lvl="0" indent="-342900">
              <a:buClr>
                <a:srgbClr val="CC9A00"/>
              </a:buClr>
              <a:buSzPts val="1300"/>
              <a:buFont typeface="Wingdings" panose="05000000000000000000" pitchFamily="2" charset="2"/>
              <a:buChar char="q"/>
            </a:pPr>
            <a:endParaRPr lang="en-US" sz="2000" dirty="0">
              <a:latin typeface="Times New Roman"/>
              <a:ea typeface="Times New Roman"/>
              <a:cs typeface="Times New Roman"/>
              <a:sym typeface="Times New Roman"/>
            </a:endParaRPr>
          </a:p>
          <a:p>
            <a:pPr marL="488950" lvl="0" indent="-342900">
              <a:buClr>
                <a:srgbClr val="CC9A00"/>
              </a:buClr>
              <a:buSzPts val="1300"/>
              <a:buFont typeface="Wingdings" panose="05000000000000000000" pitchFamily="2" charset="2"/>
              <a:buChar char="q"/>
            </a:pPr>
            <a:endParaRPr lang="en-US" sz="2000" dirty="0" smtClean="0">
              <a:latin typeface="Times New Roman"/>
              <a:ea typeface="Times New Roman"/>
              <a:cs typeface="Times New Roman"/>
              <a:sym typeface="Times New Roman"/>
            </a:endParaRP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35</a:t>
            </a:fld>
            <a:endParaRPr/>
          </a:p>
        </p:txBody>
      </p:sp>
      <p:sp>
        <p:nvSpPr>
          <p:cNvPr id="2" name="AutoShape 2" descr="Network Switches | Juniper Networks U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3" name="Table 2"/>
          <p:cNvGraphicFramePr>
            <a:graphicFrameLocks noGrp="1"/>
          </p:cNvGraphicFramePr>
          <p:nvPr>
            <p:extLst>
              <p:ext uri="{D42A27DB-BD31-4B8C-83A1-F6EECF244321}">
                <p14:modId xmlns:p14="http://schemas.microsoft.com/office/powerpoint/2010/main" val="3676839886"/>
              </p:ext>
            </p:extLst>
          </p:nvPr>
        </p:nvGraphicFramePr>
        <p:xfrm>
          <a:off x="993898" y="4273699"/>
          <a:ext cx="8031906" cy="2221232"/>
        </p:xfrm>
        <a:graphic>
          <a:graphicData uri="http://schemas.openxmlformats.org/drawingml/2006/table">
            <a:tbl>
              <a:tblPr firstRow="1" bandRow="1">
                <a:tableStyleId>{5940675A-B579-460E-94D1-54222C63F5DA}</a:tableStyleId>
              </a:tblPr>
              <a:tblGrid>
                <a:gridCol w="2677302">
                  <a:extLst>
                    <a:ext uri="{9D8B030D-6E8A-4147-A177-3AD203B41FA5}">
                      <a16:colId xmlns:a16="http://schemas.microsoft.com/office/drawing/2014/main" val="2940103372"/>
                    </a:ext>
                  </a:extLst>
                </a:gridCol>
                <a:gridCol w="2677302">
                  <a:extLst>
                    <a:ext uri="{9D8B030D-6E8A-4147-A177-3AD203B41FA5}">
                      <a16:colId xmlns:a16="http://schemas.microsoft.com/office/drawing/2014/main" val="4268568665"/>
                    </a:ext>
                  </a:extLst>
                </a:gridCol>
                <a:gridCol w="2677302">
                  <a:extLst>
                    <a:ext uri="{9D8B030D-6E8A-4147-A177-3AD203B41FA5}">
                      <a16:colId xmlns:a16="http://schemas.microsoft.com/office/drawing/2014/main" val="3964872168"/>
                    </a:ext>
                  </a:extLst>
                </a:gridCol>
              </a:tblGrid>
              <a:tr h="555308">
                <a:tc>
                  <a:txBody>
                    <a:bodyPr/>
                    <a:lstStyle/>
                    <a:p>
                      <a:r>
                        <a:rPr lang="en-US"/>
                        <a:t>Class</a:t>
                      </a:r>
                    </a:p>
                  </a:txBody>
                  <a:tcPr anchor="ctr"/>
                </a:tc>
                <a:tc>
                  <a:txBody>
                    <a:bodyPr/>
                    <a:lstStyle/>
                    <a:p>
                      <a:r>
                        <a:rPr lang="en-US"/>
                        <a:t>Starting Bits</a:t>
                      </a:r>
                    </a:p>
                  </a:txBody>
                  <a:tcPr anchor="ctr"/>
                </a:tc>
                <a:tc>
                  <a:txBody>
                    <a:bodyPr/>
                    <a:lstStyle/>
                    <a:p>
                      <a:r>
                        <a:rPr lang="en-US"/>
                        <a:t>First Octet Range</a:t>
                      </a:r>
                    </a:p>
                  </a:txBody>
                  <a:tcPr anchor="ctr"/>
                </a:tc>
                <a:extLst>
                  <a:ext uri="{0D108BD9-81ED-4DB2-BD59-A6C34878D82A}">
                    <a16:rowId xmlns:a16="http://schemas.microsoft.com/office/drawing/2014/main" val="888545959"/>
                  </a:ext>
                </a:extLst>
              </a:tr>
              <a:tr h="555308">
                <a:tc>
                  <a:txBody>
                    <a:bodyPr/>
                    <a:lstStyle/>
                    <a:p>
                      <a:r>
                        <a:rPr lang="en-US" dirty="0" smtClean="0"/>
                        <a:t>Class A</a:t>
                      </a:r>
                      <a:endParaRPr lang="en-US" dirty="0"/>
                    </a:p>
                  </a:txBody>
                  <a:tcPr anchor="ctr"/>
                </a:tc>
                <a:tc>
                  <a:txBody>
                    <a:bodyPr/>
                    <a:lstStyle/>
                    <a:p>
                      <a:r>
                        <a:rPr lang="en-US" dirty="0" smtClean="0"/>
                        <a:t>0</a:t>
                      </a:r>
                      <a:endParaRPr lang="en-US" dirty="0"/>
                    </a:p>
                  </a:txBody>
                  <a:tcPr anchor="ctr"/>
                </a:tc>
                <a:tc>
                  <a:txBody>
                    <a:bodyPr/>
                    <a:lstStyle/>
                    <a:p>
                      <a:r>
                        <a:rPr lang="en-US" dirty="0" smtClean="0"/>
                        <a:t>0 - 127</a:t>
                      </a:r>
                      <a:endParaRPr lang="en-US" dirty="0"/>
                    </a:p>
                  </a:txBody>
                  <a:tcPr anchor="ctr"/>
                </a:tc>
                <a:extLst>
                  <a:ext uri="{0D108BD9-81ED-4DB2-BD59-A6C34878D82A}">
                    <a16:rowId xmlns:a16="http://schemas.microsoft.com/office/drawing/2014/main" val="1506705903"/>
                  </a:ext>
                </a:extLst>
              </a:tr>
              <a:tr h="555308">
                <a:tc>
                  <a:txBody>
                    <a:bodyPr/>
                    <a:lstStyle/>
                    <a:p>
                      <a:r>
                        <a:rPr lang="en-US" dirty="0" smtClean="0"/>
                        <a:t>Class B</a:t>
                      </a:r>
                      <a:endParaRPr lang="en-US" dirty="0"/>
                    </a:p>
                  </a:txBody>
                  <a:tcPr anchor="ctr"/>
                </a:tc>
                <a:tc>
                  <a:txBody>
                    <a:bodyPr/>
                    <a:lstStyle/>
                    <a:p>
                      <a:r>
                        <a:rPr lang="en-US" dirty="0" smtClean="0"/>
                        <a:t>10</a:t>
                      </a:r>
                      <a:endParaRPr lang="en-US" dirty="0"/>
                    </a:p>
                  </a:txBody>
                  <a:tcPr anchor="ctr"/>
                </a:tc>
                <a:tc>
                  <a:txBody>
                    <a:bodyPr/>
                    <a:lstStyle/>
                    <a:p>
                      <a:r>
                        <a:rPr lang="en-US" dirty="0" smtClean="0"/>
                        <a:t>128 - 191</a:t>
                      </a:r>
                      <a:endParaRPr lang="en-US" dirty="0"/>
                    </a:p>
                  </a:txBody>
                  <a:tcPr anchor="ctr"/>
                </a:tc>
                <a:extLst>
                  <a:ext uri="{0D108BD9-81ED-4DB2-BD59-A6C34878D82A}">
                    <a16:rowId xmlns:a16="http://schemas.microsoft.com/office/drawing/2014/main" val="3121780460"/>
                  </a:ext>
                </a:extLst>
              </a:tr>
              <a:tr h="555308">
                <a:tc>
                  <a:txBody>
                    <a:bodyPr/>
                    <a:lstStyle/>
                    <a:p>
                      <a:r>
                        <a:rPr lang="en-US" dirty="0" smtClean="0"/>
                        <a:t>Class C</a:t>
                      </a:r>
                      <a:endParaRPr lang="en-US" dirty="0"/>
                    </a:p>
                  </a:txBody>
                  <a:tcPr anchor="ctr"/>
                </a:tc>
                <a:tc>
                  <a:txBody>
                    <a:bodyPr/>
                    <a:lstStyle/>
                    <a:p>
                      <a:r>
                        <a:rPr lang="en-US" dirty="0" smtClean="0"/>
                        <a:t>110</a:t>
                      </a:r>
                      <a:endParaRPr lang="en-US" dirty="0"/>
                    </a:p>
                  </a:txBody>
                  <a:tcPr anchor="ctr"/>
                </a:tc>
                <a:tc>
                  <a:txBody>
                    <a:bodyPr/>
                    <a:lstStyle/>
                    <a:p>
                      <a:r>
                        <a:rPr lang="en-US" dirty="0" smtClean="0"/>
                        <a:t>192 - 223</a:t>
                      </a:r>
                      <a:endParaRPr lang="en-US" dirty="0"/>
                    </a:p>
                  </a:txBody>
                  <a:tcPr anchor="ctr"/>
                </a:tc>
                <a:extLst>
                  <a:ext uri="{0D108BD9-81ED-4DB2-BD59-A6C34878D82A}">
                    <a16:rowId xmlns:a16="http://schemas.microsoft.com/office/drawing/2014/main" val="3582876737"/>
                  </a:ext>
                </a:extLst>
              </a:tr>
            </a:tbl>
          </a:graphicData>
        </a:graphic>
      </p:graphicFrame>
    </p:spTree>
    <p:extLst>
      <p:ext uri="{BB962C8B-B14F-4D97-AF65-F5344CB8AC3E}">
        <p14:creationId xmlns:p14="http://schemas.microsoft.com/office/powerpoint/2010/main" val="2959353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a:t>Public and Private IP Addresses</a:t>
            </a:r>
          </a:p>
        </p:txBody>
      </p:sp>
      <p:sp>
        <p:nvSpPr>
          <p:cNvPr id="56" name="Google Shape;56;p8"/>
          <p:cNvSpPr txBox="1"/>
          <p:nvPr/>
        </p:nvSpPr>
        <p:spPr>
          <a:xfrm>
            <a:off x="883805" y="1864906"/>
            <a:ext cx="8142000" cy="4202417"/>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To solve the shortage, IPs are divided </a:t>
            </a:r>
            <a:r>
              <a:rPr lang="en-US" sz="2000" dirty="0" smtClean="0">
                <a:latin typeface="Times New Roman"/>
                <a:ea typeface="Times New Roman"/>
                <a:cs typeface="Times New Roman"/>
                <a:sym typeface="Times New Roman"/>
              </a:rPr>
              <a:t>into two as Public IP Addresses and Private IP Addresses.</a:t>
            </a:r>
          </a:p>
          <a:p>
            <a:pPr marL="457200" lvl="0" indent="-311150">
              <a:buClr>
                <a:srgbClr val="CC9A00"/>
              </a:buClr>
              <a:buSzPts val="1300"/>
              <a:buFont typeface="Noto Sans Symbols"/>
              <a:buChar char="❑"/>
            </a:pP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A public IP is an address that is globally unique and used on the Internet</a:t>
            </a:r>
            <a:r>
              <a:rPr lang="en-US" sz="2000" dirty="0" smtClean="0">
                <a:latin typeface="Times New Roman"/>
                <a:ea typeface="Times New Roman"/>
                <a:cs typeface="Times New Roman"/>
                <a:sym typeface="Times New Roman"/>
              </a:rPr>
              <a:t>.</a:t>
            </a:r>
          </a:p>
          <a:p>
            <a:pPr marL="146050" lvl="0">
              <a:buClr>
                <a:srgbClr val="CC9A00"/>
              </a:buClr>
              <a:buSzPts val="1300"/>
            </a:pP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It is Assigned by ISP, Accessible from anywhere on the Internet, Unique worldwide.</a:t>
            </a:r>
          </a:p>
          <a:p>
            <a:pPr marL="146050" lvl="0">
              <a:buClr>
                <a:srgbClr val="CC9A00"/>
              </a:buClr>
              <a:buSzPts val="1300"/>
            </a:pP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A private IP is used inside local networks (LANs) and is not visible on the Internet</a:t>
            </a:r>
            <a:r>
              <a:rPr lang="en-US" sz="2000" dirty="0" smtClean="0">
                <a:latin typeface="Times New Roman"/>
                <a:ea typeface="Times New Roman"/>
                <a:cs typeface="Times New Roman"/>
                <a:sym typeface="Times New Roman"/>
              </a:rPr>
              <a:t>.</a:t>
            </a:r>
          </a:p>
          <a:p>
            <a:pPr marL="146050" lvl="0">
              <a:buClr>
                <a:srgbClr val="CC9A00"/>
              </a:buClr>
              <a:buSzPts val="1300"/>
            </a:pP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Private IPs are used to save public IP addresses.</a:t>
            </a:r>
          </a:p>
          <a:p>
            <a:pPr marL="457200" lvl="0" indent="-311150">
              <a:buClr>
                <a:srgbClr val="CC9A00"/>
              </a:buClr>
              <a:buSzPts val="1300"/>
              <a:buFont typeface="Noto Sans Symbols"/>
              <a:buChar char="❑"/>
            </a:pPr>
            <a:endParaRPr lang="en-US" sz="2000" baseline="30000" dirty="0">
              <a:latin typeface="Times New Roman"/>
              <a:ea typeface="Times New Roman"/>
              <a:cs typeface="Times New Roman"/>
              <a:sym typeface="Times New Roman"/>
            </a:endParaRPr>
          </a:p>
          <a:p>
            <a:pPr marL="146050" lvl="0">
              <a:buClr>
                <a:srgbClr val="CC9A00"/>
              </a:buClr>
              <a:buSzPts val="1300"/>
            </a:pPr>
            <a:r>
              <a:rPr lang="en-US" sz="2000" baseline="30000" dirty="0" smtClean="0">
                <a:latin typeface="Times New Roman"/>
                <a:ea typeface="Times New Roman"/>
                <a:cs typeface="Times New Roman"/>
                <a:sym typeface="Times New Roman"/>
              </a:rPr>
              <a:t> </a:t>
            </a:r>
            <a:endParaRPr lang="en-US" sz="2000" baseline="30000" dirty="0">
              <a:latin typeface="Times New Roman"/>
              <a:ea typeface="Times New Roman"/>
              <a:cs typeface="Times New Roman"/>
              <a:sym typeface="Times New Roman"/>
            </a:endParaRP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36</a:t>
            </a:fld>
            <a:endParaRPr/>
          </a:p>
        </p:txBody>
      </p:sp>
      <p:sp>
        <p:nvSpPr>
          <p:cNvPr id="2" name="AutoShape 2" descr="Network Switches | Juniper Networks U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746048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a:t>Private IP ranges</a:t>
            </a: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37</a:t>
            </a:fld>
            <a:endParaRPr/>
          </a:p>
        </p:txBody>
      </p:sp>
      <p:sp>
        <p:nvSpPr>
          <p:cNvPr id="2" name="AutoShape 2" descr="Network Switches | Juniper Networks U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3" name="Table 2"/>
          <p:cNvGraphicFramePr>
            <a:graphicFrameLocks noGrp="1"/>
          </p:cNvGraphicFramePr>
          <p:nvPr>
            <p:extLst>
              <p:ext uri="{D42A27DB-BD31-4B8C-83A1-F6EECF244321}">
                <p14:modId xmlns:p14="http://schemas.microsoft.com/office/powerpoint/2010/main" val="2586488700"/>
              </p:ext>
            </p:extLst>
          </p:nvPr>
        </p:nvGraphicFramePr>
        <p:xfrm>
          <a:off x="993900" y="1907260"/>
          <a:ext cx="7921806" cy="2395800"/>
        </p:xfrm>
        <a:graphic>
          <a:graphicData uri="http://schemas.openxmlformats.org/drawingml/2006/table">
            <a:tbl>
              <a:tblPr firstRow="1" bandRow="1">
                <a:tableStyleId>{5940675A-B579-460E-94D1-54222C63F5DA}</a:tableStyleId>
              </a:tblPr>
              <a:tblGrid>
                <a:gridCol w="3960903">
                  <a:extLst>
                    <a:ext uri="{9D8B030D-6E8A-4147-A177-3AD203B41FA5}">
                      <a16:colId xmlns:a16="http://schemas.microsoft.com/office/drawing/2014/main" val="3286896201"/>
                    </a:ext>
                  </a:extLst>
                </a:gridCol>
                <a:gridCol w="3960903">
                  <a:extLst>
                    <a:ext uri="{9D8B030D-6E8A-4147-A177-3AD203B41FA5}">
                      <a16:colId xmlns:a16="http://schemas.microsoft.com/office/drawing/2014/main" val="34487744"/>
                    </a:ext>
                  </a:extLst>
                </a:gridCol>
              </a:tblGrid>
              <a:tr h="598950">
                <a:tc>
                  <a:txBody>
                    <a:bodyPr/>
                    <a:lstStyle/>
                    <a:p>
                      <a:r>
                        <a:rPr lang="en-US" sz="2000" dirty="0" smtClean="0">
                          <a:latin typeface="Times New Roman" panose="02020603050405020304" pitchFamily="18" charset="0"/>
                          <a:cs typeface="Times New Roman" panose="02020603050405020304" pitchFamily="18" charset="0"/>
                        </a:rPr>
                        <a:t>Class</a:t>
                      </a:r>
                      <a:endParaRPr lang="en-US" sz="2000" dirty="0">
                        <a:latin typeface="Times New Roman" panose="02020603050405020304" pitchFamily="18" charset="0"/>
                        <a:cs typeface="Times New Roman" panose="02020603050405020304" pitchFamily="18" charset="0"/>
                      </a:endParaRPr>
                    </a:p>
                  </a:txBody>
                  <a:tcPr/>
                </a:tc>
                <a:tc>
                  <a:txBody>
                    <a:bodyPr/>
                    <a:lstStyle/>
                    <a:p>
                      <a:r>
                        <a:rPr lang="en-US" sz="2000" dirty="0" smtClean="0">
                          <a:latin typeface="Times New Roman" panose="02020603050405020304" pitchFamily="18" charset="0"/>
                          <a:cs typeface="Times New Roman" panose="02020603050405020304" pitchFamily="18" charset="0"/>
                        </a:rPr>
                        <a:t>Range</a:t>
                      </a:r>
                      <a:endParaRPr 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0047348"/>
                  </a:ext>
                </a:extLst>
              </a:tr>
              <a:tr h="598950">
                <a:tc>
                  <a:txBody>
                    <a:bodyPr/>
                    <a:lstStyle/>
                    <a:p>
                      <a:r>
                        <a:rPr lang="en-US" sz="2000" dirty="0" smtClean="0">
                          <a:latin typeface="Times New Roman" panose="02020603050405020304" pitchFamily="18" charset="0"/>
                          <a:cs typeface="Times New Roman" panose="02020603050405020304" pitchFamily="18" charset="0"/>
                        </a:rPr>
                        <a:t>Class A</a:t>
                      </a:r>
                      <a:endParaRPr lang="en-US" sz="2000" dirty="0">
                        <a:latin typeface="Times New Roman" panose="02020603050405020304" pitchFamily="18" charset="0"/>
                        <a:cs typeface="Times New Roman" panose="02020603050405020304" pitchFamily="18" charset="0"/>
                      </a:endParaRPr>
                    </a:p>
                  </a:txBody>
                  <a:tcPr/>
                </a:tc>
                <a:tc>
                  <a:txBody>
                    <a:bodyPr/>
                    <a:lstStyle/>
                    <a:p>
                      <a:r>
                        <a:rPr lang="en-US" sz="2000" dirty="0" smtClean="0">
                          <a:latin typeface="Times New Roman" panose="02020603050405020304" pitchFamily="18" charset="0"/>
                          <a:cs typeface="Times New Roman" panose="02020603050405020304" pitchFamily="18" charset="0"/>
                        </a:rPr>
                        <a:t>10.0.0.0 – 10.255.255.255</a:t>
                      </a:r>
                      <a:endParaRPr 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759420368"/>
                  </a:ext>
                </a:extLst>
              </a:tr>
              <a:tr h="598950">
                <a:tc>
                  <a:txBody>
                    <a:bodyPr/>
                    <a:lstStyle/>
                    <a:p>
                      <a:r>
                        <a:rPr lang="en-US" sz="2000" dirty="0" smtClean="0">
                          <a:latin typeface="Times New Roman" panose="02020603050405020304" pitchFamily="18" charset="0"/>
                          <a:cs typeface="Times New Roman" panose="02020603050405020304" pitchFamily="18" charset="0"/>
                        </a:rPr>
                        <a:t>Class B</a:t>
                      </a:r>
                      <a:endParaRPr lang="en-US" sz="2000" dirty="0">
                        <a:latin typeface="Times New Roman" panose="02020603050405020304" pitchFamily="18" charset="0"/>
                        <a:cs typeface="Times New Roman" panose="02020603050405020304" pitchFamily="18" charset="0"/>
                      </a:endParaRPr>
                    </a:p>
                  </a:txBody>
                  <a:tcPr/>
                </a:tc>
                <a:tc>
                  <a:txBody>
                    <a:bodyPr/>
                    <a:lstStyle/>
                    <a:p>
                      <a:r>
                        <a:rPr lang="en-US" sz="2000" dirty="0" smtClean="0">
                          <a:latin typeface="Times New Roman" panose="02020603050405020304" pitchFamily="18" charset="0"/>
                          <a:cs typeface="Times New Roman" panose="02020603050405020304" pitchFamily="18" charset="0"/>
                        </a:rPr>
                        <a:t>172.16.0.0 – 172.31.255.255</a:t>
                      </a:r>
                      <a:endParaRPr 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959884308"/>
                  </a:ext>
                </a:extLst>
              </a:tr>
              <a:tr h="598950">
                <a:tc>
                  <a:txBody>
                    <a:bodyPr/>
                    <a:lstStyle/>
                    <a:p>
                      <a:r>
                        <a:rPr lang="en-US" sz="2000" dirty="0" smtClean="0">
                          <a:latin typeface="Times New Roman" panose="02020603050405020304" pitchFamily="18" charset="0"/>
                          <a:cs typeface="Times New Roman" panose="02020603050405020304" pitchFamily="18" charset="0"/>
                        </a:rPr>
                        <a:t>Class C</a:t>
                      </a:r>
                      <a:endParaRPr lang="en-US" sz="2000" dirty="0">
                        <a:latin typeface="Times New Roman" panose="02020603050405020304" pitchFamily="18" charset="0"/>
                        <a:cs typeface="Times New Roman" panose="02020603050405020304" pitchFamily="18" charset="0"/>
                      </a:endParaRPr>
                    </a:p>
                  </a:txBody>
                  <a:tcPr/>
                </a:tc>
                <a:tc>
                  <a:txBody>
                    <a:bodyPr/>
                    <a:lstStyle/>
                    <a:p>
                      <a:r>
                        <a:rPr lang="en-US" sz="2000" dirty="0" smtClean="0">
                          <a:latin typeface="Times New Roman" panose="02020603050405020304" pitchFamily="18" charset="0"/>
                          <a:cs typeface="Times New Roman" panose="02020603050405020304" pitchFamily="18" charset="0"/>
                        </a:rPr>
                        <a:t>192.168.0.0</a:t>
                      </a:r>
                      <a:r>
                        <a:rPr lang="en-US" sz="2000" baseline="0" dirty="0" smtClean="0">
                          <a:latin typeface="Times New Roman" panose="02020603050405020304" pitchFamily="18" charset="0"/>
                          <a:cs typeface="Times New Roman" panose="02020603050405020304" pitchFamily="18" charset="0"/>
                        </a:rPr>
                        <a:t> – 192.168.255.255</a:t>
                      </a:r>
                      <a:endParaRPr 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54986316"/>
                  </a:ext>
                </a:extLst>
              </a:tr>
            </a:tbl>
          </a:graphicData>
        </a:graphic>
      </p:graphicFrame>
    </p:spTree>
    <p:extLst>
      <p:ext uri="{BB962C8B-B14F-4D97-AF65-F5344CB8AC3E}">
        <p14:creationId xmlns:p14="http://schemas.microsoft.com/office/powerpoint/2010/main" val="285997174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a:t>Problems with </a:t>
            </a:r>
            <a:r>
              <a:rPr lang="en-US" dirty="0" err="1"/>
              <a:t>Classful</a:t>
            </a:r>
            <a:r>
              <a:rPr lang="en-US" dirty="0"/>
              <a:t> IP Addressing</a:t>
            </a:r>
          </a:p>
        </p:txBody>
      </p:sp>
      <p:sp>
        <p:nvSpPr>
          <p:cNvPr id="56" name="Google Shape;56;p8"/>
          <p:cNvSpPr txBox="1"/>
          <p:nvPr/>
        </p:nvSpPr>
        <p:spPr>
          <a:xfrm>
            <a:off x="883805" y="1864906"/>
            <a:ext cx="8142000" cy="4817970"/>
          </a:xfrm>
          <a:prstGeom prst="rect">
            <a:avLst/>
          </a:prstGeom>
          <a:noFill/>
          <a:ln>
            <a:noFill/>
          </a:ln>
        </p:spPr>
        <p:txBody>
          <a:bodyPr spcFirstLastPara="1" wrap="square" lIns="0" tIns="97775" rIns="0" bIns="0" anchor="t" anchorCtr="0">
            <a:spAutoFit/>
          </a:bodyPr>
          <a:lstStyle/>
          <a:p>
            <a:pPr marL="488950" lvl="0" indent="-342900">
              <a:buClr>
                <a:srgbClr val="CC9A00"/>
              </a:buClr>
              <a:buSzPts val="1300"/>
              <a:buFont typeface="Wingdings" panose="05000000000000000000" pitchFamily="2" charset="2"/>
              <a:buChar char="q"/>
            </a:pPr>
            <a:r>
              <a:rPr lang="en-US" sz="2000" dirty="0" smtClean="0">
                <a:latin typeface="Times New Roman"/>
                <a:ea typeface="Times New Roman"/>
                <a:cs typeface="Times New Roman"/>
                <a:sym typeface="Times New Roman"/>
              </a:rPr>
              <a:t>Wastage </a:t>
            </a:r>
            <a:r>
              <a:rPr lang="en-US" sz="2000" dirty="0">
                <a:latin typeface="Times New Roman"/>
                <a:ea typeface="Times New Roman"/>
                <a:cs typeface="Times New Roman"/>
                <a:sym typeface="Times New Roman"/>
              </a:rPr>
              <a:t>of IP </a:t>
            </a:r>
            <a:r>
              <a:rPr lang="en-US" sz="2000" dirty="0" smtClean="0">
                <a:latin typeface="Times New Roman"/>
                <a:ea typeface="Times New Roman"/>
                <a:cs typeface="Times New Roman"/>
                <a:sym typeface="Times New Roman"/>
              </a:rPr>
              <a:t>Addresses:</a:t>
            </a:r>
          </a:p>
          <a:p>
            <a:pPr marL="146050" lvl="0">
              <a:buClr>
                <a:srgbClr val="CC9A00"/>
              </a:buClr>
              <a:buSzPts val="1300"/>
            </a:pPr>
            <a:endParaRPr lang="en-US" sz="2000" dirty="0" smtClean="0">
              <a:latin typeface="Times New Roman"/>
              <a:ea typeface="Times New Roman"/>
              <a:cs typeface="Times New Roman"/>
              <a:sym typeface="Times New Roman"/>
            </a:endParaRPr>
          </a:p>
          <a:p>
            <a:pPr marL="146050" lvl="2">
              <a:buClr>
                <a:srgbClr val="CC9A00"/>
              </a:buClr>
              <a:buSzPts val="1300"/>
            </a:pPr>
            <a:r>
              <a:rPr lang="en-US" sz="2000" dirty="0" smtClean="0">
                <a:latin typeface="Times New Roman"/>
                <a:ea typeface="Times New Roman"/>
                <a:cs typeface="Times New Roman"/>
                <a:sym typeface="Times New Roman"/>
              </a:rPr>
              <a:t>The </a:t>
            </a:r>
            <a:r>
              <a:rPr lang="en-US" sz="2000" dirty="0">
                <a:latin typeface="Times New Roman"/>
                <a:ea typeface="Times New Roman"/>
                <a:cs typeface="Times New Roman"/>
                <a:sym typeface="Times New Roman"/>
              </a:rPr>
              <a:t>fixed class sizes cause inefficient use of IP addresses</a:t>
            </a:r>
            <a:r>
              <a:rPr lang="en-US" sz="2000" dirty="0" smtClean="0">
                <a:latin typeface="Times New Roman"/>
                <a:ea typeface="Times New Roman"/>
                <a:cs typeface="Times New Roman"/>
                <a:sym typeface="Times New Roman"/>
              </a:rPr>
              <a:t>.</a:t>
            </a:r>
          </a:p>
          <a:p>
            <a:pPr marL="146050" lvl="2">
              <a:buClr>
                <a:srgbClr val="CC9A00"/>
              </a:buClr>
              <a:buSzPts val="1300"/>
            </a:pPr>
            <a:endParaRPr lang="en-US" sz="2000" dirty="0" smtClean="0">
              <a:latin typeface="Times New Roman"/>
              <a:ea typeface="Times New Roman"/>
              <a:cs typeface="Times New Roman"/>
              <a:sym typeface="Times New Roman"/>
            </a:endParaRPr>
          </a:p>
          <a:p>
            <a:pPr marL="488950" lvl="2" indent="-342900">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Class A → too large (millions of addresses</a:t>
            </a:r>
            <a:r>
              <a:rPr lang="en-US" sz="2000" dirty="0" smtClean="0">
                <a:latin typeface="Times New Roman"/>
                <a:ea typeface="Times New Roman"/>
                <a:cs typeface="Times New Roman"/>
                <a:sym typeface="Times New Roman"/>
              </a:rPr>
              <a:t>)</a:t>
            </a:r>
          </a:p>
          <a:p>
            <a:pPr marL="488950" lvl="2" indent="-342900">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Class C → too small (only 254 hosts</a:t>
            </a:r>
            <a:r>
              <a:rPr lang="en-US" sz="2000" dirty="0" smtClean="0">
                <a:latin typeface="Times New Roman"/>
                <a:ea typeface="Times New Roman"/>
                <a:cs typeface="Times New Roman"/>
                <a:sym typeface="Times New Roman"/>
              </a:rPr>
              <a:t>)</a:t>
            </a:r>
          </a:p>
          <a:p>
            <a:pPr marL="488950" lvl="2" indent="-342900">
              <a:buClr>
                <a:srgbClr val="CC9A00"/>
              </a:buClr>
              <a:buSzPts val="1300"/>
              <a:buFont typeface="Arial" panose="020B0604020202020204" pitchFamily="34" charset="0"/>
              <a:buChar char="•"/>
            </a:pPr>
            <a:endParaRPr lang="en-US" sz="2000" dirty="0" smtClean="0">
              <a:latin typeface="Times New Roman"/>
              <a:ea typeface="Times New Roman"/>
              <a:cs typeface="Times New Roman"/>
              <a:sym typeface="Times New Roman"/>
            </a:endParaRPr>
          </a:p>
          <a:p>
            <a:pPr marL="146050" lvl="2">
              <a:buClr>
                <a:srgbClr val="CC9A00"/>
              </a:buClr>
              <a:buSzPts val="1300"/>
            </a:pPr>
            <a:r>
              <a:rPr lang="en-US" sz="2000" dirty="0">
                <a:latin typeface="Times New Roman"/>
                <a:ea typeface="Times New Roman"/>
                <a:cs typeface="Times New Roman"/>
                <a:sym typeface="Times New Roman"/>
              </a:rPr>
              <a:t>Organizations often got more IPs than needed, wasting </a:t>
            </a:r>
            <a:r>
              <a:rPr lang="en-US" sz="2000" dirty="0" smtClean="0">
                <a:latin typeface="Times New Roman"/>
                <a:ea typeface="Times New Roman"/>
                <a:cs typeface="Times New Roman"/>
                <a:sym typeface="Times New Roman"/>
              </a:rPr>
              <a:t>addresses.</a:t>
            </a:r>
          </a:p>
          <a:p>
            <a:pPr marL="146050" lvl="0">
              <a:buClr>
                <a:srgbClr val="CC9A00"/>
              </a:buClr>
              <a:buSzPts val="1300"/>
            </a:pPr>
            <a:endParaRPr lang="en-US" sz="2000" dirty="0">
              <a:latin typeface="Times New Roman"/>
              <a:ea typeface="Times New Roman"/>
              <a:cs typeface="Times New Roman"/>
              <a:sym typeface="Times New Roman"/>
            </a:endParaRPr>
          </a:p>
          <a:p>
            <a:pPr marL="603250" lvl="0" indent="-457200">
              <a:buClr>
                <a:srgbClr val="CC9A00"/>
              </a:buClr>
              <a:buSzPts val="1300"/>
              <a:buFont typeface="Wingdings" panose="05000000000000000000" pitchFamily="2" charset="2"/>
              <a:buChar char="q"/>
            </a:pPr>
            <a:r>
              <a:rPr lang="en-US" sz="2000" dirty="0" smtClean="0">
                <a:latin typeface="Times New Roman"/>
                <a:ea typeface="Times New Roman"/>
                <a:cs typeface="Times New Roman"/>
                <a:sym typeface="Times New Roman"/>
              </a:rPr>
              <a:t>Had to choose IPs from fixed sizes (A,B, or C). Cannot create custom sized networks.</a:t>
            </a:r>
          </a:p>
          <a:p>
            <a:pPr marL="146050" lvl="0">
              <a:buClr>
                <a:srgbClr val="CC9A00"/>
              </a:buClr>
              <a:buSzPts val="1300"/>
            </a:pPr>
            <a:endParaRPr lang="en-US" sz="2000" dirty="0" smtClean="0">
              <a:latin typeface="Times New Roman"/>
              <a:ea typeface="Times New Roman"/>
              <a:cs typeface="Times New Roman"/>
              <a:sym typeface="Times New Roman"/>
            </a:endParaRPr>
          </a:p>
          <a:p>
            <a:pPr marL="488950" lvl="0" indent="-342900">
              <a:buClr>
                <a:srgbClr val="CC9A00"/>
              </a:buClr>
              <a:buSzPts val="1300"/>
              <a:buFont typeface="Wingdings" panose="05000000000000000000" pitchFamily="2" charset="2"/>
              <a:buChar char="q"/>
            </a:pPr>
            <a:r>
              <a:rPr lang="en-US" sz="2000" dirty="0" smtClean="0">
                <a:latin typeface="Times New Roman"/>
                <a:ea typeface="Times New Roman"/>
                <a:cs typeface="Times New Roman"/>
                <a:sym typeface="Times New Roman"/>
              </a:rPr>
              <a:t>Since routers had to store many individual network entries, Routing tables became large and inefficient.</a:t>
            </a:r>
          </a:p>
          <a:p>
            <a:pPr marL="457200" lvl="0" indent="-311150">
              <a:buClr>
                <a:srgbClr val="CC9A00"/>
              </a:buClr>
              <a:buSzPts val="1300"/>
              <a:buFont typeface="Noto Sans Symbols"/>
              <a:buChar char="❑"/>
            </a:pPr>
            <a:endParaRPr lang="en-US" sz="2000" baseline="30000" dirty="0">
              <a:latin typeface="Times New Roman"/>
              <a:ea typeface="Times New Roman"/>
              <a:cs typeface="Times New Roman"/>
              <a:sym typeface="Times New Roman"/>
            </a:endParaRPr>
          </a:p>
          <a:p>
            <a:pPr marL="146050" lvl="0">
              <a:buClr>
                <a:srgbClr val="CC9A00"/>
              </a:buClr>
              <a:buSzPts val="1300"/>
            </a:pPr>
            <a:r>
              <a:rPr lang="en-US" sz="2000" baseline="30000" dirty="0" smtClean="0">
                <a:latin typeface="Times New Roman"/>
                <a:ea typeface="Times New Roman"/>
                <a:cs typeface="Times New Roman"/>
                <a:sym typeface="Times New Roman"/>
              </a:rPr>
              <a:t> </a:t>
            </a:r>
            <a:endParaRPr lang="en-US" sz="2000" baseline="30000" dirty="0">
              <a:latin typeface="Times New Roman"/>
              <a:ea typeface="Times New Roman"/>
              <a:cs typeface="Times New Roman"/>
              <a:sym typeface="Times New Roman"/>
            </a:endParaRP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38</a:t>
            </a:fld>
            <a:endParaRPr/>
          </a:p>
        </p:txBody>
      </p:sp>
      <p:sp>
        <p:nvSpPr>
          <p:cNvPr id="2" name="AutoShape 2" descr="Network Switches | Juniper Networks U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573249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smtClean="0"/>
              <a:t>CIDR (Classless Inter Domain Routing)</a:t>
            </a:r>
            <a:endParaRPr lang="en-US" dirty="0"/>
          </a:p>
        </p:txBody>
      </p:sp>
      <p:sp>
        <p:nvSpPr>
          <p:cNvPr id="56" name="Google Shape;56;p8"/>
          <p:cNvSpPr txBox="1"/>
          <p:nvPr/>
        </p:nvSpPr>
        <p:spPr>
          <a:xfrm>
            <a:off x="883805" y="1618577"/>
            <a:ext cx="8142000" cy="6049077"/>
          </a:xfrm>
          <a:prstGeom prst="rect">
            <a:avLst/>
          </a:prstGeom>
          <a:noFill/>
          <a:ln>
            <a:noFill/>
          </a:ln>
        </p:spPr>
        <p:txBody>
          <a:bodyPr spcFirstLastPara="1" wrap="square" lIns="0" tIns="97775" rIns="0" bIns="0" anchor="t" anchorCtr="0">
            <a:spAutoFit/>
          </a:bodyPr>
          <a:lstStyle/>
          <a:p>
            <a:pPr marL="488950" lvl="0" indent="-342900">
              <a:buClr>
                <a:srgbClr val="CC9A00"/>
              </a:buClr>
              <a:buSzPts val="1300"/>
              <a:buFont typeface="Wingdings" panose="05000000000000000000" pitchFamily="2" charset="2"/>
              <a:buChar char="q"/>
            </a:pPr>
            <a:r>
              <a:rPr lang="en-US" sz="2000" dirty="0" smtClean="0">
                <a:latin typeface="Times New Roman"/>
                <a:ea typeface="Times New Roman"/>
                <a:cs typeface="Times New Roman"/>
                <a:sym typeface="Times New Roman"/>
              </a:rPr>
              <a:t>Allows flexible allocation of IP addresses by using a variable-length network prefix instead of fixed classes.</a:t>
            </a:r>
          </a:p>
          <a:p>
            <a:pPr marL="488950" lvl="0" indent="-342900">
              <a:buClr>
                <a:srgbClr val="CC9A00"/>
              </a:buClr>
              <a:buSzPts val="1300"/>
              <a:buFont typeface="Wingdings" panose="05000000000000000000" pitchFamily="2" charset="2"/>
              <a:buChar char="q"/>
            </a:pPr>
            <a:endParaRPr lang="en-US" sz="2000" dirty="0" smtClean="0">
              <a:latin typeface="Times New Roman"/>
              <a:ea typeface="Times New Roman"/>
              <a:cs typeface="Times New Roman"/>
              <a:sym typeface="Times New Roman"/>
            </a:endParaRPr>
          </a:p>
          <a:p>
            <a:pPr marL="488950" lvl="0" indent="-342900">
              <a:buClr>
                <a:srgbClr val="CC9A00"/>
              </a:buClr>
              <a:buSzPts val="1300"/>
              <a:buFont typeface="Wingdings" panose="05000000000000000000" pitchFamily="2" charset="2"/>
              <a:buChar char="q"/>
            </a:pPr>
            <a:r>
              <a:rPr lang="en-US" sz="2000" dirty="0" smtClean="0">
                <a:latin typeface="Times New Roman"/>
                <a:ea typeface="Times New Roman"/>
                <a:cs typeface="Times New Roman"/>
                <a:sym typeface="Times New Roman"/>
              </a:rPr>
              <a:t>CIDR notation of an IP address</a:t>
            </a:r>
            <a:r>
              <a:rPr lang="en-US" sz="2000" dirty="0">
                <a:latin typeface="Times New Roman"/>
                <a:ea typeface="Times New Roman"/>
                <a:cs typeface="Times New Roman"/>
                <a:sym typeface="Times New Roman"/>
              </a:rPr>
              <a:t>: </a:t>
            </a:r>
            <a:r>
              <a:rPr lang="en-US" sz="2000" dirty="0" smtClean="0">
                <a:latin typeface="Times New Roman"/>
                <a:ea typeface="Times New Roman"/>
                <a:cs typeface="Times New Roman"/>
                <a:sym typeface="Times New Roman"/>
              </a:rPr>
              <a:t>192.168.1.0/24</a:t>
            </a:r>
          </a:p>
          <a:p>
            <a:pPr marL="488950" lvl="0" indent="-342900">
              <a:buClr>
                <a:srgbClr val="CC9A00"/>
              </a:buClr>
              <a:buSzPts val="1300"/>
              <a:buFont typeface="Wingdings" panose="05000000000000000000" pitchFamily="2" charset="2"/>
              <a:buChar char="q"/>
            </a:pPr>
            <a:endParaRPr lang="en-US" sz="2000" dirty="0" smtClean="0">
              <a:latin typeface="Times New Roman"/>
              <a:ea typeface="Times New Roman"/>
              <a:cs typeface="Times New Roman"/>
              <a:sym typeface="Times New Roman"/>
            </a:endParaRPr>
          </a:p>
          <a:p>
            <a:pPr marL="488950" lvl="0" indent="-342900">
              <a:buClr>
                <a:srgbClr val="CC9A00"/>
              </a:buClr>
              <a:buSzPts val="1300"/>
              <a:buFont typeface="Wingdings" panose="05000000000000000000" pitchFamily="2" charset="2"/>
              <a:buChar char="q"/>
            </a:pPr>
            <a:r>
              <a:rPr lang="en-US" sz="2000" dirty="0" smtClean="0">
                <a:latin typeface="Times New Roman"/>
                <a:ea typeface="Times New Roman"/>
                <a:cs typeface="Times New Roman"/>
                <a:sym typeface="Times New Roman"/>
              </a:rPr>
              <a:t>24 is the Prefix length. It status that first 24 bits are the network prefix of the address. 8 bits are available for host addresses.</a:t>
            </a:r>
          </a:p>
          <a:p>
            <a:pPr marL="146050" lvl="0">
              <a:buClr>
                <a:srgbClr val="CC9A00"/>
              </a:buClr>
              <a:buSzPts val="1300"/>
            </a:pPr>
            <a:endParaRPr lang="en-US" sz="2000" dirty="0" smtClean="0">
              <a:latin typeface="Times New Roman"/>
              <a:ea typeface="Times New Roman"/>
              <a:cs typeface="Times New Roman"/>
              <a:sym typeface="Times New Roman"/>
            </a:endParaRPr>
          </a:p>
          <a:p>
            <a:pPr marL="488950" lvl="0" indent="-342900">
              <a:buClr>
                <a:srgbClr val="CC9A00"/>
              </a:buClr>
              <a:buSzPts val="1300"/>
              <a:buFont typeface="Wingdings" panose="05000000000000000000" pitchFamily="2" charset="2"/>
              <a:buChar char="q"/>
            </a:pPr>
            <a:r>
              <a:rPr lang="en-US" sz="2000" dirty="0" smtClean="0">
                <a:latin typeface="Times New Roman"/>
                <a:ea typeface="Times New Roman"/>
                <a:cs typeface="Times New Roman"/>
                <a:sym typeface="Times New Roman"/>
              </a:rPr>
              <a:t>CIDR eliminates the concept of class A, B and C networks. Replaces it with a network prefix.</a:t>
            </a:r>
          </a:p>
          <a:p>
            <a:pPr marL="488950" lvl="0" indent="-342900">
              <a:buClr>
                <a:srgbClr val="CC9A00"/>
              </a:buClr>
              <a:buSzPts val="1300"/>
              <a:buFont typeface="Wingdings" panose="05000000000000000000" pitchFamily="2" charset="2"/>
              <a:buChar char="q"/>
            </a:pPr>
            <a:endParaRPr lang="en-US" sz="2000" dirty="0" smtClean="0">
              <a:latin typeface="Times New Roman"/>
              <a:ea typeface="Times New Roman"/>
              <a:cs typeface="Times New Roman"/>
              <a:sym typeface="Times New Roman"/>
            </a:endParaRPr>
          </a:p>
          <a:p>
            <a:pPr marL="488950" lvl="0" indent="-342900">
              <a:buClr>
                <a:srgbClr val="CC9A00"/>
              </a:buClr>
              <a:buSzPts val="1300"/>
              <a:buFont typeface="Wingdings" panose="05000000000000000000" pitchFamily="2" charset="2"/>
              <a:buChar char="q"/>
            </a:pPr>
            <a:r>
              <a:rPr lang="en-US" sz="2000" dirty="0">
                <a:latin typeface="Times New Roman"/>
                <a:ea typeface="Times New Roman"/>
                <a:cs typeface="Times New Roman"/>
                <a:sym typeface="Times New Roman"/>
              </a:rPr>
              <a:t>With CIDR, networks can be</a:t>
            </a:r>
            <a:r>
              <a:rPr lang="en-US" sz="2000" dirty="0" smtClean="0">
                <a:latin typeface="Times New Roman"/>
                <a:ea typeface="Times New Roman"/>
                <a:cs typeface="Times New Roman"/>
                <a:sym typeface="Times New Roman"/>
              </a:rPr>
              <a:t>: (Can choose based on the need)</a:t>
            </a:r>
          </a:p>
          <a:p>
            <a:pPr marL="488950" lvl="0" indent="-342900">
              <a:buClr>
                <a:srgbClr val="CC9A00"/>
              </a:buClr>
              <a:buSzPts val="1300"/>
              <a:buFont typeface="Arial" panose="020B0604020202020204" pitchFamily="34" charset="0"/>
              <a:buChar char="•"/>
            </a:pPr>
            <a:r>
              <a:rPr lang="en-US" sz="2000" dirty="0" smtClean="0">
                <a:latin typeface="Times New Roman"/>
                <a:ea typeface="Times New Roman"/>
                <a:cs typeface="Times New Roman"/>
                <a:sym typeface="Times New Roman"/>
              </a:rPr>
              <a:t>/</a:t>
            </a:r>
            <a:r>
              <a:rPr lang="en-US" sz="2000" dirty="0">
                <a:latin typeface="Times New Roman"/>
                <a:ea typeface="Times New Roman"/>
                <a:cs typeface="Times New Roman"/>
                <a:sym typeface="Times New Roman"/>
              </a:rPr>
              <a:t>8 → very </a:t>
            </a:r>
            <a:r>
              <a:rPr lang="en-US" sz="2000" dirty="0" smtClean="0">
                <a:latin typeface="Times New Roman"/>
                <a:ea typeface="Times New Roman"/>
                <a:cs typeface="Times New Roman"/>
                <a:sym typeface="Times New Roman"/>
              </a:rPr>
              <a:t>large</a:t>
            </a:r>
          </a:p>
          <a:p>
            <a:pPr marL="488950" lvl="0" indent="-342900">
              <a:buClr>
                <a:srgbClr val="CC9A00"/>
              </a:buClr>
              <a:buSzPts val="1300"/>
              <a:buFont typeface="Arial" panose="020B0604020202020204" pitchFamily="34" charset="0"/>
              <a:buChar char="•"/>
            </a:pPr>
            <a:r>
              <a:rPr lang="en-US" sz="2000" dirty="0" smtClean="0">
                <a:latin typeface="Times New Roman"/>
                <a:ea typeface="Times New Roman"/>
                <a:cs typeface="Times New Roman"/>
                <a:sym typeface="Times New Roman"/>
              </a:rPr>
              <a:t>/</a:t>
            </a:r>
            <a:r>
              <a:rPr lang="en-US" sz="2000" dirty="0">
                <a:latin typeface="Times New Roman"/>
                <a:ea typeface="Times New Roman"/>
                <a:cs typeface="Times New Roman"/>
                <a:sym typeface="Times New Roman"/>
              </a:rPr>
              <a:t>16 → </a:t>
            </a:r>
            <a:r>
              <a:rPr lang="en-US" sz="2000" dirty="0" smtClean="0">
                <a:latin typeface="Times New Roman"/>
                <a:ea typeface="Times New Roman"/>
                <a:cs typeface="Times New Roman"/>
                <a:sym typeface="Times New Roman"/>
              </a:rPr>
              <a:t>medium</a:t>
            </a:r>
          </a:p>
          <a:p>
            <a:pPr marL="488950" lvl="0" indent="-342900">
              <a:buClr>
                <a:srgbClr val="CC9A00"/>
              </a:buClr>
              <a:buSzPts val="1300"/>
              <a:buFont typeface="Arial" panose="020B0604020202020204" pitchFamily="34" charset="0"/>
              <a:buChar char="•"/>
            </a:pPr>
            <a:r>
              <a:rPr lang="en-US" sz="2000" dirty="0" smtClean="0">
                <a:latin typeface="Times New Roman"/>
                <a:ea typeface="Times New Roman"/>
                <a:cs typeface="Times New Roman"/>
                <a:sym typeface="Times New Roman"/>
              </a:rPr>
              <a:t>/</a:t>
            </a:r>
            <a:r>
              <a:rPr lang="en-US" sz="2000" dirty="0">
                <a:latin typeface="Times New Roman"/>
                <a:ea typeface="Times New Roman"/>
                <a:cs typeface="Times New Roman"/>
                <a:sym typeface="Times New Roman"/>
              </a:rPr>
              <a:t>24 → </a:t>
            </a:r>
            <a:r>
              <a:rPr lang="en-US" sz="2000" dirty="0" smtClean="0">
                <a:latin typeface="Times New Roman"/>
                <a:ea typeface="Times New Roman"/>
                <a:cs typeface="Times New Roman"/>
                <a:sym typeface="Times New Roman"/>
              </a:rPr>
              <a:t>small</a:t>
            </a:r>
          </a:p>
          <a:p>
            <a:pPr marL="488950" lvl="0" indent="-342900">
              <a:buClr>
                <a:srgbClr val="CC9A00"/>
              </a:buClr>
              <a:buSzPts val="1300"/>
              <a:buFont typeface="Arial" panose="020B0604020202020204" pitchFamily="34" charset="0"/>
              <a:buChar char="•"/>
            </a:pPr>
            <a:r>
              <a:rPr lang="en-US" sz="2000" dirty="0" smtClean="0">
                <a:latin typeface="Times New Roman"/>
                <a:ea typeface="Times New Roman"/>
                <a:cs typeface="Times New Roman"/>
                <a:sym typeface="Times New Roman"/>
              </a:rPr>
              <a:t>/</a:t>
            </a:r>
            <a:r>
              <a:rPr lang="en-US" sz="2000" dirty="0">
                <a:latin typeface="Times New Roman"/>
                <a:ea typeface="Times New Roman"/>
                <a:cs typeface="Times New Roman"/>
                <a:sym typeface="Times New Roman"/>
              </a:rPr>
              <a:t>30 → very small</a:t>
            </a:r>
          </a:p>
          <a:p>
            <a:pPr marL="488950" lvl="0" indent="-342900">
              <a:buClr>
                <a:srgbClr val="CC9A00"/>
              </a:buClr>
              <a:buSzPts val="1300"/>
              <a:buFont typeface="Wingdings" panose="05000000000000000000" pitchFamily="2" charset="2"/>
              <a:buChar char="q"/>
            </a:pPr>
            <a:endParaRPr lang="en-US" sz="2000" dirty="0" smtClean="0">
              <a:latin typeface="Times New Roman"/>
              <a:ea typeface="Times New Roman"/>
              <a:cs typeface="Times New Roman"/>
              <a:sym typeface="Times New Roman"/>
            </a:endParaRPr>
          </a:p>
          <a:p>
            <a:pPr marL="146050" lvl="0">
              <a:buClr>
                <a:srgbClr val="CC9A00"/>
              </a:buClr>
              <a:buSzPts val="1300"/>
            </a:pP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endParaRPr lang="en-US" sz="2000" baseline="30000" dirty="0">
              <a:latin typeface="Times New Roman"/>
              <a:ea typeface="Times New Roman"/>
              <a:cs typeface="Times New Roman"/>
              <a:sym typeface="Times New Roman"/>
            </a:endParaRPr>
          </a:p>
          <a:p>
            <a:pPr marL="146050" lvl="0">
              <a:buClr>
                <a:srgbClr val="CC9A00"/>
              </a:buClr>
              <a:buSzPts val="1300"/>
            </a:pPr>
            <a:r>
              <a:rPr lang="en-US" sz="2000" baseline="30000" dirty="0" smtClean="0">
                <a:latin typeface="Times New Roman"/>
                <a:ea typeface="Times New Roman"/>
                <a:cs typeface="Times New Roman"/>
                <a:sym typeface="Times New Roman"/>
              </a:rPr>
              <a:t> </a:t>
            </a:r>
            <a:endParaRPr lang="en-US" sz="2000" baseline="30000" dirty="0">
              <a:latin typeface="Times New Roman"/>
              <a:ea typeface="Times New Roman"/>
              <a:cs typeface="Times New Roman"/>
              <a:sym typeface="Times New Roman"/>
            </a:endParaRP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39</a:t>
            </a:fld>
            <a:endParaRPr/>
          </a:p>
        </p:txBody>
      </p:sp>
      <p:sp>
        <p:nvSpPr>
          <p:cNvPr id="2" name="AutoShape 2" descr="Network Switches | Juniper Networks U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496203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1213344" y="2971800"/>
            <a:ext cx="7812461" cy="936154"/>
          </a:xfrm>
          <a:prstGeom prst="rect">
            <a:avLst/>
          </a:prstGeom>
          <a:noFill/>
          <a:ln>
            <a:noFill/>
          </a:ln>
        </p:spPr>
        <p:txBody>
          <a:bodyPr spcFirstLastPara="1" wrap="square" lIns="0" tIns="12700" rIns="0" bIns="0" anchor="t" anchorCtr="0">
            <a:spAutoFit/>
          </a:bodyPr>
          <a:lstStyle/>
          <a:p>
            <a:pPr lvl="0" algn="ctr"/>
            <a:r>
              <a:rPr lang="en-US" sz="6000" dirty="0" smtClean="0"/>
              <a:t>5. </a:t>
            </a:r>
            <a:r>
              <a:rPr lang="en-US" sz="6000" dirty="0" err="1" smtClean="0"/>
              <a:t>Subnetting</a:t>
            </a: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40</a:t>
            </a:fld>
            <a:endParaRP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5724057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smtClean="0"/>
              <a:t>Problem:</a:t>
            </a:r>
            <a:endParaRPr lang="en-US" dirty="0"/>
          </a:p>
        </p:txBody>
      </p:sp>
      <p:sp>
        <p:nvSpPr>
          <p:cNvPr id="56" name="Google Shape;56;p8"/>
          <p:cNvSpPr txBox="1"/>
          <p:nvPr/>
        </p:nvSpPr>
        <p:spPr>
          <a:xfrm>
            <a:off x="883805" y="1864906"/>
            <a:ext cx="8142000" cy="406506"/>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Organizations have multiple networks which are independently managed.</a:t>
            </a:r>
            <a:endParaRPr lang="en-US" sz="2000" dirty="0">
              <a:latin typeface="Times New Roman"/>
              <a:ea typeface="Times New Roman"/>
              <a:cs typeface="Times New Roman"/>
              <a:sym typeface="Times New Roman"/>
            </a:endParaRP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41</a:t>
            </a:fld>
            <a:endParaRPr/>
          </a:p>
        </p:txBody>
      </p:sp>
      <p:sp>
        <p:nvSpPr>
          <p:cNvPr id="2" name="AutoShape 2" descr="Network Switches | Juniper Networks U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 name="Picture 2"/>
          <p:cNvPicPr>
            <a:picLocks noChangeAspect="1"/>
          </p:cNvPicPr>
          <p:nvPr/>
        </p:nvPicPr>
        <p:blipFill>
          <a:blip r:embed="rId3"/>
          <a:stretch>
            <a:fillRect/>
          </a:stretch>
        </p:blipFill>
        <p:spPr>
          <a:xfrm>
            <a:off x="2648169" y="2746055"/>
            <a:ext cx="4896533" cy="3248478"/>
          </a:xfrm>
          <a:prstGeom prst="rect">
            <a:avLst/>
          </a:prstGeom>
        </p:spPr>
      </p:pic>
    </p:spTree>
    <p:extLst>
      <p:ext uri="{BB962C8B-B14F-4D97-AF65-F5344CB8AC3E}">
        <p14:creationId xmlns:p14="http://schemas.microsoft.com/office/powerpoint/2010/main" val="887559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smtClean="0"/>
              <a:t>Solution 1:</a:t>
            </a:r>
            <a:endParaRPr lang="en-US" dirty="0"/>
          </a:p>
        </p:txBody>
      </p:sp>
      <p:sp>
        <p:nvSpPr>
          <p:cNvPr id="56" name="Google Shape;56;p8"/>
          <p:cNvSpPr txBox="1"/>
          <p:nvPr/>
        </p:nvSpPr>
        <p:spPr>
          <a:xfrm>
            <a:off x="883805" y="1864906"/>
            <a:ext cx="8142000" cy="2868719"/>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Allocate a separate network address for each network.</a:t>
            </a:r>
          </a:p>
          <a:p>
            <a:pPr marL="457200" lvl="0" indent="-311150">
              <a:buClr>
                <a:srgbClr val="CC9A00"/>
              </a:buClr>
              <a:buSzPts val="1300"/>
              <a:buFont typeface="Noto Sans Symbols"/>
              <a:buChar char="❑"/>
            </a:pPr>
            <a:endParaRPr lang="en-US" sz="2000" dirty="0">
              <a:latin typeface="Times New Roman"/>
              <a:ea typeface="Times New Roman"/>
              <a:cs typeface="Times New Roman"/>
              <a:sym typeface="Times New Roman"/>
            </a:endParaRPr>
          </a:p>
          <a:p>
            <a:pPr marL="146050" lvl="0">
              <a:buClr>
                <a:srgbClr val="CC9A00"/>
              </a:buClr>
              <a:buSzPts val="1300"/>
            </a:pPr>
            <a:r>
              <a:rPr lang="en-US" sz="2000" dirty="0" smtClean="0">
                <a:latin typeface="Times New Roman"/>
                <a:ea typeface="Times New Roman"/>
                <a:cs typeface="Times New Roman"/>
                <a:sym typeface="Times New Roman"/>
              </a:rPr>
              <a:t>Problems:</a:t>
            </a:r>
          </a:p>
          <a:p>
            <a:pPr marL="146050" lvl="0">
              <a:buClr>
                <a:srgbClr val="CC9A00"/>
              </a:buClr>
              <a:buSzPts val="1300"/>
            </a:pPr>
            <a:endParaRPr lang="en-US" sz="2000" dirty="0" smtClean="0">
              <a:latin typeface="Times New Roman"/>
              <a:ea typeface="Times New Roman"/>
              <a:cs typeface="Times New Roman"/>
              <a:sym typeface="Times New Roman"/>
            </a:endParaRPr>
          </a:p>
          <a:p>
            <a:pPr marL="488950" lvl="0" indent="-342900">
              <a:buClr>
                <a:srgbClr val="CC9A00"/>
              </a:buClr>
              <a:buSzPts val="1300"/>
              <a:buFont typeface="Arial" panose="020B0604020202020204" pitchFamily="34" charset="0"/>
              <a:buChar char="•"/>
            </a:pPr>
            <a:r>
              <a:rPr lang="en-US" sz="2000" dirty="0" smtClean="0">
                <a:latin typeface="Times New Roman"/>
                <a:ea typeface="Times New Roman"/>
                <a:cs typeface="Times New Roman"/>
                <a:sym typeface="Times New Roman"/>
              </a:rPr>
              <a:t>Difficult Network Management</a:t>
            </a:r>
          </a:p>
          <a:p>
            <a:pPr marL="488950" lvl="0" indent="-342900">
              <a:buClr>
                <a:srgbClr val="CC9A00"/>
              </a:buClr>
              <a:buSzPts val="1300"/>
              <a:buFont typeface="Arial" panose="020B0604020202020204" pitchFamily="34" charset="0"/>
              <a:buChar char="•"/>
            </a:pPr>
            <a:r>
              <a:rPr lang="en-US" sz="2000" dirty="0" smtClean="0">
                <a:latin typeface="Times New Roman"/>
                <a:ea typeface="Times New Roman"/>
                <a:cs typeface="Times New Roman"/>
                <a:sym typeface="Times New Roman"/>
              </a:rPr>
              <a:t>Address Wastage</a:t>
            </a:r>
          </a:p>
          <a:p>
            <a:pPr marL="488950" lvl="0" indent="-342900">
              <a:buClr>
                <a:srgbClr val="CC9A00"/>
              </a:buClr>
              <a:buSzPts val="1300"/>
              <a:buFont typeface="Arial" panose="020B0604020202020204" pitchFamily="34" charset="0"/>
              <a:buChar char="•"/>
            </a:pPr>
            <a:r>
              <a:rPr lang="en-US" sz="2000" dirty="0" smtClean="0">
                <a:latin typeface="Times New Roman"/>
                <a:ea typeface="Times New Roman"/>
                <a:cs typeface="Times New Roman"/>
                <a:sym typeface="Times New Roman"/>
              </a:rPr>
              <a:t>Large Broadcast Domain</a:t>
            </a:r>
          </a:p>
          <a:p>
            <a:pPr marL="488950" lvl="0" indent="-342900">
              <a:buClr>
                <a:srgbClr val="CC9A00"/>
              </a:buClr>
              <a:buSzPts val="1300"/>
              <a:buFont typeface="Arial" panose="020B0604020202020204" pitchFamily="34" charset="0"/>
              <a:buChar char="•"/>
            </a:pPr>
            <a:r>
              <a:rPr lang="en-US" sz="2000" dirty="0" smtClean="0">
                <a:latin typeface="Times New Roman"/>
                <a:ea typeface="Times New Roman"/>
                <a:cs typeface="Times New Roman"/>
                <a:sym typeface="Times New Roman"/>
              </a:rPr>
              <a:t>Lack of Security</a:t>
            </a:r>
            <a:endParaRPr lang="en-US" sz="2000" dirty="0">
              <a:latin typeface="Times New Roman"/>
              <a:ea typeface="Times New Roman"/>
              <a:cs typeface="Times New Roman"/>
              <a:sym typeface="Times New Roman"/>
            </a:endParaRPr>
          </a:p>
          <a:p>
            <a:pPr marL="146050" lvl="0">
              <a:buClr>
                <a:srgbClr val="CC9A00"/>
              </a:buClr>
              <a:buSzPts val="1300"/>
            </a:pPr>
            <a:endParaRPr lang="en-US" sz="2000" dirty="0">
              <a:latin typeface="Times New Roman"/>
              <a:ea typeface="Times New Roman"/>
              <a:cs typeface="Times New Roman"/>
              <a:sym typeface="Times New Roman"/>
            </a:endParaRP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42</a:t>
            </a:fld>
            <a:endParaRPr/>
          </a:p>
        </p:txBody>
      </p:sp>
      <p:sp>
        <p:nvSpPr>
          <p:cNvPr id="2" name="AutoShape 2" descr="Network Switches | Juniper Networks U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898637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smtClean="0"/>
              <a:t>Solution 2:</a:t>
            </a:r>
            <a:endParaRPr lang="en-US" dirty="0"/>
          </a:p>
        </p:txBody>
      </p:sp>
      <p:sp>
        <p:nvSpPr>
          <p:cNvPr id="56" name="Google Shape;56;p8"/>
          <p:cNvSpPr txBox="1"/>
          <p:nvPr/>
        </p:nvSpPr>
        <p:spPr>
          <a:xfrm>
            <a:off x="883805" y="1864906"/>
            <a:ext cx="8142000" cy="714283"/>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err="1" smtClean="0">
                <a:latin typeface="Times New Roman"/>
                <a:ea typeface="Times New Roman"/>
                <a:cs typeface="Times New Roman"/>
                <a:sym typeface="Times New Roman"/>
              </a:rPr>
              <a:t>Subnetting</a:t>
            </a:r>
            <a:r>
              <a:rPr lang="en-US" sz="2000" dirty="0" smtClean="0">
                <a:latin typeface="Times New Roman"/>
                <a:ea typeface="Times New Roman"/>
                <a:cs typeface="Times New Roman"/>
                <a:sym typeface="Times New Roman"/>
              </a:rPr>
              <a:t> (Add another level of hierarchy to the IP addressing structure)</a:t>
            </a:r>
            <a:endParaRPr lang="en-US" sz="2000" dirty="0">
              <a:latin typeface="Times New Roman"/>
              <a:ea typeface="Times New Roman"/>
              <a:cs typeface="Times New Roman"/>
              <a:sym typeface="Times New Roman"/>
            </a:endParaRPr>
          </a:p>
          <a:p>
            <a:pPr marL="146050" lvl="0">
              <a:buClr>
                <a:srgbClr val="CC9A00"/>
              </a:buClr>
              <a:buSzPts val="1300"/>
            </a:pPr>
            <a:endParaRPr lang="en-US" sz="2000" dirty="0">
              <a:latin typeface="Times New Roman"/>
              <a:ea typeface="Times New Roman"/>
              <a:cs typeface="Times New Roman"/>
              <a:sym typeface="Times New Roman"/>
            </a:endParaRP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43</a:t>
            </a:fld>
            <a:endParaRPr/>
          </a:p>
        </p:txBody>
      </p:sp>
      <p:sp>
        <p:nvSpPr>
          <p:cNvPr id="2" name="AutoShape 2" descr="Network Switches | Juniper Networks U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 name="Picture 2"/>
          <p:cNvPicPr>
            <a:picLocks noChangeAspect="1"/>
          </p:cNvPicPr>
          <p:nvPr/>
        </p:nvPicPr>
        <p:blipFill>
          <a:blip r:embed="rId3"/>
          <a:stretch>
            <a:fillRect/>
          </a:stretch>
        </p:blipFill>
        <p:spPr>
          <a:xfrm>
            <a:off x="819419" y="2825518"/>
            <a:ext cx="8316486" cy="3267531"/>
          </a:xfrm>
          <a:prstGeom prst="rect">
            <a:avLst/>
          </a:prstGeom>
        </p:spPr>
      </p:pic>
    </p:spTree>
    <p:extLst>
      <p:ext uri="{BB962C8B-B14F-4D97-AF65-F5344CB8AC3E}">
        <p14:creationId xmlns:p14="http://schemas.microsoft.com/office/powerpoint/2010/main" val="1847287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smtClean="0"/>
              <a:t>Idea of </a:t>
            </a:r>
            <a:r>
              <a:rPr lang="en-US" dirty="0" err="1" smtClean="0"/>
              <a:t>Subnetting</a:t>
            </a:r>
            <a:r>
              <a:rPr lang="en-US" dirty="0" smtClean="0"/>
              <a:t>:</a:t>
            </a:r>
            <a:endParaRPr lang="en-US" dirty="0"/>
          </a:p>
        </p:txBody>
      </p:sp>
      <p:sp>
        <p:nvSpPr>
          <p:cNvPr id="56" name="Google Shape;56;p8"/>
          <p:cNvSpPr txBox="1"/>
          <p:nvPr/>
        </p:nvSpPr>
        <p:spPr>
          <a:xfrm>
            <a:off x="883805" y="1864906"/>
            <a:ext cx="8142000" cy="1945389"/>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Split the host number portion of an IP address into a subnet number and a smaller host number.</a:t>
            </a:r>
          </a:p>
          <a:p>
            <a:pPr marL="146050" lvl="0">
              <a:buClr>
                <a:srgbClr val="CC9A00"/>
              </a:buClr>
              <a:buSzPts val="1300"/>
            </a:pP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This results in 3-layer hierarchy.</a:t>
            </a:r>
          </a:p>
          <a:p>
            <a:pPr marL="457200" lvl="0" indent="-311150">
              <a:buClr>
                <a:srgbClr val="CC9A00"/>
              </a:buClr>
              <a:buSzPts val="1300"/>
              <a:buFont typeface="Noto Sans Symbols"/>
              <a:buChar char="❑"/>
            </a:pPr>
            <a:endParaRPr lang="en-US" sz="2000" dirty="0">
              <a:latin typeface="Times New Roman"/>
              <a:ea typeface="Times New Roman"/>
              <a:cs typeface="Times New Roman"/>
              <a:sym typeface="Times New Roman"/>
            </a:endParaRPr>
          </a:p>
          <a:p>
            <a:pPr marL="146050" lvl="0">
              <a:buClr>
                <a:srgbClr val="CC9A00"/>
              </a:buClr>
              <a:buSzPts val="1300"/>
            </a:pPr>
            <a:endParaRPr lang="en-US" sz="2000" dirty="0" smtClean="0">
              <a:latin typeface="Times New Roman"/>
              <a:ea typeface="Times New Roman"/>
              <a:cs typeface="Times New Roman"/>
              <a:sym typeface="Times New Roman"/>
            </a:endParaRP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44</a:t>
            </a:fld>
            <a:endParaRPr/>
          </a:p>
        </p:txBody>
      </p:sp>
      <p:sp>
        <p:nvSpPr>
          <p:cNvPr id="2" name="AutoShape 2" descr="Network Switches | Juniper Networks U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 name="Picture 2"/>
          <p:cNvPicPr>
            <a:picLocks noChangeAspect="1"/>
          </p:cNvPicPr>
          <p:nvPr/>
        </p:nvPicPr>
        <p:blipFill>
          <a:blip r:embed="rId3"/>
          <a:stretch>
            <a:fillRect/>
          </a:stretch>
        </p:blipFill>
        <p:spPr>
          <a:xfrm>
            <a:off x="1294641" y="3578994"/>
            <a:ext cx="7621064" cy="2362530"/>
          </a:xfrm>
          <a:prstGeom prst="rect">
            <a:avLst/>
          </a:prstGeom>
        </p:spPr>
      </p:pic>
    </p:spTree>
    <p:extLst>
      <p:ext uri="{BB962C8B-B14F-4D97-AF65-F5344CB8AC3E}">
        <p14:creationId xmlns:p14="http://schemas.microsoft.com/office/powerpoint/2010/main" val="4060129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6" name="Google Shape;56;p8"/>
          <p:cNvSpPr txBox="1"/>
          <p:nvPr/>
        </p:nvSpPr>
        <p:spPr>
          <a:xfrm>
            <a:off x="993905" y="1058083"/>
            <a:ext cx="8142000" cy="2253166"/>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Then subnets can be freely assigned within the organization.</a:t>
            </a:r>
          </a:p>
          <a:p>
            <a:pPr marL="457200" lvl="0" indent="-311150">
              <a:buClr>
                <a:srgbClr val="CC9A00"/>
              </a:buClr>
              <a:buSzPts val="1300"/>
              <a:buFont typeface="Noto Sans Symbols"/>
              <a:buChar char="❑"/>
            </a:pP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Internally, subnets are treated as separate networks.</a:t>
            </a:r>
          </a:p>
          <a:p>
            <a:pPr marL="146050" lvl="0">
              <a:buClr>
                <a:srgbClr val="CC9A00"/>
              </a:buClr>
              <a:buSzPts val="1300"/>
            </a:pP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Subnet structure is not visible outside the organization.</a:t>
            </a:r>
          </a:p>
          <a:p>
            <a:pPr marL="457200" lvl="0" indent="-311150">
              <a:buClr>
                <a:srgbClr val="CC9A00"/>
              </a:buClr>
              <a:buSzPts val="1300"/>
              <a:buFont typeface="Noto Sans Symbols"/>
              <a:buChar char="❑"/>
            </a:pPr>
            <a:endParaRPr lang="en-US" sz="2000" dirty="0">
              <a:latin typeface="Times New Roman"/>
              <a:ea typeface="Times New Roman"/>
              <a:cs typeface="Times New Roman"/>
              <a:sym typeface="Times New Roman"/>
            </a:endParaRPr>
          </a:p>
          <a:p>
            <a:pPr marL="146050" lvl="0">
              <a:buClr>
                <a:srgbClr val="CC9A00"/>
              </a:buClr>
              <a:buSzPts val="1300"/>
            </a:pPr>
            <a:endParaRPr lang="en-US" sz="2000" dirty="0" smtClean="0">
              <a:latin typeface="Times New Roman"/>
              <a:ea typeface="Times New Roman"/>
              <a:cs typeface="Times New Roman"/>
              <a:sym typeface="Times New Roman"/>
            </a:endParaRP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45</a:t>
            </a:fld>
            <a:endParaRPr/>
          </a:p>
        </p:txBody>
      </p:sp>
      <p:sp>
        <p:nvSpPr>
          <p:cNvPr id="2" name="AutoShape 2" descr="Network Switches | Juniper Networks U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86326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Question</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46</a:t>
            </a:fld>
            <a:endParaRPr/>
          </a:p>
        </p:txBody>
      </p:sp>
      <p:sp>
        <p:nvSpPr>
          <p:cNvPr id="4" name="Google Shape;56;p8"/>
          <p:cNvSpPr txBox="1"/>
          <p:nvPr/>
        </p:nvSpPr>
        <p:spPr>
          <a:xfrm>
            <a:off x="993900" y="1833375"/>
            <a:ext cx="8142000" cy="1329836"/>
          </a:xfrm>
          <a:prstGeom prst="rect">
            <a:avLst/>
          </a:prstGeom>
          <a:noFill/>
          <a:ln>
            <a:noFill/>
          </a:ln>
        </p:spPr>
        <p:txBody>
          <a:bodyPr spcFirstLastPara="1" wrap="square" lIns="0" tIns="97775" rIns="0" bIns="0" anchor="t" anchorCtr="0">
            <a:spAutoFit/>
          </a:bodyPr>
          <a:lstStyle/>
          <a:p>
            <a:pPr marL="146050">
              <a:buClr>
                <a:srgbClr val="CC9A00"/>
              </a:buClr>
              <a:buSzPts val="1300"/>
            </a:pPr>
            <a:r>
              <a:rPr lang="en-US" sz="2000" dirty="0">
                <a:latin typeface="Times New Roman"/>
                <a:ea typeface="Times New Roman"/>
                <a:cs typeface="Times New Roman"/>
                <a:sym typeface="Times New Roman"/>
              </a:rPr>
              <a:t>A network has IP address 192.168.1.0/24</a:t>
            </a:r>
            <a:r>
              <a:rPr lang="en-US" sz="2000" dirty="0" smtClean="0">
                <a:latin typeface="Times New Roman"/>
                <a:ea typeface="Times New Roman"/>
                <a:cs typeface="Times New Roman"/>
                <a:sym typeface="Times New Roman"/>
              </a:rPr>
              <a:t>.</a:t>
            </a:r>
          </a:p>
          <a:p>
            <a:pPr marL="146050">
              <a:buClr>
                <a:srgbClr val="CC9A00"/>
              </a:buClr>
              <a:buSzPts val="1300"/>
            </a:pPr>
            <a:r>
              <a:rPr lang="en-US" sz="2000" dirty="0" smtClean="0">
                <a:latin typeface="Times New Roman"/>
                <a:ea typeface="Times New Roman"/>
                <a:cs typeface="Times New Roman"/>
                <a:sym typeface="Times New Roman"/>
              </a:rPr>
              <a:t>How </a:t>
            </a:r>
            <a:r>
              <a:rPr lang="en-US" sz="2000" dirty="0">
                <a:latin typeface="Times New Roman"/>
                <a:ea typeface="Times New Roman"/>
                <a:cs typeface="Times New Roman"/>
                <a:sym typeface="Times New Roman"/>
              </a:rPr>
              <a:t>many</a:t>
            </a:r>
            <a:r>
              <a:rPr lang="en-US" sz="2000" dirty="0" smtClean="0">
                <a:latin typeface="Times New Roman"/>
                <a:ea typeface="Times New Roman"/>
                <a:cs typeface="Times New Roman"/>
                <a:sym typeface="Times New Roman"/>
              </a:rPr>
              <a:t>:</a:t>
            </a:r>
          </a:p>
          <a:p>
            <a:pPr marL="603250" indent="-457200">
              <a:buClr>
                <a:srgbClr val="CC9A00"/>
              </a:buClr>
              <a:buSzPts val="1300"/>
              <a:buFont typeface="+mj-lt"/>
              <a:buAutoNum type="arabicPeriod"/>
            </a:pPr>
            <a:r>
              <a:rPr lang="en-US" sz="2000" dirty="0" smtClean="0">
                <a:latin typeface="Times New Roman"/>
                <a:ea typeface="Times New Roman"/>
                <a:cs typeface="Times New Roman"/>
                <a:sym typeface="Times New Roman"/>
              </a:rPr>
              <a:t>Subnets </a:t>
            </a:r>
            <a:r>
              <a:rPr lang="en-US" sz="2000" dirty="0">
                <a:latin typeface="Times New Roman"/>
                <a:ea typeface="Times New Roman"/>
                <a:cs typeface="Times New Roman"/>
                <a:sym typeface="Times New Roman"/>
              </a:rPr>
              <a:t>can be created if subnet mask is changed to /26</a:t>
            </a:r>
            <a:r>
              <a:rPr lang="en-US" sz="2000" dirty="0" smtClean="0">
                <a:latin typeface="Times New Roman"/>
                <a:ea typeface="Times New Roman"/>
                <a:cs typeface="Times New Roman"/>
                <a:sym typeface="Times New Roman"/>
              </a:rPr>
              <a:t>?</a:t>
            </a:r>
          </a:p>
          <a:p>
            <a:pPr marL="603250" indent="-457200">
              <a:buClr>
                <a:srgbClr val="CC9A00"/>
              </a:buClr>
              <a:buSzPts val="1300"/>
              <a:buFont typeface="+mj-lt"/>
              <a:buAutoNum type="arabicPeriod"/>
            </a:pPr>
            <a:r>
              <a:rPr lang="en-US" sz="2000" dirty="0" smtClean="0">
                <a:latin typeface="Times New Roman"/>
                <a:ea typeface="Times New Roman"/>
                <a:cs typeface="Times New Roman"/>
                <a:sym typeface="Times New Roman"/>
              </a:rPr>
              <a:t>Usable </a:t>
            </a:r>
            <a:r>
              <a:rPr lang="en-US" sz="2000" dirty="0">
                <a:latin typeface="Times New Roman"/>
                <a:ea typeface="Times New Roman"/>
                <a:cs typeface="Times New Roman"/>
                <a:sym typeface="Times New Roman"/>
              </a:rPr>
              <a:t>hosts per subnet?</a:t>
            </a:r>
            <a:endParaRPr lang="en-US" sz="2000" dirty="0">
              <a:latin typeface="Times New Roman"/>
              <a:ea typeface="Times New Roman"/>
              <a:cs typeface="Times New Roman"/>
              <a:sym typeface="Times New Roman"/>
            </a:endParaRP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16262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Answer</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47</a:t>
            </a:fld>
            <a:endParaRPr/>
          </a:p>
        </p:txBody>
      </p:sp>
      <p:sp>
        <p:nvSpPr>
          <p:cNvPr id="4" name="Google Shape;56;p8"/>
          <p:cNvSpPr txBox="1"/>
          <p:nvPr/>
        </p:nvSpPr>
        <p:spPr>
          <a:xfrm>
            <a:off x="993900" y="1833375"/>
            <a:ext cx="8142000" cy="1842797"/>
          </a:xfrm>
          <a:prstGeom prst="rect">
            <a:avLst/>
          </a:prstGeom>
          <a:noFill/>
          <a:ln>
            <a:noFill/>
          </a:ln>
        </p:spPr>
        <p:txBody>
          <a:bodyPr spcFirstLastPara="1" wrap="square" lIns="0" tIns="97775" rIns="0" bIns="0" anchor="t" anchorCtr="0">
            <a:spAutoFit/>
          </a:bodyPr>
          <a:lstStyle/>
          <a:p>
            <a:pPr marL="603250" indent="-457200">
              <a:buClr>
                <a:srgbClr val="CC9A00"/>
              </a:buClr>
              <a:buSzPts val="1300"/>
              <a:buFont typeface="+mj-lt"/>
              <a:buAutoNum type="arabicPeriod"/>
            </a:pPr>
            <a:r>
              <a:rPr lang="en-US" sz="2000" dirty="0" smtClean="0">
                <a:latin typeface="Times New Roman"/>
                <a:ea typeface="Times New Roman"/>
                <a:cs typeface="Times New Roman"/>
                <a:sym typeface="Times New Roman"/>
              </a:rPr>
              <a:t>Borrowed bits = 26 – 24 = 2 bits</a:t>
            </a:r>
            <a:endParaRPr lang="en-US" sz="2000" dirty="0">
              <a:latin typeface="Times New Roman"/>
              <a:ea typeface="Times New Roman"/>
              <a:cs typeface="Times New Roman"/>
              <a:sym typeface="Times New Roman"/>
            </a:endParaRPr>
          </a:p>
          <a:p>
            <a:pPr marL="146050">
              <a:buClr>
                <a:srgbClr val="CC9A00"/>
              </a:buClr>
              <a:buSzPts val="1300"/>
            </a:pPr>
            <a:r>
              <a:rPr lang="en-US" sz="2000" dirty="0">
                <a:latin typeface="Times New Roman"/>
                <a:ea typeface="Times New Roman"/>
                <a:cs typeface="Times New Roman"/>
                <a:sym typeface="Times New Roman"/>
              </a:rPr>
              <a:t> </a:t>
            </a:r>
            <a:r>
              <a:rPr lang="en-US" sz="2000" dirty="0" smtClean="0">
                <a:latin typeface="Times New Roman"/>
                <a:ea typeface="Times New Roman"/>
                <a:cs typeface="Times New Roman"/>
                <a:sym typeface="Times New Roman"/>
              </a:rPr>
              <a:t>      Number of subnets = 2</a:t>
            </a:r>
            <a:r>
              <a:rPr lang="en-US" sz="2000" baseline="30000" dirty="0" smtClean="0">
                <a:latin typeface="Times New Roman"/>
                <a:ea typeface="Times New Roman"/>
                <a:cs typeface="Times New Roman"/>
                <a:sym typeface="Times New Roman"/>
              </a:rPr>
              <a:t>2 </a:t>
            </a:r>
            <a:r>
              <a:rPr lang="en-US" sz="2000" dirty="0" smtClean="0">
                <a:latin typeface="Times New Roman"/>
                <a:ea typeface="Times New Roman"/>
                <a:cs typeface="Times New Roman"/>
                <a:sym typeface="Times New Roman"/>
              </a:rPr>
              <a:t> = 4 subnets</a:t>
            </a:r>
          </a:p>
          <a:p>
            <a:pPr marL="146050">
              <a:buClr>
                <a:srgbClr val="CC9A00"/>
              </a:buClr>
              <a:buSzPts val="1300"/>
            </a:pPr>
            <a:endParaRPr lang="en-US" sz="2000" baseline="30000" dirty="0" smtClean="0">
              <a:latin typeface="Times New Roman"/>
              <a:ea typeface="Times New Roman"/>
              <a:cs typeface="Times New Roman"/>
              <a:sym typeface="Times New Roman"/>
            </a:endParaRPr>
          </a:p>
          <a:p>
            <a:pPr marL="603250" indent="-457200">
              <a:buClr>
                <a:srgbClr val="CC9A00"/>
              </a:buClr>
              <a:buSzPts val="1300"/>
              <a:buAutoNum type="arabicPeriod" startAt="2"/>
            </a:pPr>
            <a:r>
              <a:rPr lang="en-US" sz="2000" dirty="0" smtClean="0">
                <a:latin typeface="Times New Roman"/>
                <a:ea typeface="Times New Roman"/>
                <a:cs typeface="Times New Roman"/>
                <a:sym typeface="Times New Roman"/>
              </a:rPr>
              <a:t>Host bits = 32 – 26 = 6 bits</a:t>
            </a:r>
          </a:p>
          <a:p>
            <a:pPr marL="146050">
              <a:buClr>
                <a:srgbClr val="CC9A00"/>
              </a:buClr>
              <a:buSzPts val="1300"/>
            </a:pPr>
            <a:r>
              <a:rPr lang="en-US" sz="2000" dirty="0" smtClean="0">
                <a:latin typeface="Times New Roman"/>
                <a:ea typeface="Times New Roman"/>
                <a:cs typeface="Times New Roman"/>
                <a:sym typeface="Times New Roman"/>
              </a:rPr>
              <a:t>       2</a:t>
            </a:r>
            <a:r>
              <a:rPr lang="en-US" sz="2000" baseline="30000" dirty="0" smtClean="0">
                <a:latin typeface="Times New Roman"/>
                <a:ea typeface="Times New Roman"/>
                <a:cs typeface="Times New Roman"/>
                <a:sym typeface="Times New Roman"/>
              </a:rPr>
              <a:t>6 </a:t>
            </a:r>
            <a:r>
              <a:rPr lang="en-US" sz="2000" dirty="0" smtClean="0">
                <a:latin typeface="Times New Roman"/>
                <a:ea typeface="Times New Roman"/>
                <a:cs typeface="Times New Roman"/>
                <a:sym typeface="Times New Roman"/>
              </a:rPr>
              <a:t> = 64 total addresses</a:t>
            </a:r>
          </a:p>
          <a:p>
            <a:pPr marL="146050">
              <a:buClr>
                <a:srgbClr val="CC9A00"/>
              </a:buClr>
              <a:buSzPts val="1300"/>
            </a:pPr>
            <a:r>
              <a:rPr lang="en-US" sz="2000" dirty="0">
                <a:latin typeface="Times New Roman"/>
                <a:ea typeface="Times New Roman"/>
                <a:cs typeface="Times New Roman"/>
                <a:sym typeface="Times New Roman"/>
              </a:rPr>
              <a:t> </a:t>
            </a:r>
            <a:r>
              <a:rPr lang="en-US" sz="2000" dirty="0" smtClean="0">
                <a:latin typeface="Times New Roman"/>
                <a:ea typeface="Times New Roman"/>
                <a:cs typeface="Times New Roman"/>
                <a:sym typeface="Times New Roman"/>
              </a:rPr>
              <a:t>      Usable hosts = 64 – 2 = 62 (1 for network + 1 for broadcast)</a:t>
            </a:r>
            <a:endParaRPr lang="en-US" sz="2000" dirty="0">
              <a:latin typeface="Times New Roman"/>
              <a:ea typeface="Times New Roman"/>
              <a:cs typeface="Times New Roman"/>
              <a:sym typeface="Times New Roman"/>
            </a:endParaRP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76355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Question</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48</a:t>
            </a:fld>
            <a:endParaRPr/>
          </a:p>
        </p:txBody>
      </p:sp>
      <p:sp>
        <p:nvSpPr>
          <p:cNvPr id="4" name="Google Shape;56;p8"/>
          <p:cNvSpPr txBox="1"/>
          <p:nvPr/>
        </p:nvSpPr>
        <p:spPr>
          <a:xfrm>
            <a:off x="993900" y="1833375"/>
            <a:ext cx="8142000" cy="406506"/>
          </a:xfrm>
          <a:prstGeom prst="rect">
            <a:avLst/>
          </a:prstGeom>
          <a:noFill/>
          <a:ln>
            <a:noFill/>
          </a:ln>
        </p:spPr>
        <p:txBody>
          <a:bodyPr spcFirstLastPara="1" wrap="square" lIns="0" tIns="97775" rIns="0" bIns="0" anchor="t" anchorCtr="0">
            <a:spAutoFit/>
          </a:bodyPr>
          <a:lstStyle/>
          <a:p>
            <a:pPr marL="146050">
              <a:buClr>
                <a:srgbClr val="CC9A00"/>
              </a:buClr>
              <a:buSzPts val="1300"/>
            </a:pPr>
            <a:r>
              <a:rPr lang="en-US" sz="2000" dirty="0">
                <a:latin typeface="Times New Roman"/>
                <a:ea typeface="Times New Roman"/>
                <a:cs typeface="Times New Roman"/>
                <a:sym typeface="Times New Roman"/>
              </a:rPr>
              <a:t>Given 192.168.1.0/26, list all subnets.</a:t>
            </a:r>
            <a:endParaRPr lang="en-US" sz="2000" dirty="0">
              <a:latin typeface="Times New Roman"/>
              <a:ea typeface="Times New Roman"/>
              <a:cs typeface="Times New Roman"/>
              <a:sym typeface="Times New Roman"/>
            </a:endParaRP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65721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825648"/>
            <a:ext cx="8904300" cy="1797928"/>
          </a:xfrm>
          <a:prstGeom prst="rect">
            <a:avLst/>
          </a:prstGeom>
          <a:noFill/>
          <a:ln>
            <a:noFill/>
          </a:ln>
        </p:spPr>
        <p:txBody>
          <a:bodyPr spcFirstLastPara="1" wrap="square" lIns="0" tIns="12700" rIns="0" bIns="0" anchor="t" anchorCtr="0">
            <a:spAutoFit/>
          </a:bodyPr>
          <a:lstStyle/>
          <a:p>
            <a:r>
              <a:rPr lang="en-US" dirty="0" smtClean="0"/>
              <a:t>Answer</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49</a:t>
            </a:fld>
            <a:endParaRPr/>
          </a:p>
        </p:txBody>
      </p:sp>
      <p:sp>
        <p:nvSpPr>
          <p:cNvPr id="4" name="Google Shape;56;p8"/>
          <p:cNvSpPr txBox="1"/>
          <p:nvPr/>
        </p:nvSpPr>
        <p:spPr>
          <a:xfrm>
            <a:off x="993905" y="1598590"/>
            <a:ext cx="8142000" cy="5023155"/>
          </a:xfrm>
          <a:prstGeom prst="rect">
            <a:avLst/>
          </a:prstGeom>
          <a:noFill/>
          <a:ln>
            <a:noFill/>
          </a:ln>
        </p:spPr>
        <p:txBody>
          <a:bodyPr spcFirstLastPara="1" wrap="square" lIns="0" tIns="97775" rIns="0" bIns="0" anchor="t" anchorCtr="0">
            <a:spAutoFit/>
          </a:bodyPr>
          <a:lstStyle/>
          <a:p>
            <a:pPr marL="146050">
              <a:buClr>
                <a:srgbClr val="CC9A00"/>
              </a:buClr>
              <a:buSzPts val="1300"/>
            </a:pPr>
            <a:r>
              <a:rPr lang="en-US" sz="2000" dirty="0" smtClean="0">
                <a:latin typeface="Times New Roman"/>
                <a:ea typeface="Times New Roman"/>
                <a:cs typeface="Times New Roman"/>
                <a:sym typeface="Times New Roman"/>
              </a:rPr>
              <a:t>Given: IP</a:t>
            </a:r>
            <a:r>
              <a:rPr lang="en-US" sz="2000" dirty="0">
                <a:latin typeface="Times New Roman"/>
                <a:ea typeface="Times New Roman"/>
                <a:cs typeface="Times New Roman"/>
                <a:sym typeface="Times New Roman"/>
              </a:rPr>
              <a:t>: </a:t>
            </a:r>
            <a:r>
              <a:rPr lang="en-US" sz="2000" dirty="0" smtClean="0">
                <a:latin typeface="Times New Roman"/>
                <a:ea typeface="Times New Roman"/>
                <a:cs typeface="Times New Roman"/>
                <a:sym typeface="Times New Roman"/>
              </a:rPr>
              <a:t>192.168.1.0/26</a:t>
            </a:r>
          </a:p>
          <a:p>
            <a:pPr marL="146050">
              <a:buClr>
                <a:srgbClr val="CC9A00"/>
              </a:buClr>
              <a:buSzPts val="1300"/>
            </a:pPr>
            <a:endParaRPr lang="en-US" sz="2000" dirty="0">
              <a:latin typeface="Times New Roman"/>
              <a:ea typeface="Times New Roman"/>
              <a:cs typeface="Times New Roman"/>
              <a:sym typeface="Times New Roman"/>
            </a:endParaRPr>
          </a:p>
          <a:p>
            <a:pPr marL="146050">
              <a:buClr>
                <a:srgbClr val="CC9A00"/>
              </a:buClr>
              <a:buSzPts val="1300"/>
            </a:pPr>
            <a:r>
              <a:rPr lang="en-US" sz="2000" dirty="0" smtClean="0">
                <a:latin typeface="Times New Roman"/>
                <a:ea typeface="Times New Roman"/>
                <a:cs typeface="Times New Roman"/>
                <a:sym typeface="Times New Roman"/>
              </a:rPr>
              <a:t>/26 means: </a:t>
            </a:r>
          </a:p>
          <a:p>
            <a:pPr marL="146050">
              <a:buClr>
                <a:srgbClr val="CC9A00"/>
              </a:buClr>
              <a:buSzPts val="1300"/>
            </a:pPr>
            <a:r>
              <a:rPr lang="en-US" sz="2000" dirty="0">
                <a:latin typeface="Times New Roman"/>
                <a:ea typeface="Times New Roman"/>
                <a:cs typeface="Times New Roman"/>
                <a:sym typeface="Times New Roman"/>
              </a:rPr>
              <a:t>	</a:t>
            </a:r>
            <a:r>
              <a:rPr lang="en-US" sz="2000" dirty="0" smtClean="0">
                <a:latin typeface="Times New Roman"/>
                <a:ea typeface="Times New Roman"/>
                <a:cs typeface="Times New Roman"/>
                <a:sym typeface="Times New Roman"/>
              </a:rPr>
              <a:t>26bits = network</a:t>
            </a:r>
          </a:p>
          <a:p>
            <a:pPr marL="146050">
              <a:buClr>
                <a:srgbClr val="CC9A00"/>
              </a:buClr>
              <a:buSzPts val="1300"/>
            </a:pPr>
            <a:r>
              <a:rPr lang="en-US" sz="2000" dirty="0" smtClean="0">
                <a:latin typeface="Times New Roman"/>
                <a:ea typeface="Times New Roman"/>
                <a:cs typeface="Times New Roman"/>
                <a:sym typeface="Times New Roman"/>
              </a:rPr>
              <a:t>	Remaining = hosts</a:t>
            </a:r>
          </a:p>
          <a:p>
            <a:pPr marL="146050">
              <a:buClr>
                <a:srgbClr val="CC9A00"/>
              </a:buClr>
              <a:buSzPts val="1300"/>
            </a:pPr>
            <a:endParaRPr lang="en-US" sz="2000" dirty="0">
              <a:latin typeface="Times New Roman"/>
              <a:ea typeface="Times New Roman"/>
              <a:cs typeface="Times New Roman"/>
              <a:sym typeface="Times New Roman"/>
            </a:endParaRPr>
          </a:p>
          <a:p>
            <a:pPr marL="146050">
              <a:buClr>
                <a:srgbClr val="CC9A00"/>
              </a:buClr>
              <a:buSzPts val="1300"/>
            </a:pPr>
            <a:r>
              <a:rPr lang="en-US" sz="2000" dirty="0" smtClean="0">
                <a:latin typeface="Times New Roman"/>
                <a:ea typeface="Times New Roman"/>
                <a:cs typeface="Times New Roman"/>
                <a:sym typeface="Times New Roman"/>
              </a:rPr>
              <a:t>Subnet mask = 255.255.255.192</a:t>
            </a:r>
          </a:p>
          <a:p>
            <a:pPr marL="146050">
              <a:buClr>
                <a:srgbClr val="CC9A00"/>
              </a:buClr>
              <a:buSzPts val="1300"/>
            </a:pPr>
            <a:endParaRPr lang="en-US" sz="2000" dirty="0">
              <a:latin typeface="Times New Roman"/>
              <a:ea typeface="Times New Roman"/>
              <a:cs typeface="Times New Roman"/>
              <a:sym typeface="Times New Roman"/>
            </a:endParaRPr>
          </a:p>
          <a:p>
            <a:pPr marL="146050">
              <a:buClr>
                <a:srgbClr val="CC9A00"/>
              </a:buClr>
              <a:buSzPts val="1300"/>
            </a:pPr>
            <a:r>
              <a:rPr lang="en-US" sz="2000" dirty="0" smtClean="0">
                <a:latin typeface="Times New Roman"/>
                <a:ea typeface="Times New Roman"/>
                <a:cs typeface="Times New Roman"/>
                <a:sym typeface="Times New Roman"/>
              </a:rPr>
              <a:t>Block size = 256 – Subnet mask value</a:t>
            </a:r>
          </a:p>
          <a:p>
            <a:pPr marL="146050">
              <a:buClr>
                <a:srgbClr val="CC9A00"/>
              </a:buClr>
              <a:buSzPts val="1300"/>
            </a:pPr>
            <a:r>
              <a:rPr lang="en-US" sz="2000" dirty="0">
                <a:latin typeface="Times New Roman"/>
                <a:ea typeface="Times New Roman"/>
                <a:cs typeface="Times New Roman"/>
                <a:sym typeface="Times New Roman"/>
              </a:rPr>
              <a:t>	 </a:t>
            </a:r>
            <a:r>
              <a:rPr lang="en-US" sz="2000" dirty="0" smtClean="0">
                <a:latin typeface="Times New Roman"/>
                <a:ea typeface="Times New Roman"/>
                <a:cs typeface="Times New Roman"/>
                <a:sym typeface="Times New Roman"/>
              </a:rPr>
              <a:t>     = 256 – 192 = 64 (This is the subnet increment)</a:t>
            </a:r>
          </a:p>
          <a:p>
            <a:pPr marL="146050">
              <a:buClr>
                <a:srgbClr val="CC9A00"/>
              </a:buClr>
              <a:buSzPts val="1300"/>
            </a:pPr>
            <a:endParaRPr lang="en-US" sz="2000" dirty="0">
              <a:latin typeface="Times New Roman"/>
              <a:ea typeface="Times New Roman"/>
              <a:cs typeface="Times New Roman"/>
              <a:sym typeface="Times New Roman"/>
            </a:endParaRPr>
          </a:p>
          <a:p>
            <a:pPr marL="146050">
              <a:buClr>
                <a:srgbClr val="CC9A00"/>
              </a:buClr>
              <a:buSzPts val="1300"/>
            </a:pPr>
            <a:r>
              <a:rPr lang="en-US" sz="2000" dirty="0" smtClean="0">
                <a:latin typeface="Times New Roman"/>
                <a:ea typeface="Times New Roman"/>
                <a:cs typeface="Times New Roman"/>
                <a:sym typeface="Times New Roman"/>
              </a:rPr>
              <a:t>Subnets:</a:t>
            </a:r>
          </a:p>
          <a:p>
            <a:pPr marL="146050">
              <a:buClr>
                <a:srgbClr val="CC9A00"/>
              </a:buClr>
              <a:buSzPts val="1300"/>
            </a:pPr>
            <a:r>
              <a:rPr lang="en-US" sz="2000" dirty="0" smtClean="0">
                <a:latin typeface="Times New Roman"/>
                <a:ea typeface="Times New Roman"/>
                <a:cs typeface="Times New Roman"/>
                <a:sym typeface="Times New Roman"/>
              </a:rPr>
              <a:t>192.168.1.0 </a:t>
            </a:r>
            <a:r>
              <a:rPr lang="en-US" sz="2000" dirty="0">
                <a:latin typeface="Times New Roman"/>
                <a:ea typeface="Times New Roman"/>
                <a:cs typeface="Times New Roman"/>
                <a:sym typeface="Times New Roman"/>
              </a:rPr>
              <a:t>– </a:t>
            </a:r>
            <a:r>
              <a:rPr lang="en-US" sz="2000" dirty="0" smtClean="0">
                <a:latin typeface="Times New Roman"/>
                <a:ea typeface="Times New Roman"/>
                <a:cs typeface="Times New Roman"/>
                <a:sym typeface="Times New Roman"/>
              </a:rPr>
              <a:t>192.168.1.63</a:t>
            </a:r>
          </a:p>
          <a:p>
            <a:pPr marL="146050">
              <a:buClr>
                <a:srgbClr val="CC9A00"/>
              </a:buClr>
              <a:buSzPts val="1300"/>
            </a:pPr>
            <a:r>
              <a:rPr lang="en-US" sz="2000" dirty="0" smtClean="0">
                <a:latin typeface="Times New Roman"/>
                <a:ea typeface="Times New Roman"/>
                <a:cs typeface="Times New Roman"/>
                <a:sym typeface="Times New Roman"/>
              </a:rPr>
              <a:t>192.168.1.64 </a:t>
            </a:r>
            <a:r>
              <a:rPr lang="en-US" sz="2000" dirty="0">
                <a:latin typeface="Times New Roman"/>
                <a:ea typeface="Times New Roman"/>
                <a:cs typeface="Times New Roman"/>
                <a:sym typeface="Times New Roman"/>
              </a:rPr>
              <a:t>– </a:t>
            </a:r>
            <a:r>
              <a:rPr lang="en-US" sz="2000" dirty="0" smtClean="0">
                <a:latin typeface="Times New Roman"/>
                <a:ea typeface="Times New Roman"/>
                <a:cs typeface="Times New Roman"/>
                <a:sym typeface="Times New Roman"/>
              </a:rPr>
              <a:t>192.168.1.127</a:t>
            </a:r>
          </a:p>
          <a:p>
            <a:pPr marL="146050">
              <a:buClr>
                <a:srgbClr val="CC9A00"/>
              </a:buClr>
              <a:buSzPts val="1300"/>
            </a:pPr>
            <a:r>
              <a:rPr lang="en-US" sz="2000" dirty="0" smtClean="0">
                <a:latin typeface="Times New Roman"/>
                <a:ea typeface="Times New Roman"/>
                <a:cs typeface="Times New Roman"/>
                <a:sym typeface="Times New Roman"/>
              </a:rPr>
              <a:t>192.168.1.128 </a:t>
            </a:r>
            <a:r>
              <a:rPr lang="en-US" sz="2000" dirty="0">
                <a:latin typeface="Times New Roman"/>
                <a:ea typeface="Times New Roman"/>
                <a:cs typeface="Times New Roman"/>
                <a:sym typeface="Times New Roman"/>
              </a:rPr>
              <a:t>– </a:t>
            </a:r>
            <a:r>
              <a:rPr lang="en-US" sz="2000" dirty="0" smtClean="0">
                <a:latin typeface="Times New Roman"/>
                <a:ea typeface="Times New Roman"/>
                <a:cs typeface="Times New Roman"/>
                <a:sym typeface="Times New Roman"/>
              </a:rPr>
              <a:t>192.168.1.191</a:t>
            </a:r>
          </a:p>
          <a:p>
            <a:pPr marL="146050">
              <a:buClr>
                <a:srgbClr val="CC9A00"/>
              </a:buClr>
              <a:buSzPts val="1300"/>
            </a:pPr>
            <a:r>
              <a:rPr lang="en-US" sz="2000" dirty="0" smtClean="0">
                <a:latin typeface="Times New Roman"/>
                <a:ea typeface="Times New Roman"/>
                <a:cs typeface="Times New Roman"/>
                <a:sym typeface="Times New Roman"/>
              </a:rPr>
              <a:t>192.168.1.192 </a:t>
            </a:r>
            <a:r>
              <a:rPr lang="en-US" sz="2000" dirty="0">
                <a:latin typeface="Times New Roman"/>
                <a:ea typeface="Times New Roman"/>
                <a:cs typeface="Times New Roman"/>
                <a:sym typeface="Times New Roman"/>
              </a:rPr>
              <a:t>– 192.168.1.255</a:t>
            </a:r>
            <a:endParaRPr lang="en-US" sz="2000" dirty="0">
              <a:latin typeface="Times New Roman"/>
              <a:ea typeface="Times New Roman"/>
              <a:cs typeface="Times New Roman"/>
              <a:sym typeface="Times New Roman"/>
            </a:endParaRP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79045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16872</TotalTime>
  <Words>2165</Words>
  <Application>Microsoft Office PowerPoint</Application>
  <PresentationFormat>Custom</PresentationFormat>
  <Paragraphs>339</Paragraphs>
  <Slides>49</Slides>
  <Notes>49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49</vt:i4>
      </vt:variant>
    </vt:vector>
  </HeadingPairs>
  <TitlesOfParts>
    <vt:vector size="55" baseType="lpstr">
      <vt:lpstr>Arial</vt:lpstr>
      <vt:lpstr>Calibri</vt:lpstr>
      <vt:lpstr>Noto Sans Symbols</vt:lpstr>
      <vt:lpstr>Times New Roman</vt:lpstr>
      <vt:lpstr>Wingdings</vt:lpstr>
      <vt:lpstr>Office Theme</vt:lpstr>
      <vt:lpstr>Computer Networks</vt:lpstr>
      <vt:lpstr>Question  </vt:lpstr>
      <vt:lpstr>Answer  </vt:lpstr>
      <vt:lpstr>Question  </vt:lpstr>
      <vt:lpstr>Answer  </vt:lpstr>
      <vt:lpstr>Question  </vt:lpstr>
      <vt:lpstr>Answer  </vt:lpstr>
      <vt:lpstr>Question  </vt:lpstr>
      <vt:lpstr>Answer  </vt:lpstr>
      <vt:lpstr>Question  </vt:lpstr>
      <vt:lpstr>Question  </vt:lpstr>
      <vt:lpstr>Question  </vt:lpstr>
      <vt:lpstr>Answer  </vt:lpstr>
      <vt:lpstr>Question  </vt:lpstr>
      <vt:lpstr>Answer  </vt:lpstr>
      <vt:lpstr>PowerPoint Presentation</vt:lpstr>
      <vt:lpstr>Question  </vt:lpstr>
      <vt:lpstr>Answer  </vt:lpstr>
      <vt:lpstr>Question  </vt:lpstr>
      <vt:lpstr>Answer  </vt:lpstr>
      <vt:lpstr>Question  </vt:lpstr>
      <vt:lpstr>Answer  </vt:lpstr>
      <vt:lpstr>Question  </vt:lpstr>
      <vt:lpstr>Answer  </vt:lpstr>
      <vt:lpstr>Answer  </vt:lpstr>
      <vt:lpstr>Question  </vt:lpstr>
      <vt:lpstr>Answer  </vt:lpstr>
      <vt:lpstr>Answer  </vt:lpstr>
      <vt:lpstr>4. IP Addressing</vt:lpstr>
      <vt:lpstr>IP Addresses:</vt:lpstr>
      <vt:lpstr>IPv4 Addresses:</vt:lpstr>
      <vt:lpstr>IPv4 Addresses:</vt:lpstr>
      <vt:lpstr>Network prefix and Host number</vt:lpstr>
      <vt:lpstr>How long the Network prefix is?</vt:lpstr>
      <vt:lpstr>Classful IP Addresses</vt:lpstr>
      <vt:lpstr>Public and Private IP Addresses</vt:lpstr>
      <vt:lpstr>Private IP ranges</vt:lpstr>
      <vt:lpstr>Problems with Classful IP Addressing</vt:lpstr>
      <vt:lpstr>CIDR (Classless Inter Domain Routing)</vt:lpstr>
      <vt:lpstr>5. Subnetting</vt:lpstr>
      <vt:lpstr>Problem:</vt:lpstr>
      <vt:lpstr>Solution 1:</vt:lpstr>
      <vt:lpstr>Solution 2:</vt:lpstr>
      <vt:lpstr>Idea of Subnetting:</vt:lpstr>
      <vt:lpstr>PowerPoint Presentation</vt:lpstr>
      <vt:lpstr>Question  </vt:lpstr>
      <vt:lpstr>Answer  </vt:lpstr>
      <vt:lpstr>Question  </vt:lpstr>
      <vt:lpstr>Answer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System Administration</dc:title>
  <dc:creator>Chamindu</dc:creator>
  <cp:lastModifiedBy>chamindu.bandara@mcblk.mcb.com.pk</cp:lastModifiedBy>
  <cp:revision>227</cp:revision>
  <dcterms:modified xsi:type="dcterms:W3CDTF">2026-04-30T12:26:18Z</dcterms:modified>
</cp:coreProperties>
</file>