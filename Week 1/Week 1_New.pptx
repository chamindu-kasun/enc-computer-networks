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71" r:id="rId2"/>
    <p:sldId id="305" r:id="rId3"/>
    <p:sldId id="310" r:id="rId4"/>
    <p:sldId id="317" r:id="rId5"/>
    <p:sldId id="313" r:id="rId6"/>
    <p:sldId id="276" r:id="rId7"/>
    <p:sldId id="314" r:id="rId8"/>
    <p:sldId id="315" r:id="rId9"/>
    <p:sldId id="316" r:id="rId10"/>
    <p:sldId id="319" r:id="rId11"/>
    <p:sldId id="318" r:id="rId12"/>
    <p:sldId id="320" r:id="rId13"/>
    <p:sldId id="322" r:id="rId14"/>
    <p:sldId id="321" r:id="rId15"/>
    <p:sldId id="326" r:id="rId16"/>
    <p:sldId id="324" r:id="rId17"/>
    <p:sldId id="323" r:id="rId18"/>
    <p:sldId id="325" r:id="rId19"/>
    <p:sldId id="312" r:id="rId20"/>
    <p:sldId id="328" r:id="rId21"/>
    <p:sldId id="329" r:id="rId22"/>
    <p:sldId id="327" r:id="rId23"/>
    <p:sldId id="330" r:id="rId24"/>
    <p:sldId id="275" r:id="rId25"/>
  </p:sldIdLst>
  <p:sldSz cx="10058400" cy="7772400"/>
  <p:notesSz cx="10058400" cy="7772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de5E5K1qMnAXfCVAS8PAjD/wh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2" autoAdjust="0"/>
    <p:restoredTop sz="94660"/>
  </p:normalViewPr>
  <p:slideViewPr>
    <p:cSldViewPr snapToGrid="0">
      <p:cViewPr varScale="1">
        <p:scale>
          <a:sx n="65" d="100"/>
          <a:sy n="65" d="100"/>
        </p:scale>
        <p:origin x="1332" y="6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1005825" y="3691875"/>
            <a:ext cx="8046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8025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628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579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7444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4212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7873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080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4633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052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1398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2373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6912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4603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115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201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1535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03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529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16120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0962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3167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599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33528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860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17"/>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7"/>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800" b="0" i="0">
                <a:solidFill>
                  <a:srgbClr val="006533"/>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6" name="Google Shape;16;p17"/>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19"/>
          <p:cNvSpPr txBox="1">
            <a:spLocks noGrp="1"/>
          </p:cNvSpPr>
          <p:nvPr>
            <p:ph type="ctrTitle"/>
          </p:nvPr>
        </p:nvSpPr>
        <p:spPr>
          <a:xfrm>
            <a:off x="754380" y="2409444"/>
            <a:ext cx="8549640" cy="163220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9"/>
          <p:cNvSpPr txBox="1">
            <a:spLocks noGrp="1"/>
          </p:cNvSpPr>
          <p:nvPr>
            <p:ph type="subTitle" idx="1"/>
          </p:nvPr>
        </p:nvSpPr>
        <p:spPr>
          <a:xfrm>
            <a:off x="1508760" y="4352544"/>
            <a:ext cx="7040880" cy="1943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9"/>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0"/>
          <p:cNvSpPr txBox="1">
            <a:spLocks noGrp="1"/>
          </p:cNvSpPr>
          <p:nvPr>
            <p:ph type="body" idx="1"/>
          </p:nvPr>
        </p:nvSpPr>
        <p:spPr>
          <a:xfrm>
            <a:off x="502920"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2"/>
          </p:nvPr>
        </p:nvSpPr>
        <p:spPr>
          <a:xfrm>
            <a:off x="5180076"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21"/>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p:nvPr/>
        </p:nvSpPr>
        <p:spPr>
          <a:xfrm>
            <a:off x="829056" y="676655"/>
            <a:ext cx="8238490" cy="619125"/>
          </a:xfrm>
          <a:custGeom>
            <a:avLst/>
            <a:gdLst/>
            <a:ahLst/>
            <a:cxnLst/>
            <a:rect l="l" t="t" r="r" b="b"/>
            <a:pathLst>
              <a:path w="8238490" h="619125" extrusionOk="0">
                <a:moveTo>
                  <a:pt x="8238490" y="0"/>
                </a:moveTo>
                <a:lnTo>
                  <a:pt x="19050" y="0"/>
                </a:lnTo>
                <a:lnTo>
                  <a:pt x="8890" y="0"/>
                </a:lnTo>
                <a:lnTo>
                  <a:pt x="0" y="0"/>
                </a:lnTo>
                <a:lnTo>
                  <a:pt x="0" y="618744"/>
                </a:lnTo>
                <a:lnTo>
                  <a:pt x="8890" y="618744"/>
                </a:lnTo>
                <a:lnTo>
                  <a:pt x="8890" y="14224"/>
                </a:lnTo>
                <a:lnTo>
                  <a:pt x="13970" y="14224"/>
                </a:lnTo>
                <a:lnTo>
                  <a:pt x="9144" y="19050"/>
                </a:lnTo>
                <a:lnTo>
                  <a:pt x="9144" y="618744"/>
                </a:lnTo>
                <a:lnTo>
                  <a:pt x="19050" y="618744"/>
                </a:lnTo>
                <a:lnTo>
                  <a:pt x="19050" y="19050"/>
                </a:lnTo>
                <a:lnTo>
                  <a:pt x="8238490" y="19050"/>
                </a:lnTo>
                <a:lnTo>
                  <a:pt x="8238490" y="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16"/>
          <p:cNvSpPr/>
          <p:nvPr/>
        </p:nvSpPr>
        <p:spPr>
          <a:xfrm>
            <a:off x="914400" y="6620256"/>
            <a:ext cx="8229600" cy="19050"/>
          </a:xfrm>
          <a:custGeom>
            <a:avLst/>
            <a:gdLst/>
            <a:ahLst/>
            <a:cxnLst/>
            <a:rect l="l" t="t" r="r" b="b"/>
            <a:pathLst>
              <a:path w="8229600" h="19050" extrusionOk="0">
                <a:moveTo>
                  <a:pt x="8229600" y="19050"/>
                </a:moveTo>
                <a:lnTo>
                  <a:pt x="8229600" y="0"/>
                </a:lnTo>
                <a:lnTo>
                  <a:pt x="0" y="0"/>
                </a:lnTo>
                <a:lnTo>
                  <a:pt x="0" y="19050"/>
                </a:lnTo>
                <a:lnTo>
                  <a:pt x="8229600" y="1905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16"/>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rgbClr val="006533"/>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6"/>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6533"/>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0" name="Google Shape;10;p16"/>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6"/>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fi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2"/>
          <p:cNvSpPr txBox="1"/>
          <p:nvPr/>
        </p:nvSpPr>
        <p:spPr>
          <a:xfrm>
            <a:off x="993900" y="1833375"/>
            <a:ext cx="8142000" cy="529800"/>
          </a:xfrm>
          <a:prstGeom prst="rect">
            <a:avLst/>
          </a:prstGeom>
          <a:noFill/>
          <a:ln>
            <a:noFill/>
          </a:ln>
        </p:spPr>
        <p:txBody>
          <a:bodyPr spcFirstLastPara="1" wrap="square" lIns="0" tIns="97775" rIns="0" bIns="0" anchor="t" anchorCtr="0">
            <a:spAutoFit/>
          </a:bodyPr>
          <a:lstStyle/>
          <a:p>
            <a:pPr marL="457200" marR="0" lvl="0" indent="0" algn="just"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Times New Roman"/>
              <a:ea typeface="Times New Roman"/>
              <a:cs typeface="Times New Roman"/>
              <a:sym typeface="Times New Roman"/>
            </a:endParaRPr>
          </a:p>
        </p:txBody>
      </p:sp>
      <p:sp>
        <p:nvSpPr>
          <p:cNvPr id="56" name="Google Shape;56;p2"/>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SzPts val="1200"/>
              <a:buNone/>
            </a:pPr>
            <a:fld id="{00000000-1234-1234-1234-123412341234}" type="slidenum">
              <a:rPr lang="en-US"/>
              <a:t>1</a:t>
            </a:fld>
            <a:endParaRPr/>
          </a:p>
        </p:txBody>
      </p:sp>
      <p:sp>
        <p:nvSpPr>
          <p:cNvPr id="8" name="Google Shape;48;p1"/>
          <p:cNvSpPr txBox="1"/>
          <p:nvPr/>
        </p:nvSpPr>
        <p:spPr>
          <a:xfrm>
            <a:off x="993900" y="6562283"/>
            <a:ext cx="6039300" cy="1769765"/>
          </a:xfrm>
          <a:prstGeom prst="rect">
            <a:avLst/>
          </a:prstGeom>
          <a:noFill/>
          <a:ln>
            <a:noFill/>
          </a:ln>
        </p:spPr>
        <p:txBody>
          <a:bodyPr spcFirstLastPara="1" wrap="square" lIns="0" tIns="123175" rIns="0" bIns="0" anchor="t" anchorCtr="0">
            <a:spAutoFit/>
          </a:bodyPr>
          <a:lstStyle/>
          <a:p>
            <a:pPr marL="12700" marR="1841500" lvl="0" indent="0" algn="l" rtl="0">
              <a:lnSpc>
                <a:spcPct val="108000"/>
              </a:lnSpc>
              <a:spcBef>
                <a:spcPts val="0"/>
              </a:spcBef>
              <a:spcAft>
                <a:spcPts val="0"/>
              </a:spcAft>
              <a:buClr>
                <a:schemeClr val="dk1"/>
              </a:buClr>
              <a:buSzPts val="1100"/>
              <a:buFont typeface="Arial"/>
              <a:buNone/>
            </a:pPr>
            <a:r>
              <a:rPr lang="en-US" sz="2300" b="1" i="0" u="none" strike="noStrike" cap="none" dirty="0">
                <a:solidFill>
                  <a:srgbClr val="000000"/>
                </a:solidFill>
                <a:latin typeface="Times New Roman"/>
                <a:ea typeface="Times New Roman"/>
                <a:cs typeface="Times New Roman"/>
                <a:sym typeface="Times New Roman"/>
              </a:rPr>
              <a:t>Chamindu </a:t>
            </a:r>
            <a:r>
              <a:rPr lang="en-US" sz="2300" b="1" i="0" u="none" strike="noStrike" cap="none" dirty="0" err="1">
                <a:solidFill>
                  <a:srgbClr val="000000"/>
                </a:solidFill>
                <a:latin typeface="Times New Roman"/>
                <a:ea typeface="Times New Roman"/>
                <a:cs typeface="Times New Roman"/>
                <a:sym typeface="Times New Roman"/>
              </a:rPr>
              <a:t>Kasun</a:t>
            </a:r>
            <a:r>
              <a:rPr lang="en-US" sz="2300" b="1" i="0" u="none" strike="noStrike" cap="none" dirty="0">
                <a:solidFill>
                  <a:srgbClr val="000000"/>
                </a:solidFill>
                <a:latin typeface="Times New Roman"/>
                <a:ea typeface="Times New Roman"/>
                <a:cs typeface="Times New Roman"/>
                <a:sym typeface="Times New Roman"/>
              </a:rPr>
              <a:t> </a:t>
            </a:r>
            <a:r>
              <a:rPr lang="en-US" sz="2300" b="1" i="0" u="none" strike="noStrike" cap="none" dirty="0" err="1">
                <a:solidFill>
                  <a:srgbClr val="000000"/>
                </a:solidFill>
                <a:latin typeface="Times New Roman"/>
                <a:ea typeface="Times New Roman"/>
                <a:cs typeface="Times New Roman"/>
                <a:sym typeface="Times New Roman"/>
              </a:rPr>
              <a:t>Karunarathna</a:t>
            </a:r>
            <a:endParaRPr sz="2300" b="1"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chemeClr val="dk1"/>
              </a:buClr>
              <a:buSzPts val="1100"/>
              <a:buFont typeface="Arial"/>
              <a:buNone/>
            </a:pPr>
            <a:r>
              <a:rPr lang="en-US" sz="1600" b="1" i="0" u="none" strike="noStrike" cap="none" dirty="0">
                <a:solidFill>
                  <a:srgbClr val="000000"/>
                </a:solidFill>
                <a:latin typeface="Times New Roman"/>
                <a:ea typeface="Times New Roman"/>
                <a:cs typeface="Times New Roman"/>
                <a:sym typeface="Times New Roman"/>
              </a:rPr>
              <a:t>BSc (Hons) in Information Technology </a:t>
            </a:r>
            <a:endParaRPr sz="1600" b="1"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chemeClr val="dk1"/>
              </a:buClr>
              <a:buSzPts val="1100"/>
              <a:buFont typeface="Arial"/>
              <a:buNone/>
            </a:pPr>
            <a:endParaRPr sz="2000" b="0"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chemeClr val="dk1"/>
              </a:buClr>
              <a:buSzPts val="1100"/>
              <a:buFont typeface="Arial"/>
              <a:buNone/>
            </a:pPr>
            <a:endParaRPr sz="2000" b="0" i="0" u="none" strike="noStrike" cap="none" dirty="0">
              <a:solidFill>
                <a:srgbClr val="000000"/>
              </a:solidFill>
              <a:latin typeface="Times New Roman"/>
              <a:ea typeface="Times New Roman"/>
              <a:cs typeface="Times New Roman"/>
              <a:sym typeface="Times New Roman"/>
            </a:endParaRPr>
          </a:p>
          <a:p>
            <a:pPr marL="12700" marR="1841500" lvl="0" indent="0" algn="l" rtl="0">
              <a:lnSpc>
                <a:spcPct val="108000"/>
              </a:lnSpc>
              <a:spcBef>
                <a:spcPts val="0"/>
              </a:spcBef>
              <a:spcAft>
                <a:spcPts val="0"/>
              </a:spcAft>
              <a:buClr>
                <a:srgbClr val="000000"/>
              </a:buClr>
              <a:buSzPts val="2000"/>
              <a:buFont typeface="Arial"/>
              <a:buNone/>
            </a:pPr>
            <a:endParaRPr sz="2000" b="0" i="0" u="none" strike="noStrike" cap="none" dirty="0">
              <a:solidFill>
                <a:srgbClr val="000000"/>
              </a:solidFill>
              <a:latin typeface="Times New Roman"/>
              <a:ea typeface="Times New Roman"/>
              <a:cs typeface="Times New Roman"/>
              <a:sym typeface="Times New Roman"/>
            </a:endParaRPr>
          </a:p>
        </p:txBody>
      </p:sp>
      <p:pic>
        <p:nvPicPr>
          <p:cNvPr id="1028" name="Picture 4" descr="Introduction to Business Computer Networ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902" y="1467942"/>
            <a:ext cx="7003996" cy="4979949"/>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55;p8"/>
          <p:cNvSpPr txBox="1">
            <a:spLocks noGrp="1"/>
          </p:cNvSpPr>
          <p:nvPr>
            <p:ph type="title"/>
          </p:nvPr>
        </p:nvSpPr>
        <p:spPr>
          <a:xfrm>
            <a:off x="993900" y="780717"/>
            <a:ext cx="8904300" cy="1397819"/>
          </a:xfrm>
          <a:prstGeom prst="rect">
            <a:avLst/>
          </a:prstGeom>
          <a:noFill/>
          <a:ln>
            <a:noFill/>
          </a:ln>
        </p:spPr>
        <p:txBody>
          <a:bodyPr spcFirstLastPara="1" wrap="square" lIns="0" tIns="12700" rIns="0" bIns="0" anchor="t" anchorCtr="0">
            <a:spAutoFit/>
          </a:bodyPr>
          <a:lstStyle/>
          <a:p>
            <a:pPr lvl="0"/>
            <a:r>
              <a:rPr lang="en-US" sz="5400" dirty="0" smtClean="0"/>
              <a:t>COMPUTER NETWORKS</a:t>
            </a:r>
            <a:r>
              <a:rPr lang="en-US" dirty="0"/>
              <a:t/>
            </a:r>
            <a:br>
              <a:rPr lang="en-US" dirty="0"/>
            </a:br>
            <a:endParaRPr sz="3600" dirty="0"/>
          </a:p>
        </p:txBody>
      </p:sp>
    </p:spTree>
    <p:extLst>
      <p:ext uri="{BB962C8B-B14F-4D97-AF65-F5344CB8AC3E}">
        <p14:creationId xmlns:p14="http://schemas.microsoft.com/office/powerpoint/2010/main" val="146865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What </a:t>
            </a:r>
            <a:r>
              <a:rPr lang="en-US" dirty="0" smtClean="0"/>
              <a:t>is a Computer Network?</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computer network is a system of interconnected computing devices that can exchange data and share resources</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Computer Networking Images - Free Download on Freepi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0930" y="2778397"/>
            <a:ext cx="5053098" cy="3789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63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Tree>
    <p:extLst>
      <p:ext uri="{BB962C8B-B14F-4D97-AF65-F5344CB8AC3E}">
        <p14:creationId xmlns:p14="http://schemas.microsoft.com/office/powerpoint/2010/main" val="9740031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
        <p:nvSpPr>
          <p:cNvPr id="3" name="Rectangle 2"/>
          <p:cNvSpPr/>
          <p:nvPr/>
        </p:nvSpPr>
        <p:spPr>
          <a:xfrm>
            <a:off x="3996812" y="4748981"/>
            <a:ext cx="2330245" cy="63418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61545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Transmission Media</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a:t>
            </a:r>
            <a:r>
              <a:rPr lang="en-US" sz="2000" dirty="0" smtClean="0">
                <a:latin typeface="Times New Roman"/>
                <a:ea typeface="Times New Roman"/>
                <a:cs typeface="Times New Roman"/>
                <a:sym typeface="Times New Roman"/>
              </a:rPr>
              <a:t>ransmission </a:t>
            </a:r>
            <a:r>
              <a:rPr lang="en-US" sz="2000" dirty="0">
                <a:latin typeface="Times New Roman"/>
                <a:ea typeface="Times New Roman"/>
                <a:cs typeface="Times New Roman"/>
                <a:sym typeface="Times New Roman"/>
              </a:rPr>
              <a:t>media refer to the physical pathways through which data is transmitted from one device to another within a network.</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Guided and Unguided M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368" y="2952085"/>
            <a:ext cx="5534025" cy="3423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24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Twisted pair cable</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26539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Coaxial cable</a:t>
            </a:r>
            <a:endParaRPr sz="3600" dirty="0"/>
          </a:p>
        </p:txBody>
      </p:sp>
      <p:sp>
        <p:nvSpPr>
          <p:cNvPr id="56" name="Google Shape;56;p8"/>
          <p:cNvSpPr txBox="1"/>
          <p:nvPr/>
        </p:nvSpPr>
        <p:spPr>
          <a:xfrm>
            <a:off x="883805" y="1864906"/>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coaxial cable is a type of copper cable. It has a central copper wire that has an insulated layer, a metal conductor layer and a protective plastic outer layer.</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a:t>
            </a:r>
            <a:r>
              <a:rPr lang="en-US" sz="2000" dirty="0" smtClean="0">
                <a:latin typeface="Times New Roman"/>
                <a:ea typeface="Times New Roman"/>
                <a:cs typeface="Times New Roman"/>
                <a:sym typeface="Times New Roman"/>
              </a:rPr>
              <a:t>coaxial </a:t>
            </a:r>
            <a:r>
              <a:rPr lang="en-US" sz="2000" dirty="0">
                <a:latin typeface="Times New Roman"/>
                <a:ea typeface="Times New Roman"/>
                <a:cs typeface="Times New Roman"/>
                <a:sym typeface="Times New Roman"/>
              </a:rPr>
              <a:t>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radio frequency signals.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at speeds of up to 10 Mbps.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 but not as cheap as twisted pair cables.</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less prone to electromagnetic interference because of the braided metal conductor layer.</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they can be stiff and difficult to bend.</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in cable TV connections and sometimes in internet connections.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a:t>
            </a:fld>
            <a:endParaRPr/>
          </a:p>
        </p:txBody>
      </p:sp>
      <p:pic>
        <p:nvPicPr>
          <p:cNvPr id="3" name="Picture 2"/>
          <p:cNvPicPr>
            <a:picLocks noChangeAspect="1"/>
          </p:cNvPicPr>
          <p:nvPr/>
        </p:nvPicPr>
        <p:blipFill>
          <a:blip r:embed="rId3"/>
          <a:stretch>
            <a:fillRect/>
          </a:stretch>
        </p:blipFill>
        <p:spPr>
          <a:xfrm>
            <a:off x="5869858" y="810459"/>
            <a:ext cx="3790954" cy="1112730"/>
          </a:xfrm>
          <a:prstGeom prst="rect">
            <a:avLst/>
          </a:prstGeom>
        </p:spPr>
      </p:pic>
      <p:pic>
        <p:nvPicPr>
          <p:cNvPr id="5122" name="Picture 2" descr="COAXIAL CABLE RF-7 50 Ω - 50 Ω Coaxial Cables - Del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6361" y="2771305"/>
            <a:ext cx="2901839" cy="158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37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Fiber optic cable</a:t>
            </a:r>
            <a:endParaRPr sz="3600" dirty="0"/>
          </a:p>
        </p:txBody>
      </p:sp>
      <p:sp>
        <p:nvSpPr>
          <p:cNvPr id="56" name="Google Shape;56;p8"/>
          <p:cNvSpPr txBox="1"/>
          <p:nvPr/>
        </p:nvSpPr>
        <p:spPr>
          <a:xfrm>
            <a:off x="883805" y="1686902"/>
            <a:ext cx="8142000" cy="4869267"/>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 cable has many very thin strands of glass or plastic that make up the core of the cable. The core is covered by a cladding, which is covered by a plastic coating. This plastic coating is covered by strengthening </a:t>
            </a:r>
            <a:r>
              <a:rPr lang="en-US" sz="2000" dirty="0" smtClean="0">
                <a:latin typeface="Times New Roman"/>
                <a:ea typeface="Times New Roman"/>
                <a:cs typeface="Times New Roman"/>
                <a:sym typeface="Times New Roman"/>
              </a:rPr>
              <a:t>fibers </a:t>
            </a:r>
            <a:r>
              <a:rPr lang="en-US" sz="2000" dirty="0">
                <a:latin typeface="Times New Roman"/>
                <a:ea typeface="Times New Roman"/>
                <a:cs typeface="Times New Roman"/>
                <a:sym typeface="Times New Roman"/>
              </a:rPr>
              <a:t>and then an outer coating.</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fiber optic </a:t>
            </a:r>
            <a:r>
              <a:rPr lang="en-US" sz="2000" dirty="0" smtClean="0">
                <a:latin typeface="Times New Roman"/>
                <a:ea typeface="Times New Roman"/>
                <a:cs typeface="Times New Roman"/>
                <a:sym typeface="Times New Roman"/>
              </a:rPr>
              <a:t>cables.</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light.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speeds of 1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expensive to manufacture.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not prone to electromagnetic interference.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 cables can be fragile.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often used for internet connection and transmitting data over long distances.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a:t>
            </a:fld>
            <a:endParaRPr/>
          </a:p>
        </p:txBody>
      </p:sp>
      <p:pic>
        <p:nvPicPr>
          <p:cNvPr id="4098" name="Picture 2" descr="Fiber Optic Cable - Elevating Your Project Profits with Superior Fiber Optic  Patch Cor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530" y="3004317"/>
            <a:ext cx="3109342" cy="20691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6120581" y="686092"/>
            <a:ext cx="3550784" cy="1101193"/>
          </a:xfrm>
          <a:prstGeom prst="rect">
            <a:avLst/>
          </a:prstGeom>
        </p:spPr>
      </p:pic>
    </p:spTree>
    <p:extLst>
      <p:ext uri="{BB962C8B-B14F-4D97-AF65-F5344CB8AC3E}">
        <p14:creationId xmlns:p14="http://schemas.microsoft.com/office/powerpoint/2010/main" val="411492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Microwaves</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49662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Radio waves</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677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
        <p:nvSpPr>
          <p:cNvPr id="3" name="Rectangle 2"/>
          <p:cNvSpPr/>
          <p:nvPr/>
        </p:nvSpPr>
        <p:spPr>
          <a:xfrm>
            <a:off x="3888726" y="3817874"/>
            <a:ext cx="2330245" cy="120995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37485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Ethernet</a:t>
            </a:r>
            <a:endParaRPr sz="3600" dirty="0"/>
          </a:p>
        </p:txBody>
      </p:sp>
      <p:sp>
        <p:nvSpPr>
          <p:cNvPr id="56" name="Google Shape;56;p8"/>
          <p:cNvSpPr txBox="1"/>
          <p:nvPr/>
        </p:nvSpPr>
        <p:spPr>
          <a:xfrm>
            <a:off x="883805" y="1864906"/>
            <a:ext cx="8142000" cy="256094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is a wired networking technology used to connect computers, printers, routers, and other devices in a local area network (LAN). </a:t>
            </a:r>
            <a:r>
              <a:rPr lang="en-US" sz="2000" dirty="0" smtClean="0">
                <a:latin typeface="Times New Roman"/>
                <a:ea typeface="Times New Roman"/>
                <a:cs typeface="Times New Roman"/>
                <a:sym typeface="Times New Roman"/>
              </a:rPr>
              <a:t>It (Ethernet protocol) </a:t>
            </a:r>
            <a:r>
              <a:rPr lang="en-US" sz="2000" dirty="0">
                <a:latin typeface="Times New Roman"/>
                <a:ea typeface="Times New Roman"/>
                <a:cs typeface="Times New Roman"/>
                <a:sym typeface="Times New Roman"/>
              </a:rPr>
              <a:t>defines how data is formatted, transmitted, and received over physical cables like Cat5e, Cat6, or fiber optic..</a:t>
            </a:r>
            <a:endParaRPr lang="en-US" sz="2000" dirty="0" smtClean="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 </a:t>
            </a: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cables can be coaxial, twisted pair or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LAN – N</a:t>
            </a:r>
            <a:r>
              <a:rPr lang="en-US" sz="2000" dirty="0" smtClean="0">
                <a:latin typeface="Times New Roman"/>
                <a:ea typeface="Times New Roman"/>
                <a:cs typeface="Times New Roman"/>
                <a:sym typeface="Times New Roman"/>
              </a:rPr>
              <a:t>etwork </a:t>
            </a:r>
            <a:r>
              <a:rPr lang="en-US" sz="2000" dirty="0">
                <a:latin typeface="Times New Roman"/>
                <a:ea typeface="Times New Roman"/>
                <a:cs typeface="Times New Roman"/>
                <a:sym typeface="Times New Roman"/>
              </a:rPr>
              <a:t>that is located within a single building or site</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12</a:t>
            </a:fld>
            <a:endParaRPr/>
          </a:p>
        </p:txBody>
      </p:sp>
      <p:pic>
        <p:nvPicPr>
          <p:cNvPr id="7" name="Picture 6" descr="ETHERNET CABLE 10Gbps CAT6 10M"/>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4135" y="4464215"/>
            <a:ext cx="2836665" cy="2316278"/>
          </a:xfrm>
          <a:prstGeom prst="rect">
            <a:avLst/>
          </a:prstGeom>
          <a:noFill/>
          <a:ln>
            <a:noFill/>
          </a:ln>
        </p:spPr>
      </p:pic>
    </p:spTree>
    <p:extLst>
      <p:ext uri="{BB962C8B-B14F-4D97-AF65-F5344CB8AC3E}">
        <p14:creationId xmlns:p14="http://schemas.microsoft.com/office/powerpoint/2010/main" val="81277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Install Packet </a:t>
            </a:r>
            <a:r>
              <a:rPr lang="en-US" dirty="0"/>
              <a:t>Tracer</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13</a:t>
            </a:fld>
            <a:endParaRPr/>
          </a:p>
        </p:txBody>
      </p:sp>
      <p:pic>
        <p:nvPicPr>
          <p:cNvPr id="6146" name="Picture 2" descr="Ultimate Guide to Packet Tracer - ITPR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752" y="1857192"/>
            <a:ext cx="7668953" cy="4517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4477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Network Infrastructure</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CiscoSansTT"/>
              </a:rPr>
              <a:t>The network infrastructure contains three categories of hardware </a:t>
            </a:r>
            <a:r>
              <a:rPr lang="en-US" sz="2000" dirty="0" smtClean="0">
                <a:latin typeface="CiscoSansTT"/>
              </a:rPr>
              <a:t>components.</a:t>
            </a:r>
          </a:p>
          <a:p>
            <a:pPr marL="146050" lvl="0">
              <a:buClr>
                <a:srgbClr val="CC9A00"/>
              </a:buClr>
              <a:buSzPts val="1300"/>
            </a:pPr>
            <a:r>
              <a:rPr lang="en-US" sz="2000" dirty="0" smtClean="0">
                <a:latin typeface="Times New Roman"/>
                <a:ea typeface="Times New Roman"/>
                <a:cs typeface="Times New Roman"/>
                <a:sym typeface="Times New Roman"/>
              </a:rPr>
              <a:t> </a:t>
            </a:r>
          </a:p>
          <a:p>
            <a:pPr marL="342900" lvl="2" indent="-342900">
              <a:buFont typeface="Wingdings" panose="05000000000000000000" pitchFamily="2" charset="2"/>
              <a:buChar char="q"/>
            </a:pPr>
            <a:r>
              <a:rPr lang="en-US" sz="2000" dirty="0" smtClean="0">
                <a:latin typeface="CiscoSansTT"/>
              </a:rPr>
              <a:t> End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Intermediate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Network </a:t>
            </a:r>
            <a:r>
              <a:rPr lang="en-US" sz="2000" dirty="0">
                <a:latin typeface="CiscoSansTT"/>
              </a:rPr>
              <a:t>media</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14</a:t>
            </a:fld>
            <a:endParaRPr/>
          </a:p>
        </p:txBody>
      </p:sp>
      <p:pic>
        <p:nvPicPr>
          <p:cNvPr id="2" name="Picture 1"/>
          <p:cNvPicPr>
            <a:picLocks noChangeAspect="1"/>
          </p:cNvPicPr>
          <p:nvPr/>
        </p:nvPicPr>
        <p:blipFill>
          <a:blip r:embed="rId3"/>
          <a:stretch>
            <a:fillRect/>
          </a:stretch>
        </p:blipFill>
        <p:spPr>
          <a:xfrm>
            <a:off x="4257755" y="2637201"/>
            <a:ext cx="5161561" cy="1595586"/>
          </a:xfrm>
          <a:prstGeom prst="rect">
            <a:avLst/>
          </a:prstGeom>
        </p:spPr>
      </p:pic>
      <p:pic>
        <p:nvPicPr>
          <p:cNvPr id="3" name="Picture 2"/>
          <p:cNvPicPr>
            <a:picLocks noChangeAspect="1"/>
          </p:cNvPicPr>
          <p:nvPr/>
        </p:nvPicPr>
        <p:blipFill>
          <a:blip r:embed="rId4"/>
          <a:stretch>
            <a:fillRect/>
          </a:stretch>
        </p:blipFill>
        <p:spPr>
          <a:xfrm>
            <a:off x="344971" y="4692659"/>
            <a:ext cx="5435436" cy="1693393"/>
          </a:xfrm>
          <a:prstGeom prst="rect">
            <a:avLst/>
          </a:prstGeom>
        </p:spPr>
      </p:pic>
      <p:pic>
        <p:nvPicPr>
          <p:cNvPr id="4" name="Picture 3"/>
          <p:cNvPicPr>
            <a:picLocks noChangeAspect="1"/>
          </p:cNvPicPr>
          <p:nvPr/>
        </p:nvPicPr>
        <p:blipFill>
          <a:blip r:embed="rId5"/>
          <a:stretch>
            <a:fillRect/>
          </a:stretch>
        </p:blipFill>
        <p:spPr>
          <a:xfrm>
            <a:off x="5578786" y="4692659"/>
            <a:ext cx="4173028" cy="1595954"/>
          </a:xfrm>
          <a:prstGeom prst="rect">
            <a:avLst/>
          </a:prstGeom>
        </p:spPr>
      </p:pic>
    </p:spTree>
    <p:extLst>
      <p:ext uri="{BB962C8B-B14F-4D97-AF65-F5344CB8AC3E}">
        <p14:creationId xmlns:p14="http://schemas.microsoft.com/office/powerpoint/2010/main" val="395126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15</a:t>
            </a:fld>
            <a:endParaRPr/>
          </a:p>
        </p:txBody>
      </p:sp>
      <p:pic>
        <p:nvPicPr>
          <p:cNvPr id="3" name="Picture 2"/>
          <p:cNvPicPr>
            <a:picLocks noChangeAspect="1"/>
          </p:cNvPicPr>
          <p:nvPr/>
        </p:nvPicPr>
        <p:blipFill>
          <a:blip r:embed="rId3"/>
          <a:stretch>
            <a:fillRect/>
          </a:stretch>
        </p:blipFill>
        <p:spPr>
          <a:xfrm>
            <a:off x="989913" y="1297859"/>
            <a:ext cx="8145992" cy="4579884"/>
          </a:xfrm>
          <a:prstGeom prst="rect">
            <a:avLst/>
          </a:prstGeom>
        </p:spPr>
      </p:pic>
    </p:spTree>
    <p:extLst>
      <p:ext uri="{BB962C8B-B14F-4D97-AF65-F5344CB8AC3E}">
        <p14:creationId xmlns:p14="http://schemas.microsoft.com/office/powerpoint/2010/main" val="4344207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2670" t="17789" r="12255" b="19262"/>
          <a:stretch/>
        </p:blipFill>
        <p:spPr>
          <a:xfrm>
            <a:off x="3801604" y="4188541"/>
            <a:ext cx="3288892" cy="2433485"/>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Network </a:t>
            </a:r>
            <a:r>
              <a:rPr lang="en-US" dirty="0" smtClean="0"/>
              <a:t>Interface Card </a:t>
            </a:r>
            <a:r>
              <a:rPr lang="en-US" dirty="0"/>
              <a:t>(NIC)</a:t>
            </a:r>
            <a:endParaRPr sz="3600" dirty="0"/>
          </a:p>
        </p:txBody>
      </p:sp>
      <p:sp>
        <p:nvSpPr>
          <p:cNvPr id="56" name="Google Shape;56;p8"/>
          <p:cNvSpPr txBox="1"/>
          <p:nvPr/>
        </p:nvSpPr>
        <p:spPr>
          <a:xfrm>
            <a:off x="883805" y="1864906"/>
            <a:ext cx="8142000" cy="317649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main component that any device needs to connect to a network is a network interface card (NIC).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is a type of circuit board that is built into a device. </a:t>
            </a: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NIC </a:t>
            </a:r>
            <a:r>
              <a:rPr lang="en-US" sz="2000" dirty="0">
                <a:latin typeface="Times New Roman"/>
                <a:ea typeface="Times New Roman"/>
                <a:cs typeface="Times New Roman"/>
                <a:sym typeface="Times New Roman"/>
              </a:rPr>
              <a:t>allows a device to connect to a network using a wired connection. The wired connection is normally an </a:t>
            </a:r>
            <a:r>
              <a:rPr lang="en-US" sz="2000" dirty="0" err="1">
                <a:latin typeface="Times New Roman"/>
                <a:ea typeface="Times New Roman"/>
                <a:cs typeface="Times New Roman"/>
                <a:sym typeface="Times New Roman"/>
              </a:rPr>
              <a:t>ethernet</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connection </a:t>
            </a:r>
            <a:r>
              <a:rPr lang="en-US" sz="2000" dirty="0">
                <a:latin typeface="Times New Roman"/>
                <a:ea typeface="Times New Roman"/>
                <a:cs typeface="Times New Roman"/>
                <a:sym typeface="Times New Roman"/>
              </a:rPr>
              <a:t>(RJ-45 port)</a:t>
            </a:r>
            <a:r>
              <a:rPr lang="en-US" sz="2000" dirty="0" smtClean="0">
                <a:latin typeface="Times New Roman"/>
                <a:ea typeface="Times New Roman"/>
                <a:cs typeface="Times New Roman"/>
                <a:sym typeface="Times New Roman"/>
              </a:rPr>
              <a:t>. </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wireless network interface card (WNIC) allows a device to connect to a network using a wireless connection </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664658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11268" name="Picture 4" descr="Internet Connection Hub Switch Stock Photo - Image of business, background: 1273856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7644" y="176127"/>
            <a:ext cx="3380556" cy="2256521"/>
          </a:xfrm>
          <a:prstGeom prst="rect">
            <a:avLst/>
          </a:prstGeom>
          <a:noFill/>
          <a:extLst>
            <a:ext uri="{909E8E84-426E-40DD-AFC4-6F175D3DCCD1}">
              <a14:hiddenFill xmlns:a14="http://schemas.microsoft.com/office/drawing/2010/main">
                <a:solidFill>
                  <a:srgbClr val="FFFFFF"/>
                </a:solidFill>
              </a14:hiddenFill>
            </a:ext>
          </a:extLst>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Hub</a:t>
            </a:r>
            <a:endParaRPr sz="3600" dirty="0"/>
          </a:p>
        </p:txBody>
      </p:sp>
      <p:sp>
        <p:nvSpPr>
          <p:cNvPr id="56" name="Google Shape;56;p8"/>
          <p:cNvSpPr txBox="1"/>
          <p:nvPr/>
        </p:nvSpPr>
        <p:spPr>
          <a:xfrm>
            <a:off x="883805" y="1732170"/>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hub is the most basic way of connecting several devices in a local area network (LAN).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hub receives data packets and forwards them on to all devices that are connected to the hub. Only the intended destination device will accept the data sent; the other devices connected to the hub will just ignore it.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Each </a:t>
            </a:r>
            <a:r>
              <a:rPr lang="en-US" sz="2000" dirty="0">
                <a:latin typeface="Times New Roman"/>
                <a:ea typeface="Times New Roman"/>
                <a:cs typeface="Times New Roman"/>
                <a:sym typeface="Times New Roman"/>
              </a:rPr>
              <a:t>device is connected to a hub using a wired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type of wired connection normally used for a hub is either an </a:t>
            </a:r>
            <a:r>
              <a:rPr lang="en-US" sz="2000" dirty="0" err="1">
                <a:latin typeface="Times New Roman"/>
                <a:ea typeface="Times New Roman"/>
                <a:cs typeface="Times New Roman"/>
                <a:sym typeface="Times New Roman"/>
              </a:rPr>
              <a:t>ethernet</a:t>
            </a:r>
            <a:r>
              <a:rPr lang="en-US" sz="2000" dirty="0">
                <a:latin typeface="Times New Roman"/>
                <a:ea typeface="Times New Roman"/>
                <a:cs typeface="Times New Roman"/>
                <a:sym typeface="Times New Roman"/>
              </a:rPr>
              <a:t> connection or a USB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There </a:t>
            </a:r>
            <a:r>
              <a:rPr lang="en-US" sz="2000" dirty="0">
                <a:latin typeface="Times New Roman"/>
                <a:ea typeface="Times New Roman"/>
                <a:cs typeface="Times New Roman"/>
                <a:sym typeface="Times New Roman"/>
              </a:rPr>
              <a:t>is a lot of unnecessary traffic in a network where hubs are used. This can cause a lot of data collisions, which can cause errors to occur and reduce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4410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Switch</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switch was developed as an improvement to the inefficiency of a hub. A switch is also used to connect several devices in a LAN network.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S</a:t>
            </a:r>
            <a:r>
              <a:rPr lang="en-US" sz="2000" dirty="0" smtClean="0">
                <a:latin typeface="Times New Roman"/>
                <a:ea typeface="Times New Roman"/>
                <a:cs typeface="Times New Roman"/>
                <a:sym typeface="Times New Roman"/>
              </a:rPr>
              <a:t>witch</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only </a:t>
            </a:r>
            <a:r>
              <a:rPr lang="en-US" sz="2000" dirty="0">
                <a:latin typeface="Times New Roman"/>
                <a:ea typeface="Times New Roman"/>
                <a:cs typeface="Times New Roman"/>
                <a:sym typeface="Times New Roman"/>
              </a:rPr>
              <a:t>sends the data packets to the intended destination. It does this by using a device's media access control (MAC) address.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switch records all the MAC addresses of devices that are attached to it and stores them in a table. It looks at the data packet to find the destination MAC address and forwards the data packet on to this device only.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reduces the amount of traffic in the network and as a result reduces the number of data collisions. This improves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18</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2" name="Picture 4" descr="Network Switches | Juniper Networks 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3898" y="619599"/>
            <a:ext cx="5478309" cy="1369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72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19</a:t>
            </a:fld>
            <a:endParaRPr/>
          </a:p>
        </p:txBody>
      </p:sp>
      <p:pic>
        <p:nvPicPr>
          <p:cNvPr id="3" name="Picture 2"/>
          <p:cNvPicPr>
            <a:picLocks noChangeAspect="1"/>
          </p:cNvPicPr>
          <p:nvPr/>
        </p:nvPicPr>
        <p:blipFill>
          <a:blip r:embed="rId3"/>
          <a:stretch>
            <a:fillRect/>
          </a:stretch>
        </p:blipFill>
        <p:spPr>
          <a:xfrm>
            <a:off x="989913" y="1297859"/>
            <a:ext cx="8145992" cy="4579884"/>
          </a:xfrm>
          <a:prstGeom prst="rect">
            <a:avLst/>
          </a:prstGeom>
        </p:spPr>
      </p:pic>
    </p:spTree>
    <p:extLst>
      <p:ext uri="{BB962C8B-B14F-4D97-AF65-F5344CB8AC3E}">
        <p14:creationId xmlns:p14="http://schemas.microsoft.com/office/powerpoint/2010/main" val="20795606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The Bit</a:t>
            </a:r>
            <a:endParaRPr sz="3600" dirty="0"/>
          </a:p>
        </p:txBody>
      </p:sp>
      <p:sp>
        <p:nvSpPr>
          <p:cNvPr id="56" name="Google Shape;56;p8"/>
          <p:cNvSpPr txBox="1"/>
          <p:nvPr/>
        </p:nvSpPr>
        <p:spPr>
          <a:xfrm>
            <a:off x="883805" y="1864906"/>
            <a:ext cx="8142000" cy="348427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Computers and networks only work with binary digits.</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Computers use binary codes to represent and interpret letters, numbers and special characters with bits</a:t>
            </a:r>
            <a:r>
              <a:rPr lang="en-US" sz="2000" dirty="0" smtClean="0">
                <a:latin typeface="Times New Roman"/>
                <a:ea typeface="Times New Roman"/>
                <a:cs typeface="Times New Roman"/>
                <a:sym typeface="Times New Roman"/>
              </a:rPr>
              <a:t>.</a:t>
            </a:r>
          </a:p>
          <a:p>
            <a:pPr marL="146050" lvl="8" algn="just">
              <a:buClr>
                <a:srgbClr val="CC9A00"/>
              </a:buClr>
              <a:buSzPts val="1300"/>
            </a:pPr>
            <a:endParaRPr lang="en-US" sz="2000" dirty="0" smtClean="0">
              <a:latin typeface="Times New Roman"/>
              <a:ea typeface="Times New Roman"/>
              <a:cs typeface="Times New Roman"/>
              <a:sym typeface="Times New Roman"/>
            </a:endParaRPr>
          </a:p>
          <a:p>
            <a:pPr marL="146050" lvl="8" algn="just">
              <a:buClr>
                <a:srgbClr val="CC9A00"/>
              </a:buClr>
              <a:buSzPts val="1300"/>
            </a:pPr>
            <a:r>
              <a:rPr lang="en-US" sz="2000" dirty="0" smtClean="0">
                <a:latin typeface="Times New Roman"/>
                <a:ea typeface="Times New Roman"/>
                <a:cs typeface="Times New Roman"/>
                <a:sym typeface="Times New Roman"/>
              </a:rPr>
              <a:t>Capital </a:t>
            </a:r>
            <a:r>
              <a:rPr lang="en-US" sz="2000" dirty="0">
                <a:latin typeface="Times New Roman"/>
                <a:ea typeface="Times New Roman"/>
                <a:cs typeface="Times New Roman"/>
                <a:sym typeface="Times New Roman"/>
              </a:rPr>
              <a:t>letter: A = </a:t>
            </a:r>
            <a:r>
              <a:rPr lang="en-US" sz="2000" dirty="0" smtClean="0">
                <a:latin typeface="Times New Roman"/>
                <a:ea typeface="Times New Roman"/>
                <a:cs typeface="Times New Roman"/>
                <a:sym typeface="Times New Roman"/>
              </a:rPr>
              <a:t>01000001                                                                                 </a:t>
            </a:r>
          </a:p>
          <a:p>
            <a:pPr marL="146050" lvl="8" algn="just">
              <a:buClr>
                <a:srgbClr val="CC9A00"/>
              </a:buClr>
              <a:buSzPts val="1300"/>
            </a:pPr>
            <a:r>
              <a:rPr lang="en-US" sz="2000" dirty="0" smtClean="0">
                <a:latin typeface="Times New Roman"/>
                <a:ea typeface="Times New Roman"/>
                <a:cs typeface="Times New Roman"/>
                <a:sym typeface="Times New Roman"/>
              </a:rPr>
              <a:t>Number</a:t>
            </a:r>
            <a:r>
              <a:rPr lang="en-US" sz="2000" dirty="0">
                <a:latin typeface="Times New Roman"/>
                <a:ea typeface="Times New Roman"/>
                <a:cs typeface="Times New Roman"/>
                <a:sym typeface="Times New Roman"/>
              </a:rPr>
              <a:t>: 9 = </a:t>
            </a:r>
            <a:r>
              <a:rPr lang="en-US" sz="2000" dirty="0" smtClean="0">
                <a:latin typeface="Times New Roman"/>
                <a:ea typeface="Times New Roman"/>
                <a:cs typeface="Times New Roman"/>
                <a:sym typeface="Times New Roman"/>
              </a:rPr>
              <a:t>00111001                                            </a:t>
            </a:r>
            <a:endParaRPr lang="en-US" sz="2000" dirty="0">
              <a:latin typeface="Times New Roman"/>
              <a:ea typeface="Times New Roman"/>
              <a:cs typeface="Times New Roman"/>
              <a:sym typeface="Times New Roman"/>
            </a:endParaRPr>
          </a:p>
          <a:p>
            <a:pPr marL="146050" lvl="7" algn="just">
              <a:buClr>
                <a:srgbClr val="CC9A00"/>
              </a:buClr>
              <a:buSzPts val="1300"/>
            </a:pPr>
            <a:r>
              <a:rPr lang="en-US" sz="2000" dirty="0" smtClean="0">
                <a:latin typeface="Times New Roman"/>
                <a:ea typeface="Times New Roman"/>
                <a:cs typeface="Times New Roman"/>
                <a:sym typeface="Times New Roman"/>
              </a:rPr>
              <a:t>Special </a:t>
            </a:r>
            <a:r>
              <a:rPr lang="en-US" sz="2000" dirty="0">
                <a:latin typeface="Times New Roman"/>
                <a:ea typeface="Times New Roman"/>
                <a:cs typeface="Times New Roman"/>
                <a:sym typeface="Times New Roman"/>
              </a:rPr>
              <a:t>character: # = </a:t>
            </a:r>
            <a:r>
              <a:rPr lang="en-US" sz="2000" dirty="0" smtClean="0">
                <a:latin typeface="Times New Roman"/>
                <a:ea typeface="Times New Roman"/>
                <a:cs typeface="Times New Roman"/>
                <a:sym typeface="Times New Roman"/>
              </a:rPr>
              <a:t>00100011                                    </a:t>
            </a: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Each group of eight bits, such as the representations of letters and numbers, is known as a byte</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20</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0013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The Bit</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All of our data is stored and transmitted as a series of bits</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Bits are converted into signals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0 </a:t>
            </a:r>
            <a:r>
              <a:rPr lang="en-US" sz="2000" dirty="0">
                <a:latin typeface="Times New Roman"/>
                <a:ea typeface="Times New Roman"/>
                <a:cs typeface="Times New Roman"/>
                <a:sym typeface="Times New Roman"/>
              </a:rPr>
              <a:t>and 1 → electrical pulses, light flashes, or radio </a:t>
            </a:r>
            <a:r>
              <a:rPr lang="en-US" sz="2000" dirty="0" smtClean="0">
                <a:latin typeface="Times New Roman"/>
                <a:ea typeface="Times New Roman"/>
                <a:cs typeface="Times New Roman"/>
                <a:sym typeface="Times New Roman"/>
              </a:rPr>
              <a:t>waves</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signal travels through</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Copper </a:t>
            </a:r>
            <a:r>
              <a:rPr lang="en-US" sz="2000" dirty="0">
                <a:latin typeface="Times New Roman"/>
                <a:ea typeface="Times New Roman"/>
                <a:cs typeface="Times New Roman"/>
                <a:sym typeface="Times New Roman"/>
              </a:rPr>
              <a:t>wire, fiber optics, or air (wireless</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At the receiver’s end:</a:t>
            </a:r>
          </a:p>
          <a:p>
            <a:pPr marL="146050" lvl="0">
              <a:buClr>
                <a:srgbClr val="CC9A00"/>
              </a:buClr>
              <a:buSzPts val="1300"/>
            </a:pPr>
            <a:r>
              <a:rPr lang="en-US" sz="2000" dirty="0" smtClean="0">
                <a:latin typeface="Times New Roman"/>
                <a:ea typeface="Times New Roman"/>
                <a:cs typeface="Times New Roman"/>
                <a:sym typeface="Times New Roman"/>
              </a:rPr>
              <a:t>Signals </a:t>
            </a:r>
            <a:r>
              <a:rPr lang="en-US" sz="2000" dirty="0">
                <a:latin typeface="Times New Roman"/>
                <a:ea typeface="Times New Roman"/>
                <a:cs typeface="Times New Roman"/>
                <a:sym typeface="Times New Roman"/>
              </a:rPr>
              <a:t>are converted back into bits, then interpreted as data.</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Bits per second (bps) is a unit used to measure data transfer rate</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21</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4512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MAC Address</a:t>
            </a:r>
            <a:endParaRPr sz="3600" dirty="0"/>
          </a:p>
        </p:txBody>
      </p:sp>
      <p:sp>
        <p:nvSpPr>
          <p:cNvPr id="56" name="Google Shape;56;p8"/>
          <p:cNvSpPr txBox="1"/>
          <p:nvPr/>
        </p:nvSpPr>
        <p:spPr>
          <a:xfrm>
            <a:off x="883805" y="1541962"/>
            <a:ext cx="8528552" cy="5330931"/>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MAC address can be used to identify a device in a network. The MAC address is assigned by the manufacturer of the device when it is being made. The MAC address is </a:t>
            </a:r>
            <a:r>
              <a:rPr lang="en-US" sz="2000" dirty="0" smtClean="0">
                <a:latin typeface="Times New Roman"/>
                <a:ea typeface="Times New Roman"/>
                <a:cs typeface="Times New Roman"/>
                <a:sym typeface="Times New Roman"/>
              </a:rPr>
              <a:t>given </a:t>
            </a:r>
            <a:r>
              <a:rPr lang="en-US" sz="2000" dirty="0">
                <a:latin typeface="Times New Roman"/>
                <a:ea typeface="Times New Roman"/>
                <a:cs typeface="Times New Roman"/>
                <a:sym typeface="Times New Roman"/>
              </a:rPr>
              <a:t>to the NIC that is built into the </a:t>
            </a:r>
            <a:r>
              <a:rPr lang="en-US" sz="2000" dirty="0" smtClean="0">
                <a:latin typeface="Times New Roman"/>
                <a:ea typeface="Times New Roman"/>
                <a:cs typeface="Times New Roman"/>
                <a:sym typeface="Times New Roman"/>
              </a:rPr>
              <a:t>device</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Features of a MAC address:</a:t>
            </a:r>
          </a:p>
          <a:p>
            <a:pPr marL="146050" lvl="0">
              <a:buClr>
                <a:srgbClr val="CC9A00"/>
              </a:buClr>
              <a:buSzPts val="1300"/>
            </a:pPr>
            <a:endParaRPr lang="en-US" sz="2000" dirty="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address is unique.</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is written in hexadecimal.</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has 12 digits and the digits are grouped in pairs.</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pair of digits is separated by a colon.</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first three pairs of digits are the manufacturer's ID.</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second three pairs are the serial number of the device</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Example - 3C:5A:B4:01:63:D2</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Used </a:t>
            </a:r>
            <a:r>
              <a:rPr lang="en-US" sz="2000" dirty="0">
                <a:latin typeface="Times New Roman"/>
                <a:ea typeface="Times New Roman"/>
                <a:cs typeface="Times New Roman"/>
                <a:sym typeface="Times New Roman"/>
              </a:rPr>
              <a:t>in a LAN when data is sent from one device to another within the LAN</a:t>
            </a: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22</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49273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IP Address</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An </a:t>
            </a:r>
            <a:r>
              <a:rPr lang="en-US" sz="2000" dirty="0">
                <a:latin typeface="Times New Roman"/>
                <a:ea typeface="Times New Roman"/>
                <a:cs typeface="Times New Roman"/>
                <a:sym typeface="Times New Roman"/>
              </a:rPr>
              <a:t>IP address (Internet Protocol </a:t>
            </a:r>
            <a:r>
              <a:rPr lang="en-US" sz="2000" dirty="0" smtClean="0">
                <a:latin typeface="Times New Roman"/>
                <a:ea typeface="Times New Roman"/>
                <a:cs typeface="Times New Roman"/>
                <a:sym typeface="Times New Roman"/>
              </a:rPr>
              <a:t>Address</a:t>
            </a:r>
            <a:r>
              <a:rPr lang="en-US" sz="2000" dirty="0">
                <a:latin typeface="Times New Roman"/>
                <a:ea typeface="Times New Roman"/>
                <a:cs typeface="Times New Roman"/>
                <a:sym typeface="Times New Roman"/>
              </a:rPr>
              <a:t>) is a unique numerical identifier assigned to each device connected to a network that uses the Internet Protocol for communication</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IP address is use to </a:t>
            </a:r>
            <a:r>
              <a:rPr lang="en-US" sz="2000" dirty="0">
                <a:latin typeface="Times New Roman"/>
                <a:ea typeface="Times New Roman"/>
                <a:cs typeface="Times New Roman"/>
                <a:sym typeface="Times New Roman"/>
              </a:rPr>
              <a:t>uniquely </a:t>
            </a:r>
            <a:r>
              <a:rPr lang="en-US" sz="2000" dirty="0" smtClean="0">
                <a:latin typeface="Times New Roman"/>
                <a:ea typeface="Times New Roman"/>
                <a:cs typeface="Times New Roman"/>
                <a:sym typeface="Times New Roman"/>
              </a:rPr>
              <a:t>identify </a:t>
            </a:r>
            <a:r>
              <a:rPr lang="en-US" sz="2000" dirty="0">
                <a:latin typeface="Times New Roman"/>
                <a:ea typeface="Times New Roman"/>
                <a:cs typeface="Times New Roman"/>
                <a:sym typeface="Times New Roman"/>
              </a:rPr>
              <a:t>a device on the </a:t>
            </a:r>
            <a:r>
              <a:rPr lang="en-US" sz="2000" dirty="0" smtClean="0">
                <a:latin typeface="Times New Roman"/>
                <a:ea typeface="Times New Roman"/>
                <a:cs typeface="Times New Roman"/>
                <a:sym typeface="Times New Roman"/>
              </a:rPr>
              <a:t>network and to </a:t>
            </a:r>
            <a:r>
              <a:rPr lang="en-US" sz="2000" dirty="0">
                <a:latin typeface="Times New Roman"/>
                <a:ea typeface="Times New Roman"/>
                <a:cs typeface="Times New Roman"/>
                <a:sym typeface="Times New Roman"/>
              </a:rPr>
              <a:t>determine where the device is located in the </a:t>
            </a: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so data can be sent to and from it</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cs typeface="Times New Roman"/>
                <a:sym typeface="Times New Roman"/>
              </a:rPr>
              <a:t>IPV4 </a:t>
            </a:r>
            <a:r>
              <a:rPr lang="en-US" sz="2000" dirty="0">
                <a:latin typeface="Times New Roman"/>
                <a:cs typeface="Times New Roman"/>
                <a:sym typeface="Times New Roman"/>
              </a:rPr>
              <a:t>– 192.168.1.1</a:t>
            </a:r>
            <a:endParaRPr lang="en-US" sz="2000" dirty="0" smtClean="0">
              <a:latin typeface="Times New Roman"/>
              <a:cs typeface="Times New Roman"/>
              <a:sym typeface="Times New Roman"/>
            </a:endParaRPr>
          </a:p>
          <a:p>
            <a:pPr marL="146050" lvl="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IPV6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2001:0db8:85a3:0000:0000:8a2e:0370:7334</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sender includes the destination IP address in the data packet. Routers use this IP address to forward the packet to the correct destination.</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23</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0968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Data Packet</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24</a:t>
            </a:fld>
            <a:endParaRPr/>
          </a:p>
        </p:txBody>
      </p:sp>
      <p:pic>
        <p:nvPicPr>
          <p:cNvPr id="1026" name="Picture 2" descr="Data Packets - Conquer Computer Sc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531" y="2705346"/>
            <a:ext cx="6578530" cy="3700423"/>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56;p8"/>
          <p:cNvSpPr txBox="1"/>
          <p:nvPr/>
        </p:nvSpPr>
        <p:spPr>
          <a:xfrm>
            <a:off x="883805" y="168328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unit of data that contains the information to be transmitted across a network</a:t>
            </a:r>
            <a:endParaRPr lang="en-US" sz="2000" dirty="0" smtClean="0">
              <a:latin typeface="Times New Roman"/>
              <a:ea typeface="Times New Roman"/>
              <a:cs typeface="Times New Roman"/>
              <a:sym typeface="Times New Roman"/>
            </a:endParaRPr>
          </a:p>
        </p:txBody>
      </p:sp>
    </p:spTree>
    <p:extLst>
      <p:ext uri="{BB962C8B-B14F-4D97-AF65-F5344CB8AC3E}">
        <p14:creationId xmlns:p14="http://schemas.microsoft.com/office/powerpoint/2010/main" val="216251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2084</TotalTime>
  <Words>1557</Words>
  <Application>Microsoft Office PowerPoint</Application>
  <PresentationFormat>Custom</PresentationFormat>
  <Paragraphs>168</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CiscoSansTT</vt:lpstr>
      <vt:lpstr>Noto Sans Symbols</vt:lpstr>
      <vt:lpstr>Times New Roman</vt:lpstr>
      <vt:lpstr>Wingdings</vt:lpstr>
      <vt:lpstr>Office Theme</vt:lpstr>
      <vt:lpstr>COMPUTER NETWORKS </vt:lpstr>
      <vt:lpstr>What is a Computer Network? </vt:lpstr>
      <vt:lpstr>Components of Data Communication System  </vt:lpstr>
      <vt:lpstr>Components of Data Communication System  </vt:lpstr>
      <vt:lpstr>Transmission Media </vt:lpstr>
      <vt:lpstr>Twisted pair cable</vt:lpstr>
      <vt:lpstr>Coaxial cable</vt:lpstr>
      <vt:lpstr>Fiber optic cable</vt:lpstr>
      <vt:lpstr>Microwaves</vt:lpstr>
      <vt:lpstr>Radio waves</vt:lpstr>
      <vt:lpstr>Components of Data Communication System  </vt:lpstr>
      <vt:lpstr>Ethernet</vt:lpstr>
      <vt:lpstr>Install Packet Tracer</vt:lpstr>
      <vt:lpstr>Network Infrastructure</vt:lpstr>
      <vt:lpstr>PowerPoint Presentation</vt:lpstr>
      <vt:lpstr>Network Interface Card (NIC)</vt:lpstr>
      <vt:lpstr>Hub</vt:lpstr>
      <vt:lpstr>Switch</vt:lpstr>
      <vt:lpstr>PowerPoint Presentation</vt:lpstr>
      <vt:lpstr>The Bit</vt:lpstr>
      <vt:lpstr>The Bit</vt:lpstr>
      <vt:lpstr>MAC Address</vt:lpstr>
      <vt:lpstr>IP Address</vt:lpstr>
      <vt:lpstr>Data Packet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System Administration</dc:title>
  <dc:creator>Chamindu</dc:creator>
  <cp:lastModifiedBy>Chamindu Bandara / Software Developer</cp:lastModifiedBy>
  <cp:revision>68</cp:revision>
  <dcterms:modified xsi:type="dcterms:W3CDTF">2025-07-03T11:18:19Z</dcterms:modified>
</cp:coreProperties>
</file>