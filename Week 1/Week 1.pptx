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3"/>
  </p:notesMasterIdLst>
  <p:sldIdLst>
    <p:sldId id="331" r:id="rId2"/>
    <p:sldId id="305" r:id="rId3"/>
    <p:sldId id="332" r:id="rId4"/>
    <p:sldId id="333" r:id="rId5"/>
    <p:sldId id="334" r:id="rId6"/>
    <p:sldId id="335" r:id="rId7"/>
    <p:sldId id="336" r:id="rId8"/>
    <p:sldId id="337" r:id="rId9"/>
    <p:sldId id="310" r:id="rId10"/>
    <p:sldId id="338" r:id="rId11"/>
    <p:sldId id="339" r:id="rId12"/>
    <p:sldId id="340" r:id="rId13"/>
    <p:sldId id="341" r:id="rId14"/>
    <p:sldId id="313" r:id="rId15"/>
    <p:sldId id="342" r:id="rId16"/>
    <p:sldId id="276" r:id="rId17"/>
    <p:sldId id="314" r:id="rId18"/>
    <p:sldId id="315" r:id="rId19"/>
    <p:sldId id="343" r:id="rId20"/>
    <p:sldId id="316" r:id="rId21"/>
    <p:sldId id="319" r:id="rId22"/>
    <p:sldId id="320" r:id="rId23"/>
    <p:sldId id="344" r:id="rId24"/>
    <p:sldId id="345" r:id="rId25"/>
    <p:sldId id="346" r:id="rId26"/>
    <p:sldId id="347" r:id="rId27"/>
    <p:sldId id="348" r:id="rId28"/>
    <p:sldId id="349" r:id="rId29"/>
    <p:sldId id="350" r:id="rId30"/>
    <p:sldId id="351" r:id="rId31"/>
    <p:sldId id="352" r:id="rId32"/>
    <p:sldId id="353" r:id="rId33"/>
    <p:sldId id="354" r:id="rId34"/>
    <p:sldId id="355" r:id="rId35"/>
    <p:sldId id="356" r:id="rId36"/>
    <p:sldId id="357" r:id="rId37"/>
    <p:sldId id="358" r:id="rId38"/>
    <p:sldId id="359" r:id="rId39"/>
    <p:sldId id="360" r:id="rId40"/>
    <p:sldId id="361" r:id="rId41"/>
    <p:sldId id="362" r:id="rId42"/>
    <p:sldId id="363" r:id="rId43"/>
    <p:sldId id="364" r:id="rId44"/>
    <p:sldId id="321" r:id="rId45"/>
    <p:sldId id="323" r:id="rId46"/>
    <p:sldId id="325" r:id="rId47"/>
    <p:sldId id="365" r:id="rId48"/>
    <p:sldId id="367" r:id="rId49"/>
    <p:sldId id="330" r:id="rId50"/>
    <p:sldId id="275" r:id="rId51"/>
    <p:sldId id="368" r:id="rId52"/>
  </p:sldIdLst>
  <p:sldSz cx="10058400" cy="7772400"/>
  <p:notesSz cx="10058400" cy="7772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ide5E5K1qMnAXfCVAS8PAjD/wh6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2" autoAdjust="0"/>
    <p:restoredTop sz="94660"/>
  </p:normalViewPr>
  <p:slideViewPr>
    <p:cSldViewPr snapToGrid="0">
      <p:cViewPr varScale="1">
        <p:scale>
          <a:sx n="77" d="100"/>
          <a:sy n="77" d="100"/>
        </p:scale>
        <p:origin x="1378" y="7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76725" y="582925"/>
            <a:ext cx="6705925"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5825" y="3691875"/>
            <a:ext cx="80467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1063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628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6789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136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8994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875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0213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4579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8600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349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5769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9839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4212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5710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7873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0080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4633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6592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052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1398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69128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4177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40760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1326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29588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8087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2012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0566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53384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4843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829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1126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76800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66963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43522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39475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47946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61404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44942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49147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34421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1157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037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5297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28818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0312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33528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8600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2eabb2b389b_0_12:notes"/>
          <p:cNvSpPr txBox="1">
            <a:spLocks noGrp="1"/>
          </p:cNvSpPr>
          <p:nvPr>
            <p:ph type="body" idx="1"/>
          </p:nvPr>
        </p:nvSpPr>
        <p:spPr>
          <a:xfrm>
            <a:off x="1005825" y="3691875"/>
            <a:ext cx="8046600" cy="349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g2eabb2b389b_0_12:notes"/>
          <p:cNvSpPr>
            <a:spLocks noGrp="1" noRot="1" noChangeAspect="1"/>
          </p:cNvSpPr>
          <p:nvPr>
            <p:ph type="sldImg" idx="2"/>
          </p:nvPr>
        </p:nvSpPr>
        <p:spPr>
          <a:xfrm>
            <a:off x="3143250" y="582613"/>
            <a:ext cx="3771900" cy="29146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5391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
        <p:cNvGrpSpPr/>
        <p:nvPr/>
      </p:nvGrpSpPr>
      <p:grpSpPr>
        <a:xfrm>
          <a:off x="0" y="0"/>
          <a:ext cx="0" cy="0"/>
          <a:chOff x="0" y="0"/>
          <a:chExt cx="0" cy="0"/>
        </a:xfrm>
      </p:grpSpPr>
      <p:sp>
        <p:nvSpPr>
          <p:cNvPr id="14" name="Google Shape;14;p17"/>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7"/>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800" b="0" i="0">
                <a:solidFill>
                  <a:srgbClr val="006533"/>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6" name="Google Shape;16;p17"/>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19"/>
          <p:cNvSpPr txBox="1">
            <a:spLocks noGrp="1"/>
          </p:cNvSpPr>
          <p:nvPr>
            <p:ph type="ctrTitle"/>
          </p:nvPr>
        </p:nvSpPr>
        <p:spPr>
          <a:xfrm>
            <a:off x="754380" y="2409444"/>
            <a:ext cx="8549640" cy="163220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9"/>
          <p:cNvSpPr txBox="1">
            <a:spLocks noGrp="1"/>
          </p:cNvSpPr>
          <p:nvPr>
            <p:ph type="subTitle" idx="1"/>
          </p:nvPr>
        </p:nvSpPr>
        <p:spPr>
          <a:xfrm>
            <a:off x="1508760" y="4352544"/>
            <a:ext cx="7040880" cy="19431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9"/>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rgbClr val="006533"/>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0"/>
          <p:cNvSpPr txBox="1">
            <a:spLocks noGrp="1"/>
          </p:cNvSpPr>
          <p:nvPr>
            <p:ph type="body" idx="1"/>
          </p:nvPr>
        </p:nvSpPr>
        <p:spPr>
          <a:xfrm>
            <a:off x="502920"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2"/>
          </p:nvPr>
        </p:nvSpPr>
        <p:spPr>
          <a:xfrm>
            <a:off x="5180076" y="1787652"/>
            <a:ext cx="4375404" cy="512978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7"/>
        <p:cNvGrpSpPr/>
        <p:nvPr/>
      </p:nvGrpSpPr>
      <p:grpSpPr>
        <a:xfrm>
          <a:off x="0" y="0"/>
          <a:ext cx="0" cy="0"/>
          <a:chOff x="0" y="0"/>
          <a:chExt cx="0" cy="0"/>
        </a:xfrm>
      </p:grpSpPr>
      <p:sp>
        <p:nvSpPr>
          <p:cNvPr id="38" name="Google Shape;38;p21"/>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1"/>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1"/>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p:nvPr/>
        </p:nvSpPr>
        <p:spPr>
          <a:xfrm>
            <a:off x="829056" y="676655"/>
            <a:ext cx="8238490" cy="619125"/>
          </a:xfrm>
          <a:custGeom>
            <a:avLst/>
            <a:gdLst/>
            <a:ahLst/>
            <a:cxnLst/>
            <a:rect l="l" t="t" r="r" b="b"/>
            <a:pathLst>
              <a:path w="8238490" h="619125" extrusionOk="0">
                <a:moveTo>
                  <a:pt x="8238490" y="0"/>
                </a:moveTo>
                <a:lnTo>
                  <a:pt x="19050" y="0"/>
                </a:lnTo>
                <a:lnTo>
                  <a:pt x="8890" y="0"/>
                </a:lnTo>
                <a:lnTo>
                  <a:pt x="0" y="0"/>
                </a:lnTo>
                <a:lnTo>
                  <a:pt x="0" y="618744"/>
                </a:lnTo>
                <a:lnTo>
                  <a:pt x="8890" y="618744"/>
                </a:lnTo>
                <a:lnTo>
                  <a:pt x="8890" y="14224"/>
                </a:lnTo>
                <a:lnTo>
                  <a:pt x="13970" y="14224"/>
                </a:lnTo>
                <a:lnTo>
                  <a:pt x="9144" y="19050"/>
                </a:lnTo>
                <a:lnTo>
                  <a:pt x="9144" y="618744"/>
                </a:lnTo>
                <a:lnTo>
                  <a:pt x="19050" y="618744"/>
                </a:lnTo>
                <a:lnTo>
                  <a:pt x="19050" y="19050"/>
                </a:lnTo>
                <a:lnTo>
                  <a:pt x="8238490" y="19050"/>
                </a:lnTo>
                <a:lnTo>
                  <a:pt x="8238490" y="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16"/>
          <p:cNvSpPr/>
          <p:nvPr/>
        </p:nvSpPr>
        <p:spPr>
          <a:xfrm>
            <a:off x="914400" y="6620256"/>
            <a:ext cx="8229600" cy="19050"/>
          </a:xfrm>
          <a:custGeom>
            <a:avLst/>
            <a:gdLst/>
            <a:ahLst/>
            <a:cxnLst/>
            <a:rect l="l" t="t" r="r" b="b"/>
            <a:pathLst>
              <a:path w="8229600" h="19050" extrusionOk="0">
                <a:moveTo>
                  <a:pt x="8229600" y="19050"/>
                </a:moveTo>
                <a:lnTo>
                  <a:pt x="8229600" y="0"/>
                </a:lnTo>
                <a:lnTo>
                  <a:pt x="0" y="0"/>
                </a:lnTo>
                <a:lnTo>
                  <a:pt x="0" y="19050"/>
                </a:lnTo>
                <a:lnTo>
                  <a:pt x="8229600" y="19050"/>
                </a:lnTo>
                <a:close/>
              </a:path>
            </a:pathLst>
          </a:custGeom>
          <a:solidFill>
            <a:srgbClr val="CC99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16"/>
          <p:cNvSpPr txBox="1">
            <a:spLocks noGrp="1"/>
          </p:cNvSpPr>
          <p:nvPr>
            <p:ph type="title"/>
          </p:nvPr>
        </p:nvSpPr>
        <p:spPr>
          <a:xfrm>
            <a:off x="3917822" y="3268472"/>
            <a:ext cx="2222754" cy="63563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rgbClr val="006533"/>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16"/>
          <p:cNvSpPr txBox="1">
            <a:spLocks noGrp="1"/>
          </p:cNvSpPr>
          <p:nvPr>
            <p:ph type="body" idx="1"/>
          </p:nvPr>
        </p:nvSpPr>
        <p:spPr>
          <a:xfrm>
            <a:off x="967739" y="1415005"/>
            <a:ext cx="6968490" cy="303466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6533"/>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0" name="Google Shape;10;p16"/>
          <p:cNvSpPr txBox="1">
            <a:spLocks noGrp="1"/>
          </p:cNvSpPr>
          <p:nvPr>
            <p:ph type="ftr" idx="11"/>
          </p:nvPr>
        </p:nvSpPr>
        <p:spPr>
          <a:xfrm>
            <a:off x="3419856" y="7228332"/>
            <a:ext cx="3218688" cy="38862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dt" idx="10"/>
          </p:nvPr>
        </p:nvSpPr>
        <p:spPr>
          <a:xfrm>
            <a:off x="502920" y="7228332"/>
            <a:ext cx="2313432" cy="38862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6"/>
          <p:cNvSpPr txBox="1">
            <a:spLocks noGrp="1"/>
          </p:cNvSpPr>
          <p:nvPr>
            <p:ph type="sldNum" idx="12"/>
          </p:nvPr>
        </p:nvSpPr>
        <p:spPr>
          <a:xfrm>
            <a:off x="8869680" y="6925793"/>
            <a:ext cx="220345" cy="196850"/>
          </a:xfrm>
          <a:prstGeom prst="rect">
            <a:avLst/>
          </a:prstGeom>
          <a:noFill/>
          <a:ln>
            <a:noFill/>
          </a:ln>
        </p:spPr>
        <p:txBody>
          <a:bodyPr spcFirstLastPara="1" wrap="square" lIns="0" tIns="0" rIns="0" bIns="0" anchor="t" anchorCtr="0">
            <a:spAutoFit/>
          </a:bodyPr>
          <a:lstStyle>
            <a:lvl1pPr marL="38100" marR="0" lvl="0"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1pPr>
            <a:lvl2pPr marL="38100" marR="0" lvl="1"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2pPr>
            <a:lvl3pPr marL="38100" marR="0" lvl="2"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3pPr>
            <a:lvl4pPr marL="38100" marR="0" lvl="3"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4pPr>
            <a:lvl5pPr marL="38100" marR="0" lvl="4"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5pPr>
            <a:lvl6pPr marL="38100" marR="0" lvl="5"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6pPr>
            <a:lvl7pPr marL="38100" marR="0" lvl="6"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7pPr>
            <a:lvl8pPr marL="38100" marR="0" lvl="7"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8pPr>
            <a:lvl9pPr marL="38100" marR="0" lvl="8" indent="0" algn="l" rtl="0">
              <a:lnSpc>
                <a:spcPct val="114583"/>
              </a:lnSpc>
              <a:spcBef>
                <a:spcPts val="0"/>
              </a:spcBef>
              <a:spcAft>
                <a:spcPts val="0"/>
              </a:spcAft>
              <a:buClr>
                <a:srgbClr val="000000"/>
              </a:buClr>
              <a:buSzPts val="1200"/>
              <a:buFont typeface="Arial"/>
              <a:buNone/>
              <a:defRPr sz="1200" b="0" i="0" u="none" strike="noStrike" cap="none">
                <a:solidFill>
                  <a:schemeClr val="dk1"/>
                </a:solidFill>
                <a:latin typeface="Times New Roman"/>
                <a:ea typeface="Times New Roman"/>
                <a:cs typeface="Times New Roman"/>
                <a:sym typeface="Times New Roman"/>
              </a:defRPr>
            </a:lvl9pPr>
          </a:lstStyle>
          <a:p>
            <a:pPr marL="3810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1510747" y="2819000"/>
            <a:ext cx="7136601" cy="936154"/>
          </a:xfrm>
          <a:prstGeom prst="rect">
            <a:avLst/>
          </a:prstGeom>
          <a:noFill/>
          <a:ln>
            <a:noFill/>
          </a:ln>
        </p:spPr>
        <p:txBody>
          <a:bodyPr spcFirstLastPara="1" wrap="square" lIns="0" tIns="12700" rIns="0" bIns="0" anchor="t" anchorCtr="0">
            <a:spAutoFit/>
          </a:bodyPr>
          <a:lstStyle/>
          <a:p>
            <a:pPr lvl="0" algn="ctr"/>
            <a:r>
              <a:rPr lang="en-US" sz="6000" dirty="0" smtClean="0"/>
              <a:t>Computer Networks</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a:t>
            </a:fld>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4628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What </a:t>
            </a:r>
            <a:r>
              <a:rPr lang="en-US" dirty="0" smtClean="0"/>
              <a:t>is a Computer Network?</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network is a collection of two or more devices that are connected together to share resources, exchange data, and communicate with each other.</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p:nvPr/>
        </p:nvPicPr>
        <p:blipFill>
          <a:blip r:embed="rId3"/>
          <a:stretch>
            <a:fillRect/>
          </a:stretch>
        </p:blipFill>
        <p:spPr>
          <a:xfrm>
            <a:off x="2613991" y="3623786"/>
            <a:ext cx="4353877" cy="1972973"/>
          </a:xfrm>
          <a:prstGeom prst="rect">
            <a:avLst/>
          </a:prstGeom>
        </p:spPr>
      </p:pic>
    </p:spTree>
    <p:extLst>
      <p:ext uri="{BB962C8B-B14F-4D97-AF65-F5344CB8AC3E}">
        <p14:creationId xmlns:p14="http://schemas.microsoft.com/office/powerpoint/2010/main" val="4229632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Host / End Device?</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a:t>
            </a:fld>
            <a:endParaRPr/>
          </a:p>
        </p:txBody>
      </p:sp>
      <p:sp>
        <p:nvSpPr>
          <p:cNvPr id="4" name="Google Shape;56;p8"/>
          <p:cNvSpPr txBox="1"/>
          <p:nvPr/>
        </p:nvSpPr>
        <p:spPr>
          <a:xfrm>
            <a:off x="993900" y="1833375"/>
            <a:ext cx="8142000" cy="237627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panose="02020603050405020304" pitchFamily="18" charset="0"/>
                <a:cs typeface="Times New Roman" panose="02020603050405020304" pitchFamily="18" charset="0"/>
              </a:rPr>
              <a:t>All devices that are connected to a network and participate directly in network communication are classified as hosts</a:t>
            </a:r>
            <a:r>
              <a:rPr lang="en-US" sz="2000" dirty="0" smtClean="0">
                <a:latin typeface="Times New Roman" panose="02020603050405020304" pitchFamily="18" charset="0"/>
                <a:cs typeface="Times New Roman" panose="02020603050405020304" pitchFamily="18" charset="0"/>
              </a:rPr>
              <a:t>.</a:t>
            </a:r>
          </a:p>
          <a:p>
            <a:pPr marL="146050">
              <a:buClr>
                <a:srgbClr val="CC9A00"/>
              </a:buClr>
              <a:buSzPts val="1300"/>
            </a:pPr>
            <a:endParaRPr lang="en-US" sz="2000" dirty="0" smtClean="0">
              <a:latin typeface="Times New Roman" panose="02020603050405020304" pitchFamily="18" charset="0"/>
              <a:cs typeface="Times New Roman" panose="02020603050405020304" pitchFamily="18" charset="0"/>
            </a:endParaRPr>
          </a:p>
          <a:p>
            <a:pPr marL="457200" indent="-311150">
              <a:buClr>
                <a:srgbClr val="CC9A00"/>
              </a:buClr>
              <a:buSzPts val="1300"/>
              <a:buFont typeface="Noto Sans Symbols"/>
              <a:buChar char="❑"/>
            </a:pPr>
            <a:r>
              <a:rPr lang="en-US" sz="2000" dirty="0">
                <a:latin typeface="Times New Roman" panose="02020603050405020304" pitchFamily="18" charset="0"/>
                <a:cs typeface="Times New Roman" panose="02020603050405020304" pitchFamily="18" charset="0"/>
              </a:rPr>
              <a:t>Hosts are also called end devices</a:t>
            </a:r>
            <a:r>
              <a:rPr lang="en-US" sz="2000" dirty="0" smtClean="0">
                <a:latin typeface="Times New Roman" panose="02020603050405020304" pitchFamily="18" charset="0"/>
                <a:cs typeface="Times New Roman" panose="02020603050405020304" pitchFamily="18" charset="0"/>
              </a:rPr>
              <a:t>.</a:t>
            </a:r>
          </a:p>
          <a:p>
            <a:pPr marL="146050">
              <a:buClr>
                <a:srgbClr val="CC9A00"/>
              </a:buClr>
              <a:buSzPts val="1300"/>
            </a:pPr>
            <a:endParaRPr lang="en-US" sz="2000" dirty="0" smtClean="0">
              <a:latin typeface="Times New Roman" panose="02020603050405020304" pitchFamily="18" charset="0"/>
              <a:cs typeface="Times New Roman" panose="02020603050405020304" pitchFamily="18" charset="0"/>
            </a:endParaRPr>
          </a:p>
          <a:p>
            <a:pPr marL="457200" indent="-311150">
              <a:buClr>
                <a:srgbClr val="CC9A00"/>
              </a:buClr>
              <a:buSzPts val="1300"/>
              <a:buFont typeface="Noto Sans Symbols"/>
              <a:buChar char="❑"/>
            </a:pPr>
            <a:r>
              <a:rPr lang="en-US" sz="2000" dirty="0">
                <a:latin typeface="Times New Roman" panose="02020603050405020304" pitchFamily="18" charset="0"/>
                <a:cs typeface="Times New Roman" panose="02020603050405020304" pitchFamily="18" charset="0"/>
              </a:rPr>
              <a:t>Example: Computers, Servers, Smartphones, Printers, and etc.</a:t>
            </a:r>
          </a:p>
          <a:p>
            <a:pPr marL="457200" lvl="0" indent="-311150">
              <a:buClr>
                <a:srgbClr val="CC9A00"/>
              </a:buClr>
              <a:buSzPts val="1300"/>
              <a:buFont typeface="Noto Sans Symbols"/>
              <a:buChar char="❑"/>
            </a:pP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251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Client?</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client is a type of host that requests services from another device. Clients use software to request and display information received from servers.</a:t>
            </a:r>
            <a:endParaRPr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803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Server?</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server is a type of host that provides services to other devices. Servers run software that allows them to provide information and services, often to multiple clients simultaneously.</a:t>
            </a:r>
            <a:endParaRPr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5742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639956" y="1858617"/>
            <a:ext cx="6798366" cy="3568148"/>
          </a:xfrm>
          <a:prstGeom prst="rect">
            <a:avLst/>
          </a:prstGeom>
        </p:spPr>
      </p:pic>
    </p:spTree>
    <p:extLst>
      <p:ext uri="{BB962C8B-B14F-4D97-AF65-F5344CB8AC3E}">
        <p14:creationId xmlns:p14="http://schemas.microsoft.com/office/powerpoint/2010/main" val="39583052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Intermediary </a:t>
            </a:r>
            <a:r>
              <a:rPr lang="en-US" dirty="0" smtClean="0"/>
              <a:t>Devices</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7</a:t>
            </a:fld>
            <a:endParaRPr/>
          </a:p>
        </p:txBody>
      </p:sp>
      <p:sp>
        <p:nvSpPr>
          <p:cNvPr id="4" name="Google Shape;56;p8"/>
          <p:cNvSpPr txBox="1"/>
          <p:nvPr/>
        </p:nvSpPr>
        <p:spPr>
          <a:xfrm>
            <a:off x="993900" y="1833375"/>
            <a:ext cx="8142000" cy="163761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Network devices that connect hosts and help manage the flow of data across the network</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They do not generate or consume data like end devices, but instead forward, direct, and control data traffic between devices.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p:nvPr/>
        </p:nvPicPr>
        <p:blipFill>
          <a:blip r:embed="rId3"/>
          <a:stretch>
            <a:fillRect/>
          </a:stretch>
        </p:blipFill>
        <p:spPr>
          <a:xfrm>
            <a:off x="2782956" y="3730265"/>
            <a:ext cx="4184374" cy="2591021"/>
          </a:xfrm>
          <a:prstGeom prst="rect">
            <a:avLst/>
          </a:prstGeom>
        </p:spPr>
      </p:pic>
    </p:spTree>
    <p:extLst>
      <p:ext uri="{BB962C8B-B14F-4D97-AF65-F5344CB8AC3E}">
        <p14:creationId xmlns:p14="http://schemas.microsoft.com/office/powerpoint/2010/main" val="40547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Intermediary </a:t>
            </a:r>
            <a:r>
              <a:rPr lang="en-US" dirty="0" smtClean="0"/>
              <a:t>Devices</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8</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Forward </a:t>
            </a:r>
            <a:r>
              <a:rPr lang="en-US" sz="2000" dirty="0">
                <a:latin typeface="Times New Roman"/>
                <a:ea typeface="Times New Roman"/>
                <a:cs typeface="Times New Roman"/>
                <a:sym typeface="Times New Roman"/>
              </a:rPr>
              <a:t>data to the correct destination</a:t>
            </a:r>
          </a:p>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Determine </a:t>
            </a:r>
            <a:r>
              <a:rPr lang="en-US" sz="2000" dirty="0">
                <a:latin typeface="Times New Roman"/>
                <a:ea typeface="Times New Roman"/>
                <a:cs typeface="Times New Roman"/>
                <a:sym typeface="Times New Roman"/>
              </a:rPr>
              <a:t>the best path for data to travel</a:t>
            </a:r>
          </a:p>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Filter </a:t>
            </a:r>
            <a:r>
              <a:rPr lang="en-US" sz="2000" dirty="0">
                <a:latin typeface="Times New Roman"/>
                <a:ea typeface="Times New Roman"/>
                <a:cs typeface="Times New Roman"/>
                <a:sym typeface="Times New Roman"/>
              </a:rPr>
              <a:t>and secure traffic (Ex: firewalls)</a:t>
            </a:r>
          </a:p>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Connect </a:t>
            </a:r>
            <a:r>
              <a:rPr lang="en-US" sz="2000" dirty="0">
                <a:latin typeface="Times New Roman"/>
                <a:ea typeface="Times New Roman"/>
                <a:cs typeface="Times New Roman"/>
                <a:sym typeface="Times New Roman"/>
              </a:rPr>
              <a:t>different networks together</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207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smtClean="0"/>
              <a:t>Components of Data </a:t>
            </a:r>
            <a:r>
              <a:rPr lang="en-US" dirty="0"/>
              <a:t>C</a:t>
            </a:r>
            <a:r>
              <a:rPr lang="en-US" dirty="0" smtClean="0"/>
              <a:t>ommunication System</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9</a:t>
            </a:f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8297" y="2614345"/>
            <a:ext cx="6391104" cy="3675418"/>
          </a:xfrm>
          <a:prstGeom prst="rect">
            <a:avLst/>
          </a:prstGeom>
        </p:spPr>
      </p:pic>
    </p:spTree>
    <p:extLst>
      <p:ext uri="{BB962C8B-B14F-4D97-AF65-F5344CB8AC3E}">
        <p14:creationId xmlns:p14="http://schemas.microsoft.com/office/powerpoint/2010/main" val="9740031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1. Sender</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10</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device that initiates (sends) the data.</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648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2. Receiver</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11</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The device that receives the data.</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459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Question:</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12</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Is the client always the sender and the server always the receiver?</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512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13</a:t>
            </a:fld>
            <a:endParaRPr/>
          </a:p>
        </p:txBody>
      </p:sp>
      <p:sp>
        <p:nvSpPr>
          <p:cNvPr id="4" name="Google Shape;56;p8"/>
          <p:cNvSpPr txBox="1"/>
          <p:nvPr/>
        </p:nvSpPr>
        <p:spPr>
          <a:xfrm>
            <a:off x="1143000" y="1833375"/>
            <a:ext cx="7772705" cy="2279840"/>
          </a:xfrm>
          <a:prstGeom prst="rect">
            <a:avLst/>
          </a:prstGeom>
          <a:noFill/>
          <a:ln>
            <a:noFill/>
          </a:ln>
        </p:spPr>
        <p:txBody>
          <a:bodyPr spcFirstLastPara="1" wrap="square" lIns="0" tIns="97775" rIns="0" bIns="0" anchor="t" anchorCtr="0">
            <a:spAutoFit/>
          </a:bodyPr>
          <a:lstStyle/>
          <a:p>
            <a:pPr>
              <a:lnSpc>
                <a:spcPct val="107000"/>
              </a:lnSpc>
              <a:spcAft>
                <a:spcPts val="800"/>
              </a:spcAft>
            </a:pPr>
            <a:r>
              <a:rPr lang="en-US" sz="2000" dirty="0">
                <a:latin typeface="Calibri" panose="020F0502020204030204" pitchFamily="34" charset="0"/>
                <a:ea typeface="Calibri" panose="020F0502020204030204" pitchFamily="34" charset="0"/>
                <a:cs typeface="Iskoola Pota"/>
              </a:rPr>
              <a:t>No</a:t>
            </a:r>
            <a:endParaRPr lang="en-US" sz="1800" dirty="0">
              <a:latin typeface="Calibri" panose="020F0502020204030204" pitchFamily="34" charset="0"/>
              <a:ea typeface="Calibri" panose="020F0502020204030204" pitchFamily="34" charset="0"/>
              <a:cs typeface="Iskoola Pota"/>
            </a:endParaRPr>
          </a:p>
          <a:p>
            <a:pPr>
              <a:lnSpc>
                <a:spcPct val="107000"/>
              </a:lnSpc>
              <a:spcAft>
                <a:spcPts val="800"/>
              </a:spcAft>
            </a:pPr>
            <a:r>
              <a:rPr lang="en-US" sz="2000" dirty="0">
                <a:latin typeface="Calibri" panose="020F0502020204030204" pitchFamily="34" charset="0"/>
                <a:ea typeface="Calibri" panose="020F0502020204030204" pitchFamily="34" charset="0"/>
                <a:cs typeface="Iskoola Pota"/>
              </a:rPr>
              <a:t>A client and a server can both act as sender or receiver depending on the direction of communication. For example, when a client request data, it is the sender and the server is the receiver. When the server sends the requested data back, the server becomes the sender and the client becomes the receiver.</a:t>
            </a:r>
            <a:endParaRPr lang="en-US" sz="1800" dirty="0">
              <a:effectLst/>
              <a:latin typeface="Calibri" panose="020F0502020204030204" pitchFamily="34" charset="0"/>
              <a:ea typeface="Calibri" panose="020F0502020204030204" pitchFamily="34" charset="0"/>
              <a:cs typeface="Iskoola Pota"/>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883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3. Transmission </a:t>
            </a:r>
            <a:r>
              <a:rPr lang="en-US" dirty="0" smtClean="0"/>
              <a:t>Media</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14</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a:t>
            </a:r>
            <a:r>
              <a:rPr lang="en-US" sz="2000" dirty="0" smtClean="0">
                <a:latin typeface="Times New Roman"/>
                <a:ea typeface="Times New Roman"/>
                <a:cs typeface="Times New Roman"/>
                <a:sym typeface="Times New Roman"/>
              </a:rPr>
              <a:t>ransmission </a:t>
            </a:r>
            <a:r>
              <a:rPr lang="en-US" sz="2000" dirty="0">
                <a:latin typeface="Times New Roman"/>
                <a:ea typeface="Times New Roman"/>
                <a:cs typeface="Times New Roman"/>
                <a:sym typeface="Times New Roman"/>
              </a:rPr>
              <a:t>media refer to the physical pathways through which data is transmitted from one device to another within a network.</a:t>
            </a:r>
            <a:endParaRPr sz="28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Guided and Unguided M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368" y="2952085"/>
            <a:ext cx="5534025" cy="3423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24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Guided Media (Wired)</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15</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Data travels through a physical path such as cables.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5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Twisted pair cable</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26539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Coaxial cable</a:t>
            </a:r>
            <a:endParaRPr sz="3600" dirty="0"/>
          </a:p>
        </p:txBody>
      </p:sp>
      <p:sp>
        <p:nvSpPr>
          <p:cNvPr id="56" name="Google Shape;56;p8"/>
          <p:cNvSpPr txBox="1"/>
          <p:nvPr/>
        </p:nvSpPr>
        <p:spPr>
          <a:xfrm>
            <a:off x="883805" y="1864906"/>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coaxial cable is a type of copper cable. It has a central copper wire that has an insulated layer, a metal conductor layer and a protective plastic outer layer.</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a:t>
            </a:r>
            <a:r>
              <a:rPr lang="en-US" sz="2000" dirty="0" smtClean="0">
                <a:latin typeface="Times New Roman"/>
                <a:ea typeface="Times New Roman"/>
                <a:cs typeface="Times New Roman"/>
                <a:sym typeface="Times New Roman"/>
              </a:rPr>
              <a:t>coaxial </a:t>
            </a:r>
            <a:r>
              <a:rPr lang="en-US" sz="2000" dirty="0">
                <a:latin typeface="Times New Roman"/>
                <a:ea typeface="Times New Roman"/>
                <a:cs typeface="Times New Roman"/>
                <a:sym typeface="Times New Roman"/>
              </a:rPr>
              <a:t>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radio frequency signals.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at speeds of up to 10 Mbps.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 but not as cheap as twisted pair cables.</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less prone to electromagnetic interference because of the braided metal conductor layer.</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they can be stiff and difficult to bend.</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in cable TV connections and sometimes in internet connections.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17</a:t>
            </a:fld>
            <a:endParaRPr/>
          </a:p>
        </p:txBody>
      </p:sp>
      <p:pic>
        <p:nvPicPr>
          <p:cNvPr id="3" name="Picture 2"/>
          <p:cNvPicPr>
            <a:picLocks noChangeAspect="1"/>
          </p:cNvPicPr>
          <p:nvPr/>
        </p:nvPicPr>
        <p:blipFill>
          <a:blip r:embed="rId3"/>
          <a:stretch>
            <a:fillRect/>
          </a:stretch>
        </p:blipFill>
        <p:spPr>
          <a:xfrm>
            <a:off x="5869858" y="810459"/>
            <a:ext cx="3790954" cy="1112730"/>
          </a:xfrm>
          <a:prstGeom prst="rect">
            <a:avLst/>
          </a:prstGeom>
        </p:spPr>
      </p:pic>
      <p:pic>
        <p:nvPicPr>
          <p:cNvPr id="5122" name="Picture 2" descr="COAXIAL CABLE RF-7 50 Ω - 50 Ω Coaxial Cables - Del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6361" y="2771305"/>
            <a:ext cx="2901839" cy="158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37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Fiber optic cable</a:t>
            </a:r>
            <a:endParaRPr sz="3600" dirty="0"/>
          </a:p>
        </p:txBody>
      </p:sp>
      <p:sp>
        <p:nvSpPr>
          <p:cNvPr id="56" name="Google Shape;56;p8"/>
          <p:cNvSpPr txBox="1"/>
          <p:nvPr/>
        </p:nvSpPr>
        <p:spPr>
          <a:xfrm>
            <a:off x="883805" y="1686902"/>
            <a:ext cx="8142000" cy="4869267"/>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 cable has many very thin strands of glass or plastic that make up the core of the cable. The core is covered by a cladding, which is covered by a plastic coating. This plastic coating is covered by strengthening </a:t>
            </a:r>
            <a:r>
              <a:rPr lang="en-US" sz="2000" dirty="0" smtClean="0">
                <a:latin typeface="Times New Roman"/>
                <a:ea typeface="Times New Roman"/>
                <a:cs typeface="Times New Roman"/>
                <a:sym typeface="Times New Roman"/>
              </a:rPr>
              <a:t>fibers </a:t>
            </a:r>
            <a:r>
              <a:rPr lang="en-US" sz="2000" dirty="0">
                <a:latin typeface="Times New Roman"/>
                <a:ea typeface="Times New Roman"/>
                <a:cs typeface="Times New Roman"/>
                <a:sym typeface="Times New Roman"/>
              </a:rPr>
              <a:t>and then an outer coating.</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fiber optic </a:t>
            </a:r>
            <a:r>
              <a:rPr lang="en-US" sz="2000" dirty="0" smtClean="0">
                <a:latin typeface="Times New Roman"/>
                <a:ea typeface="Times New Roman"/>
                <a:cs typeface="Times New Roman"/>
                <a:sym typeface="Times New Roman"/>
              </a:rPr>
              <a:t>cables.</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light.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speeds of 1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expensive to manufacture.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not prone to electromagnetic interference.</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difficult to install, as the cables can be fragile.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often used for internet connection and transmitting data over long distances.</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18</a:t>
            </a:fld>
            <a:endParaRPr/>
          </a:p>
        </p:txBody>
      </p:sp>
      <p:pic>
        <p:nvPicPr>
          <p:cNvPr id="4098" name="Picture 2" descr="Fiber Optic Cable - Elevating Your Project Profits with Superior Fiber Optic  Patch Cor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530" y="3004317"/>
            <a:ext cx="3109342" cy="20691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6120581" y="686092"/>
            <a:ext cx="3550784" cy="1101193"/>
          </a:xfrm>
          <a:prstGeom prst="rect">
            <a:avLst/>
          </a:prstGeom>
        </p:spPr>
      </p:pic>
    </p:spTree>
    <p:extLst>
      <p:ext uri="{BB962C8B-B14F-4D97-AF65-F5344CB8AC3E}">
        <p14:creationId xmlns:p14="http://schemas.microsoft.com/office/powerpoint/2010/main" val="411492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Unguided Media (Wireless)</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19</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Data travels through the air (no physical connection) using electromagnetic waves.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40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Microwaves</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9662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074" name="Picture 2" descr="Ultimate Guide to Twisted Pai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5157" y="3097161"/>
            <a:ext cx="3233244" cy="1818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6825156" y="777656"/>
            <a:ext cx="3073044" cy="1098253"/>
          </a:xfrm>
          <a:prstGeom prst="rect">
            <a:avLst/>
          </a:prstGeom>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Radio waves</a:t>
            </a:r>
            <a:endParaRPr sz="3600" dirty="0"/>
          </a:p>
        </p:txBody>
      </p:sp>
      <p:sp>
        <p:nvSpPr>
          <p:cNvPr id="56" name="Google Shape;56;p8"/>
          <p:cNvSpPr txBox="1"/>
          <p:nvPr/>
        </p:nvSpPr>
        <p:spPr>
          <a:xfrm>
            <a:off x="883805" y="1864906"/>
            <a:ext cx="8142000" cy="514626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twisted pair cable is a type of copper cable that has two copper wires. Each copper wire has an insulated layer. The two copper wires are twisted around each other, and there is an outer plastic layer covering them.</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C</a:t>
            </a:r>
            <a:r>
              <a:rPr lang="en-US" sz="2000" dirty="0" smtClean="0">
                <a:latin typeface="Times New Roman"/>
                <a:ea typeface="Times New Roman"/>
                <a:cs typeface="Times New Roman"/>
                <a:sym typeface="Times New Roman"/>
              </a:rPr>
              <a:t>haracteristics </a:t>
            </a:r>
            <a:r>
              <a:rPr lang="en-US" sz="2000" dirty="0">
                <a:latin typeface="Times New Roman"/>
                <a:ea typeface="Times New Roman"/>
                <a:cs typeface="Times New Roman"/>
                <a:sym typeface="Times New Roman"/>
              </a:rPr>
              <a:t>of twisted pair cables</a:t>
            </a:r>
            <a:r>
              <a:rPr lang="en-US" sz="2000" dirty="0" smtClean="0">
                <a:latin typeface="Times New Roman"/>
                <a:ea typeface="Times New Roman"/>
                <a:cs typeface="Times New Roman"/>
                <a:sym typeface="Times New Roman"/>
              </a:rPr>
              <a:t>.</a:t>
            </a:r>
            <a:endParaRPr lang="en-US" sz="2000" dirty="0">
              <a:latin typeface="Times New Roman"/>
              <a:ea typeface="Times New Roman"/>
              <a:cs typeface="Times New Roman"/>
              <a:sym typeface="Times New Roman"/>
            </a:endParaRP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transmit data using electrical currents.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transmit data up to a speed of 10 </a:t>
            </a:r>
            <a:r>
              <a:rPr lang="en-US" sz="2000" dirty="0" err="1">
                <a:latin typeface="Times New Roman"/>
                <a:ea typeface="Times New Roman"/>
                <a:cs typeface="Times New Roman"/>
                <a:sym typeface="Times New Roman"/>
              </a:rPr>
              <a:t>Gbps</a:t>
            </a:r>
            <a:r>
              <a:rPr lang="en-US" sz="2000" dirty="0">
                <a:latin typeface="Times New Roman"/>
                <a:ea typeface="Times New Roman"/>
                <a:cs typeface="Times New Roman"/>
                <a:sym typeface="Times New Roman"/>
              </a:rPr>
              <a:t>.</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cheap to manufacture.</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can suffer from electromagnetic interference, so are only used to carry data over short distances.</a:t>
            </a:r>
          </a:p>
          <a:p>
            <a:pPr marL="603250" lvl="0" indent="-457200">
              <a:lnSpc>
                <a:spcPct val="150000"/>
              </a:lnSpc>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easy to install.</a:t>
            </a:r>
          </a:p>
          <a:p>
            <a:pPr marL="603250" lvl="0" indent="-4572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They are mainly used for telephone communications and for </a:t>
            </a: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connections in a local area network within one building.</a:t>
            </a:r>
          </a:p>
          <a:p>
            <a:pPr marL="146050" lvl="0">
              <a:buClr>
                <a:srgbClr val="CC9A00"/>
              </a:buClr>
              <a:buSzPts val="1300"/>
            </a:pP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677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Ethernet</a:t>
            </a:r>
            <a:endParaRPr sz="3600" dirty="0"/>
          </a:p>
        </p:txBody>
      </p:sp>
      <p:sp>
        <p:nvSpPr>
          <p:cNvPr id="56" name="Google Shape;56;p8"/>
          <p:cNvSpPr txBox="1"/>
          <p:nvPr/>
        </p:nvSpPr>
        <p:spPr>
          <a:xfrm>
            <a:off x="883805" y="1864906"/>
            <a:ext cx="8142000" cy="256094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is a wired networking technology used to connect computers, printers, routers, and other devices in a local area network (LAN). </a:t>
            </a:r>
            <a:r>
              <a:rPr lang="en-US" sz="2000" dirty="0" smtClean="0">
                <a:latin typeface="Times New Roman"/>
                <a:ea typeface="Times New Roman"/>
                <a:cs typeface="Times New Roman"/>
                <a:sym typeface="Times New Roman"/>
              </a:rPr>
              <a:t>It (Ethernet protocol) </a:t>
            </a:r>
            <a:r>
              <a:rPr lang="en-US" sz="2000" dirty="0">
                <a:latin typeface="Times New Roman"/>
                <a:ea typeface="Times New Roman"/>
                <a:cs typeface="Times New Roman"/>
                <a:sym typeface="Times New Roman"/>
              </a:rPr>
              <a:t>defines how data is formatted, transmitted, and received over physical cables like Cat5e, Cat6, or fiber optic..</a:t>
            </a:r>
            <a:endParaRPr lang="en-US" sz="2000" dirty="0" smtClean="0">
              <a:latin typeface="Times New Roman"/>
              <a:ea typeface="Times New Roman"/>
              <a:cs typeface="Times New Roman"/>
              <a:sym typeface="Times New Roman"/>
            </a:endParaRPr>
          </a:p>
          <a:p>
            <a:pPr marL="146050" lvl="0">
              <a:buClr>
                <a:srgbClr val="CC9A00"/>
              </a:buClr>
              <a:buSzPts val="1300"/>
            </a:pPr>
            <a:r>
              <a:rPr lang="en-US" sz="2000" dirty="0" smtClean="0">
                <a:latin typeface="Times New Roman"/>
                <a:ea typeface="Times New Roman"/>
                <a:cs typeface="Times New Roman"/>
                <a:sym typeface="Times New Roman"/>
              </a:rPr>
              <a:t> </a:t>
            </a: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Ethernet </a:t>
            </a:r>
            <a:r>
              <a:rPr lang="en-US" sz="2000" dirty="0">
                <a:latin typeface="Times New Roman"/>
                <a:ea typeface="Times New Roman"/>
                <a:cs typeface="Times New Roman"/>
                <a:sym typeface="Times New Roman"/>
              </a:rPr>
              <a:t>cables can be coaxial, twisted pair or </a:t>
            </a:r>
            <a:r>
              <a:rPr lang="en-US" sz="2000" dirty="0" smtClean="0">
                <a:latin typeface="Times New Roman"/>
                <a:ea typeface="Times New Roman"/>
                <a:cs typeface="Times New Roman"/>
                <a:sym typeface="Times New Roman"/>
              </a:rPr>
              <a:t>fiber </a:t>
            </a:r>
            <a:r>
              <a:rPr lang="en-US" sz="2000" dirty="0">
                <a:latin typeface="Times New Roman"/>
                <a:ea typeface="Times New Roman"/>
                <a:cs typeface="Times New Roman"/>
                <a:sym typeface="Times New Roman"/>
              </a:rPr>
              <a:t>optic.</a:t>
            </a:r>
            <a:r>
              <a:rPr lang="en-US" sz="2000" dirty="0" smtClean="0">
                <a:latin typeface="Times New Roman"/>
                <a:ea typeface="Times New Roman"/>
                <a:cs typeface="Times New Roman"/>
                <a:sym typeface="Times New Roman"/>
              </a:rPr>
              <a:t/>
            </a:r>
            <a:br>
              <a:rPr lang="en-US" sz="2000" dirty="0" smtClean="0">
                <a:latin typeface="Times New Roman"/>
                <a:ea typeface="Times New Roman"/>
                <a:cs typeface="Times New Roman"/>
                <a:sym typeface="Times New Roman"/>
              </a:rPr>
            </a:b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LAN – N</a:t>
            </a:r>
            <a:r>
              <a:rPr lang="en-US" sz="2000" dirty="0" smtClean="0">
                <a:latin typeface="Times New Roman"/>
                <a:ea typeface="Times New Roman"/>
                <a:cs typeface="Times New Roman"/>
                <a:sym typeface="Times New Roman"/>
              </a:rPr>
              <a:t>etwork </a:t>
            </a:r>
            <a:r>
              <a:rPr lang="en-US" sz="2000" dirty="0">
                <a:latin typeface="Times New Roman"/>
                <a:ea typeface="Times New Roman"/>
                <a:cs typeface="Times New Roman"/>
                <a:sym typeface="Times New Roman"/>
              </a:rPr>
              <a:t>that is located within a single building or site</a:t>
            </a:r>
            <a:endParaRPr sz="2800" dirty="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22</a:t>
            </a:fld>
            <a:endParaRPr/>
          </a:p>
        </p:txBody>
      </p:sp>
      <p:pic>
        <p:nvPicPr>
          <p:cNvPr id="7" name="Picture 6" descr="ETHERNET CABLE 10Gbps CAT6 10M"/>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4135" y="4464215"/>
            <a:ext cx="2836665" cy="2316278"/>
          </a:xfrm>
          <a:prstGeom prst="rect">
            <a:avLst/>
          </a:prstGeom>
          <a:noFill/>
          <a:ln>
            <a:noFill/>
          </a:ln>
        </p:spPr>
      </p:pic>
    </p:spTree>
    <p:extLst>
      <p:ext uri="{BB962C8B-B14F-4D97-AF65-F5344CB8AC3E}">
        <p14:creationId xmlns:p14="http://schemas.microsoft.com/office/powerpoint/2010/main" val="812778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23</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lnSpc>
                <a:spcPct val="200000"/>
              </a:lnSpc>
              <a:buClr>
                <a:srgbClr val="CC9A00"/>
              </a:buClr>
              <a:buSzPts val="1300"/>
              <a:buFont typeface="Noto Sans Symbols"/>
              <a:buChar char="❑"/>
            </a:pPr>
            <a:r>
              <a:rPr lang="en-US" sz="2000" dirty="0">
                <a:latin typeface="Times New Roman"/>
                <a:ea typeface="Times New Roman"/>
                <a:cs typeface="Times New Roman"/>
                <a:sym typeface="Times New Roman"/>
              </a:rPr>
              <a:t>What is NIC?</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760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2413481"/>
          </a:xfrm>
          <a:prstGeom prst="rect">
            <a:avLst/>
          </a:prstGeom>
          <a:noFill/>
          <a:ln>
            <a:noFill/>
          </a:ln>
        </p:spPr>
        <p:txBody>
          <a:bodyPr spcFirstLastPara="1" wrap="square" lIns="0" tIns="12700" rIns="0" bIns="0" anchor="t" anchorCtr="0">
            <a:spAutoFit/>
          </a:bodyPr>
          <a:lstStyle/>
          <a:p>
            <a:r>
              <a:rPr lang="en-US" dirty="0"/>
              <a:t>NIC?</a:t>
            </a:r>
            <a:br>
              <a:rPr lang="en-US" dirty="0"/>
            </a:b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24</a:t>
            </a:fld>
            <a:endParaRPr/>
          </a:p>
        </p:txBody>
      </p:sp>
      <p:sp>
        <p:nvSpPr>
          <p:cNvPr id="4" name="Google Shape;56;p8"/>
          <p:cNvSpPr txBox="1"/>
          <p:nvPr/>
        </p:nvSpPr>
        <p:spPr>
          <a:xfrm>
            <a:off x="993900" y="1833375"/>
            <a:ext cx="8142000" cy="4099825"/>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NIC (Network Interface Card) is the hardware component that allows a device to connect to a network</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It acts as an interface between the device and the network, enabling the device to send and receive data</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NIC can be wired (Ethernet) or wireless (WNIC</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smtClean="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Modern computers usually have NICs built into the motherboard, Can add one if needed</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b="1" dirty="0">
                <a:latin typeface="Times New Roman"/>
                <a:ea typeface="Times New Roman"/>
                <a:cs typeface="Times New Roman"/>
                <a:sym typeface="Times New Roman"/>
              </a:rPr>
              <a:t>Every NIC has a unique identifier (MAC Address).</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80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rotWithShape="1">
          <a:blip r:embed="rId2"/>
          <a:srcRect l="56489" t="2641" r="1434" b="4285"/>
          <a:stretch/>
        </p:blipFill>
        <p:spPr bwMode="auto">
          <a:xfrm>
            <a:off x="2385280" y="2103478"/>
            <a:ext cx="2902337" cy="2110712"/>
          </a:xfrm>
          <a:prstGeom prst="rect">
            <a:avLst/>
          </a:prstGeom>
          <a:ln>
            <a:noFill/>
          </a:ln>
          <a:extLst>
            <a:ext uri="{53640926-AAD7-44D8-BBD7-CCE9431645EC}">
              <a14:shadowObscured xmlns:a14="http://schemas.microsoft.com/office/drawing/2010/main"/>
            </a:ext>
          </a:extLst>
        </p:spPr>
      </p:pic>
      <p:pic>
        <p:nvPicPr>
          <p:cNvPr id="5" name="Picture 4" descr="Everything You Need to Know About Ethernet Ports and Their Uses – Infinity  Cable Product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9852" y="3541242"/>
            <a:ext cx="4353339" cy="2352662"/>
          </a:xfrm>
          <a:prstGeom prst="rect">
            <a:avLst/>
          </a:prstGeom>
          <a:noFill/>
          <a:ln>
            <a:noFill/>
          </a:ln>
        </p:spPr>
      </p:pic>
    </p:spTree>
    <p:extLst>
      <p:ext uri="{BB962C8B-B14F-4D97-AF65-F5344CB8AC3E}">
        <p14:creationId xmlns:p14="http://schemas.microsoft.com/office/powerpoint/2010/main" val="38669894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26</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Since MAC addresses must be globally unique, how do different vendors coordinate to make sure the same address is not assigned more than once?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371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27</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Vendors don’t randomly generate MAC addresses. They are assigned in a structured way by a central authority called the IEEE.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639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How MAC addresses stay unique</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28</a:t>
            </a:fld>
            <a:endParaRPr/>
          </a:p>
        </p:txBody>
      </p:sp>
      <p:sp>
        <p:nvSpPr>
          <p:cNvPr id="4" name="Google Shape;56;p8"/>
          <p:cNvSpPr txBox="1"/>
          <p:nvPr/>
        </p:nvSpPr>
        <p:spPr>
          <a:xfrm>
            <a:off x="993900" y="1833375"/>
            <a:ext cx="8142000" cy="4715378"/>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 MAC address is 48 bits (like: 00:1A:2B:XX:XX:XX) and is divided into two parts</a:t>
            </a:r>
            <a:r>
              <a:rPr lang="en-US" sz="2000" dirty="0" smtClean="0">
                <a:latin typeface="Times New Roman"/>
                <a:ea typeface="Times New Roman"/>
                <a:cs typeface="Times New Roman"/>
                <a:sym typeface="Times New Roman"/>
              </a:rPr>
              <a:t>:</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1</a:t>
            </a:r>
            <a:r>
              <a:rPr lang="en-US" sz="2000" dirty="0">
                <a:latin typeface="Times New Roman"/>
                <a:ea typeface="Times New Roman"/>
                <a:cs typeface="Times New Roman"/>
                <a:sym typeface="Times New Roman"/>
              </a:rPr>
              <a:t>. OUI (Organizationally Unique Identifier) – first 24 </a:t>
            </a:r>
            <a:r>
              <a:rPr lang="en-US" sz="2000" dirty="0" smtClean="0">
                <a:latin typeface="Times New Roman"/>
                <a:ea typeface="Times New Roman"/>
                <a:cs typeface="Times New Roman"/>
                <a:sym typeface="Times New Roman"/>
              </a:rPr>
              <a:t>bits</a:t>
            </a:r>
          </a:p>
          <a:p>
            <a:pPr marL="146050">
              <a:buClr>
                <a:srgbClr val="CC9A00"/>
              </a:buClr>
              <a:buSzPts val="1300"/>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part is assigned by IEEE</a:t>
            </a:r>
            <a:r>
              <a:rPr lang="en-US" sz="2000" dirty="0" smtClean="0">
                <a:latin typeface="Times New Roman"/>
                <a:ea typeface="Times New Roman"/>
                <a:cs typeface="Times New Roman"/>
                <a:sym typeface="Times New Roman"/>
              </a:rPr>
              <a:t>.</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Each </a:t>
            </a:r>
            <a:r>
              <a:rPr lang="en-US" sz="2000" dirty="0">
                <a:latin typeface="Times New Roman"/>
                <a:ea typeface="Times New Roman"/>
                <a:cs typeface="Times New Roman"/>
                <a:sym typeface="Times New Roman"/>
              </a:rPr>
              <a:t>vendor (like Intel, Cisco, Apple) buys/registers an OUI block</a:t>
            </a:r>
            <a:r>
              <a:rPr lang="en-US" sz="2000" dirty="0" smtClean="0">
                <a:latin typeface="Times New Roman"/>
                <a:ea typeface="Times New Roman"/>
                <a:cs typeface="Times New Roman"/>
                <a:sym typeface="Times New Roman"/>
              </a:rPr>
              <a:t>. Example:00:1A:2B </a:t>
            </a:r>
            <a:r>
              <a:rPr lang="en-US" sz="2000" dirty="0">
                <a:latin typeface="Times New Roman"/>
                <a:ea typeface="Times New Roman"/>
                <a:cs typeface="Times New Roman"/>
                <a:sym typeface="Times New Roman"/>
              </a:rPr>
              <a:t>→ belongs to one specific </a:t>
            </a:r>
            <a:r>
              <a:rPr lang="en-US" sz="2000" dirty="0" smtClean="0">
                <a:latin typeface="Times New Roman"/>
                <a:ea typeface="Times New Roman"/>
                <a:cs typeface="Times New Roman"/>
                <a:sym typeface="Times New Roman"/>
              </a:rPr>
              <a:t>company</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This </a:t>
            </a:r>
            <a:r>
              <a:rPr lang="en-US" sz="2000" dirty="0" err="1">
                <a:latin typeface="Times New Roman"/>
                <a:ea typeface="Times New Roman"/>
                <a:cs typeface="Times New Roman"/>
                <a:sym typeface="Times New Roman"/>
              </a:rPr>
              <a:t>means:No</a:t>
            </a:r>
            <a:r>
              <a:rPr lang="en-US" sz="2000" dirty="0">
                <a:latin typeface="Times New Roman"/>
                <a:ea typeface="Times New Roman"/>
                <a:cs typeface="Times New Roman"/>
                <a:sym typeface="Times New Roman"/>
              </a:rPr>
              <a:t> two vendors will have the same </a:t>
            </a:r>
            <a:r>
              <a:rPr lang="en-US" sz="2000" dirty="0" smtClean="0">
                <a:latin typeface="Times New Roman"/>
                <a:ea typeface="Times New Roman"/>
                <a:cs typeface="Times New Roman"/>
                <a:sym typeface="Times New Roman"/>
              </a:rPr>
              <a:t>prefix</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IEEE </a:t>
            </a:r>
            <a:r>
              <a:rPr lang="en-US" sz="2000" dirty="0">
                <a:latin typeface="Times New Roman"/>
                <a:ea typeface="Times New Roman"/>
                <a:cs typeface="Times New Roman"/>
                <a:sym typeface="Times New Roman"/>
              </a:rPr>
              <a:t>keeps a global registry of all assigned </a:t>
            </a:r>
            <a:r>
              <a:rPr lang="en-US" sz="2000" dirty="0" smtClean="0">
                <a:latin typeface="Times New Roman"/>
                <a:ea typeface="Times New Roman"/>
                <a:cs typeface="Times New Roman"/>
                <a:sym typeface="Times New Roman"/>
              </a:rPr>
              <a:t>OUIs</a:t>
            </a:r>
          </a:p>
          <a:p>
            <a:pPr marL="488950" indent="-342900">
              <a:buClr>
                <a:srgbClr val="CC9A00"/>
              </a:buClr>
              <a:buSzPts val="1300"/>
              <a:buFont typeface="Arial" panose="020B0604020202020204" pitchFamily="34" charset="0"/>
              <a:buChar char="•"/>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2. Device-specific part – last 24 </a:t>
            </a:r>
            <a:r>
              <a:rPr lang="en-US" sz="2000" dirty="0" smtClean="0">
                <a:latin typeface="Times New Roman"/>
                <a:ea typeface="Times New Roman"/>
                <a:cs typeface="Times New Roman"/>
                <a:sym typeface="Times New Roman"/>
              </a:rPr>
              <a:t>bits</a:t>
            </a:r>
          </a:p>
          <a:p>
            <a:pPr marL="457200" lvl="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This part </a:t>
            </a:r>
            <a:r>
              <a:rPr lang="en-US" sz="2000" dirty="0">
                <a:latin typeface="Times New Roman"/>
                <a:ea typeface="Times New Roman"/>
                <a:cs typeface="Times New Roman"/>
                <a:sym typeface="Times New Roman"/>
              </a:rPr>
              <a:t>is generated by the </a:t>
            </a:r>
            <a:r>
              <a:rPr lang="en-US" sz="2000" dirty="0" smtClean="0">
                <a:latin typeface="Times New Roman"/>
                <a:ea typeface="Times New Roman"/>
                <a:cs typeface="Times New Roman"/>
                <a:sym typeface="Times New Roman"/>
              </a:rPr>
              <a:t>vendor</a:t>
            </a:r>
          </a:p>
          <a:p>
            <a:pPr marL="488950" lvl="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vendor ensures no duplicates within their own devices</a:t>
            </a:r>
          </a:p>
        </p:txBody>
      </p:sp>
    </p:spTree>
    <p:extLst>
      <p:ext uri="{BB962C8B-B14F-4D97-AF65-F5344CB8AC3E}">
        <p14:creationId xmlns:p14="http://schemas.microsoft.com/office/powerpoint/2010/main" val="3290642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MAC Address</a:t>
            </a:r>
            <a:endParaRPr sz="3600" dirty="0"/>
          </a:p>
        </p:txBody>
      </p:sp>
      <p:sp>
        <p:nvSpPr>
          <p:cNvPr id="56" name="Google Shape;56;p8"/>
          <p:cNvSpPr txBox="1"/>
          <p:nvPr/>
        </p:nvSpPr>
        <p:spPr>
          <a:xfrm>
            <a:off x="883805" y="1541962"/>
            <a:ext cx="8528552" cy="4407602"/>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MAC address can be used to identify a device in a network. The MAC address is assigned by the manufacturer of the device when it is being made. The MAC address is </a:t>
            </a:r>
            <a:r>
              <a:rPr lang="en-US" sz="2000" dirty="0" smtClean="0">
                <a:latin typeface="Times New Roman"/>
                <a:ea typeface="Times New Roman"/>
                <a:cs typeface="Times New Roman"/>
                <a:sym typeface="Times New Roman"/>
              </a:rPr>
              <a:t>given </a:t>
            </a:r>
            <a:r>
              <a:rPr lang="en-US" sz="2000" dirty="0">
                <a:latin typeface="Times New Roman"/>
                <a:ea typeface="Times New Roman"/>
                <a:cs typeface="Times New Roman"/>
                <a:sym typeface="Times New Roman"/>
              </a:rPr>
              <a:t>to the NIC that is built into the </a:t>
            </a:r>
            <a:r>
              <a:rPr lang="en-US" sz="2000" dirty="0" smtClean="0">
                <a:latin typeface="Times New Roman"/>
                <a:ea typeface="Times New Roman"/>
                <a:cs typeface="Times New Roman"/>
                <a:sym typeface="Times New Roman"/>
              </a:rPr>
              <a:t>device</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Features of a MAC address:</a:t>
            </a:r>
          </a:p>
          <a:p>
            <a:pPr marL="146050" lvl="0">
              <a:buClr>
                <a:srgbClr val="CC9A00"/>
              </a:buClr>
              <a:buSzPts val="1300"/>
            </a:pPr>
            <a:endParaRPr lang="en-US" sz="2000" dirty="0">
              <a:latin typeface="Times New Roman"/>
              <a:ea typeface="Times New Roman"/>
              <a:cs typeface="Times New Roman"/>
              <a:sym typeface="Times New Roman"/>
            </a:endParaRP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address is unique.</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is written in hexadecimal.</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It has 12 digits and the digits are grouped in pairs.</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Each pair of digits is separated by a colon.</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first three pairs of digits are the manufacturer's ID.</a:t>
            </a:r>
          </a:p>
          <a:p>
            <a:pPr marL="488950" lvl="0" indent="-342900">
              <a:buClr>
                <a:srgbClr val="CC9A00"/>
              </a:buClr>
              <a:buSzPts val="1300"/>
              <a:buFont typeface="Arial" panose="020B0604020202020204" pitchFamily="34" charset="0"/>
              <a:buChar char="•"/>
            </a:pPr>
            <a:r>
              <a:rPr lang="en-US" sz="2000" dirty="0">
                <a:latin typeface="Times New Roman"/>
                <a:ea typeface="Times New Roman"/>
                <a:cs typeface="Times New Roman"/>
                <a:sym typeface="Times New Roman"/>
              </a:rPr>
              <a:t>The second three pairs are the serial number of the device</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Example - </a:t>
            </a:r>
            <a:r>
              <a:rPr lang="en-US" sz="2000" dirty="0" smtClean="0">
                <a:latin typeface="Times New Roman"/>
                <a:ea typeface="Times New Roman"/>
                <a:cs typeface="Times New Roman"/>
                <a:sym typeface="Times New Roman"/>
              </a:rPr>
              <a:t>3C:5A:B4:01:63:D2</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29</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042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a:t>4</a:t>
            </a:r>
            <a:r>
              <a:rPr lang="en-US" dirty="0" smtClean="0"/>
              <a:t>. </a:t>
            </a:r>
            <a:r>
              <a:rPr lang="en-US" dirty="0"/>
              <a:t>Message</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30</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The actual data or information that is being communicated between the sender and the receiver. It can be in a text, images, audio, video files, depending on the type of communication.</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643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31</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How data like text, images, or videos are send over a network?</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151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32</a:t>
            </a:fld>
            <a:endParaRPr/>
          </a:p>
        </p:txBody>
      </p:sp>
      <p:sp>
        <p:nvSpPr>
          <p:cNvPr id="4" name="Google Shape;56;p8"/>
          <p:cNvSpPr txBox="1"/>
          <p:nvPr/>
        </p:nvSpPr>
        <p:spPr>
          <a:xfrm>
            <a:off x="993900" y="1833375"/>
            <a:ext cx="8142000" cy="348427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All types of data whether text, images, audio, or video are represented and stored as binary (1s and 0s) inside a computer. When this data is transmitted over a network, the binary bits are encoded into physical signals. In wired networks, they travel as electrical or light signals, and in wireless networks, they travel as radio waves. Every message we send is a stream of binary data transmitted as signals</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Cables: Data is encoded into electrical impulses.</a:t>
            </a: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Fiber-Optic: Data is encoded into pulses of light.</a:t>
            </a: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Wireless transmission: Data is encoded via modulation of specific frequencies of electromagnetic waves.</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22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Bandwidth</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33</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Bandwidth is the maximum capacity of a channel</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Maximum amount of data that can be transmitted per second.</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63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Throughput</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34</a:t>
            </a:fld>
            <a:endParaRPr/>
          </a:p>
        </p:txBody>
      </p:sp>
      <p:sp>
        <p:nvSpPr>
          <p:cNvPr id="4" name="Google Shape;56;p8"/>
          <p:cNvSpPr txBox="1"/>
          <p:nvPr/>
        </p:nvSpPr>
        <p:spPr>
          <a:xfrm>
            <a:off x="993900" y="1833375"/>
            <a:ext cx="8142000" cy="1022060"/>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Bandwidth is the maximum capacity of a channel</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Maximum amount of data that can be transmitted per second.</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21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35</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Why Throughput &lt; Bandwidth?</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239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36</a:t>
            </a:fld>
            <a:endParaRPr/>
          </a:p>
        </p:txBody>
      </p:sp>
      <p:sp>
        <p:nvSpPr>
          <p:cNvPr id="4" name="Google Shape;56;p8"/>
          <p:cNvSpPr txBox="1"/>
          <p:nvPr/>
        </p:nvSpPr>
        <p:spPr>
          <a:xfrm>
            <a:off x="993900" y="1833375"/>
            <a:ext cx="8142000" cy="2868719"/>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In real networks, we never achieve full bandwidth due to</a:t>
            </a:r>
            <a:r>
              <a:rPr lang="en-US" sz="2000" dirty="0" smtClean="0">
                <a:latin typeface="Times New Roman"/>
                <a:ea typeface="Times New Roman"/>
                <a:cs typeface="Times New Roman"/>
                <a:sym typeface="Times New Roman"/>
              </a:rPr>
              <a:t>:</a:t>
            </a:r>
          </a:p>
          <a:p>
            <a:pPr marL="146050">
              <a:buClr>
                <a:srgbClr val="CC9A00"/>
              </a:buClr>
              <a:buSzPts val="1300"/>
            </a:pPr>
            <a:endParaRPr lang="en-US" sz="2000" dirty="0">
              <a:latin typeface="Times New Roman"/>
              <a:ea typeface="Times New Roman"/>
              <a:cs typeface="Times New Roman"/>
              <a:sym typeface="Times New Roman"/>
            </a:endParaRP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congestion (too many devices)</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Packet </a:t>
            </a:r>
            <a:r>
              <a:rPr lang="en-US" sz="2000" dirty="0">
                <a:latin typeface="Times New Roman"/>
                <a:ea typeface="Times New Roman"/>
                <a:cs typeface="Times New Roman"/>
                <a:sym typeface="Times New Roman"/>
              </a:rPr>
              <a:t>loss &amp; retransmissions</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Protocol </a:t>
            </a:r>
            <a:r>
              <a:rPr lang="en-US" sz="2000" dirty="0">
                <a:latin typeface="Times New Roman"/>
                <a:ea typeface="Times New Roman"/>
                <a:cs typeface="Times New Roman"/>
                <a:sym typeface="Times New Roman"/>
              </a:rPr>
              <a:t>overhead (headers, control data)</a:t>
            </a:r>
          </a:p>
          <a:p>
            <a:pPr marL="488950" indent="-342900">
              <a:buClr>
                <a:srgbClr val="CC9A00"/>
              </a:buClr>
              <a:buSzPts val="1300"/>
              <a:buFont typeface="Arial" panose="020B0604020202020204" pitchFamily="34" charset="0"/>
              <a:buChar char="•"/>
            </a:pPr>
            <a:r>
              <a:rPr lang="en-US" sz="2000" dirty="0" smtClean="0">
                <a:latin typeface="Times New Roman"/>
                <a:ea typeface="Times New Roman"/>
                <a:cs typeface="Times New Roman"/>
                <a:sym typeface="Times New Roman"/>
              </a:rPr>
              <a:t>Delays </a:t>
            </a:r>
            <a:r>
              <a:rPr lang="en-US" sz="2000" dirty="0">
                <a:latin typeface="Times New Roman"/>
                <a:ea typeface="Times New Roman"/>
                <a:cs typeface="Times New Roman"/>
                <a:sym typeface="Times New Roman"/>
              </a:rPr>
              <a:t>and </a:t>
            </a:r>
            <a:r>
              <a:rPr lang="en-US" sz="2000" dirty="0" smtClean="0">
                <a:latin typeface="Times New Roman"/>
                <a:ea typeface="Times New Roman"/>
                <a:cs typeface="Times New Roman"/>
                <a:sym typeface="Times New Roman"/>
              </a:rPr>
              <a:t>interference</a:t>
            </a:r>
          </a:p>
          <a:p>
            <a:pPr marL="146050">
              <a:buClr>
                <a:srgbClr val="CC9A00"/>
              </a:buClr>
              <a:buSzPts val="1300"/>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Actual data transfer (throughput) is always less than theoretical maximum (bandwidth).</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324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37</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In wireless networks, throughput is much lower. Why?</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324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38</a:t>
            </a:fld>
            <a:endParaRPr/>
          </a:p>
        </p:txBody>
      </p:sp>
      <p:sp>
        <p:nvSpPr>
          <p:cNvPr id="4" name="Google Shape;56;p8"/>
          <p:cNvSpPr txBox="1"/>
          <p:nvPr/>
        </p:nvSpPr>
        <p:spPr>
          <a:xfrm>
            <a:off x="993900" y="1833375"/>
            <a:ext cx="8142000" cy="132983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Throughput in wireless networks is lower because multiple devices share the same medium, and signals are affected by interference, distance, and obstacles. This leads to errors and retransmissions, reducing the actual data transfer rate.</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114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182375"/>
          </a:xfrm>
          <a:prstGeom prst="rect">
            <a:avLst/>
          </a:prstGeom>
          <a:noFill/>
          <a:ln>
            <a:noFill/>
          </a:ln>
        </p:spPr>
        <p:txBody>
          <a:bodyPr spcFirstLastPara="1" wrap="square" lIns="0" tIns="12700" rIns="0" bIns="0" anchor="t" anchorCtr="0">
            <a:spAutoFit/>
          </a:bodyPr>
          <a:lstStyle/>
          <a:p>
            <a:pPr lvl="0"/>
            <a:r>
              <a:rPr lang="en-US" dirty="0" smtClean="0"/>
              <a:t>5. Protocol</a:t>
            </a: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39</a:t>
            </a:fld>
            <a:endParaRPr/>
          </a:p>
        </p:txBody>
      </p:sp>
      <p:sp>
        <p:nvSpPr>
          <p:cNvPr id="4" name="Google Shape;56;p8"/>
          <p:cNvSpPr txBox="1"/>
          <p:nvPr/>
        </p:nvSpPr>
        <p:spPr>
          <a:xfrm>
            <a:off x="993900" y="1833375"/>
            <a:ext cx="8142000" cy="714283"/>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Set of rules both sender and receiver must follow to ensure successful communication.</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02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Question</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40</a:t>
            </a:fld>
            <a:endParaRPr/>
          </a:p>
        </p:txBody>
      </p:sp>
      <p:sp>
        <p:nvSpPr>
          <p:cNvPr id="4" name="Google Shape;56;p8"/>
          <p:cNvSpPr txBox="1"/>
          <p:nvPr/>
        </p:nvSpPr>
        <p:spPr>
          <a:xfrm>
            <a:off x="993900" y="1833375"/>
            <a:ext cx="8142000" cy="406506"/>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Explain HTTP protocol?</a:t>
            </a:r>
            <a:endParaRPr lang="en-US" sz="2000" dirty="0">
              <a:latin typeface="Times New Roman"/>
              <a:ea typeface="Times New Roman"/>
              <a:cs typeface="Times New Roman"/>
              <a:sym typeface="Times New Roman"/>
            </a:endParaRP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658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Answer</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41</a:t>
            </a:fld>
            <a:endParaRPr/>
          </a:p>
        </p:txBody>
      </p:sp>
      <p:sp>
        <p:nvSpPr>
          <p:cNvPr id="4" name="Google Shape;56;p8"/>
          <p:cNvSpPr txBox="1"/>
          <p:nvPr/>
        </p:nvSpPr>
        <p:spPr>
          <a:xfrm>
            <a:off x="993900" y="1833375"/>
            <a:ext cx="8142000" cy="2560942"/>
          </a:xfrm>
          <a:prstGeom prst="rect">
            <a:avLst/>
          </a:prstGeom>
          <a:noFill/>
          <a:ln>
            <a:noFill/>
          </a:ln>
        </p:spPr>
        <p:txBody>
          <a:bodyPr spcFirstLastPara="1" wrap="square" lIns="0" tIns="97775" rIns="0" bIns="0" anchor="t" anchorCtr="0">
            <a:spAutoFit/>
          </a:bodyPr>
          <a:lstStyle/>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when your browser (the sender) sends a request to a website (the receiver) using HTTP (</a:t>
            </a:r>
            <a:r>
              <a:rPr lang="en-US" sz="2000" dirty="0" err="1">
                <a:latin typeface="Times New Roman"/>
                <a:ea typeface="Times New Roman"/>
                <a:cs typeface="Times New Roman"/>
                <a:sym typeface="Times New Roman"/>
              </a:rPr>
              <a:t>HyperText</a:t>
            </a:r>
            <a:r>
              <a:rPr lang="en-US" sz="2000" dirty="0">
                <a:latin typeface="Times New Roman"/>
                <a:ea typeface="Times New Roman"/>
                <a:cs typeface="Times New Roman"/>
                <a:sym typeface="Times New Roman"/>
              </a:rPr>
              <a:t> Transfer Protocol), the website’s server must also understand and respond using the same protocol. If both ends follow HTTP correctly, the browser can successfully load the webpage. If not, the communication will fail.</a:t>
            </a:r>
          </a:p>
          <a:p>
            <a:pPr marL="457200" indent="-311150">
              <a:buClr>
                <a:srgbClr val="CC9A00"/>
              </a:buClr>
              <a:buSzPts val="1300"/>
              <a:buFont typeface="Noto Sans Symbols"/>
              <a:buChar char="❑"/>
            </a:pPr>
            <a:endParaRPr lang="en-US" sz="2000" dirty="0">
              <a:latin typeface="Times New Roman"/>
              <a:ea typeface="Times New Roman"/>
              <a:cs typeface="Times New Roman"/>
              <a:sym typeface="Times New Roman"/>
            </a:endParaRPr>
          </a:p>
          <a:p>
            <a:pPr marL="457200" indent="-311150">
              <a:buClr>
                <a:srgbClr val="CC9A00"/>
              </a:buClr>
              <a:buSzPts val="1300"/>
              <a:buFont typeface="Noto Sans Symbols"/>
              <a:buChar char="❑"/>
            </a:pPr>
            <a:r>
              <a:rPr lang="en-US" sz="2000" dirty="0">
                <a:latin typeface="Times New Roman"/>
                <a:ea typeface="Times New Roman"/>
                <a:cs typeface="Times New Roman"/>
                <a:sym typeface="Times New Roman"/>
              </a:rPr>
              <a:t>It’s just like two people speaking different languages without understanding each other.</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ttps://miro.medium.com/v2/resize:fit:640/0*BwJhT9XZwx6qYJc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6217" y="4738989"/>
            <a:ext cx="4217366" cy="1696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8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a:t> </a:t>
            </a:r>
            <a:r>
              <a:rPr lang="en-US" dirty="0" smtClean="0"/>
              <a:t>Rules </a:t>
            </a:r>
            <a:r>
              <a:rPr lang="en-US" dirty="0"/>
              <a:t>or </a:t>
            </a:r>
            <a:r>
              <a:rPr lang="en-US" dirty="0" smtClean="0"/>
              <a:t>Main </a:t>
            </a:r>
            <a:r>
              <a:rPr lang="en-US" dirty="0"/>
              <a:t>aspects in HTTP</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42</a:t>
            </a:fld>
            <a:endParaRPr/>
          </a:p>
        </p:txBody>
      </p:sp>
      <p:sp>
        <p:nvSpPr>
          <p:cNvPr id="4" name="Google Shape;56;p8"/>
          <p:cNvSpPr txBox="1"/>
          <p:nvPr/>
        </p:nvSpPr>
        <p:spPr>
          <a:xfrm>
            <a:off x="993900" y="1833375"/>
            <a:ext cx="8142000" cy="4161380"/>
          </a:xfrm>
          <a:prstGeom prst="rect">
            <a:avLst/>
          </a:prstGeom>
          <a:noFill/>
          <a:ln>
            <a:noFill/>
          </a:ln>
        </p:spPr>
        <p:txBody>
          <a:bodyPr spcFirstLastPara="1" wrap="square" lIns="0" tIns="97775" rIns="0" bIns="0" anchor="t" anchorCtr="0">
            <a:spAutoFit/>
          </a:bodyPr>
          <a:lstStyle/>
          <a:p>
            <a:pPr marL="228600" indent="-228600">
              <a:buAutoNum type="arabicPeriod"/>
            </a:pPr>
            <a:r>
              <a:rPr lang="en-US" sz="1200" dirty="0" smtClean="0">
                <a:solidFill>
                  <a:srgbClr val="242424"/>
                </a:solidFill>
                <a:latin typeface="Times New Roman" panose="02020603050405020304" pitchFamily="18" charset="0"/>
                <a:cs typeface="Times New Roman" panose="02020603050405020304" pitchFamily="18" charset="0"/>
              </a:rPr>
              <a:t>Request </a:t>
            </a:r>
            <a:r>
              <a:rPr lang="en-US" sz="1200" dirty="0">
                <a:solidFill>
                  <a:srgbClr val="242424"/>
                </a:solidFill>
                <a:latin typeface="Times New Roman" panose="02020603050405020304" pitchFamily="18" charset="0"/>
                <a:cs typeface="Times New Roman" panose="02020603050405020304" pitchFamily="18" charset="0"/>
              </a:rPr>
              <a:t>and Response format: Every communication in HTTP follows a specific format</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A </a:t>
            </a:r>
            <a:r>
              <a:rPr lang="en-US" sz="1200" b="1" dirty="0">
                <a:solidFill>
                  <a:srgbClr val="242424"/>
                </a:solidFill>
                <a:latin typeface="Times New Roman" panose="02020603050405020304" pitchFamily="18" charset="0"/>
                <a:cs typeface="Times New Roman" panose="02020603050405020304" pitchFamily="18" charset="0"/>
              </a:rPr>
              <a:t>request</a:t>
            </a:r>
            <a:r>
              <a:rPr lang="en-US" sz="1200" dirty="0">
                <a:solidFill>
                  <a:srgbClr val="242424"/>
                </a:solidFill>
                <a:latin typeface="Times New Roman" panose="02020603050405020304" pitchFamily="18" charset="0"/>
                <a:cs typeface="Times New Roman" panose="02020603050405020304" pitchFamily="18" charset="0"/>
              </a:rPr>
              <a:t> from the client includes a method.</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GET:</a:t>
            </a:r>
            <a:r>
              <a:rPr lang="en-US" sz="1200" dirty="0">
                <a:solidFill>
                  <a:srgbClr val="242424"/>
                </a:solidFill>
                <a:latin typeface="Times New Roman" panose="02020603050405020304" pitchFamily="18" charset="0"/>
                <a:cs typeface="Times New Roman" panose="02020603050405020304" pitchFamily="18" charset="0"/>
              </a:rPr>
              <a:t> Retrieves data from the server.</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POST:</a:t>
            </a:r>
            <a:r>
              <a:rPr lang="en-US" sz="1200" dirty="0">
                <a:solidFill>
                  <a:srgbClr val="242424"/>
                </a:solidFill>
                <a:latin typeface="Times New Roman" panose="02020603050405020304" pitchFamily="18" charset="0"/>
                <a:cs typeface="Times New Roman" panose="02020603050405020304" pitchFamily="18" charset="0"/>
              </a:rPr>
              <a:t> Sends data to the server, often to create or update resources.</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PUT:</a:t>
            </a:r>
            <a:r>
              <a:rPr lang="en-US" sz="1200" dirty="0">
                <a:solidFill>
                  <a:srgbClr val="242424"/>
                </a:solidFill>
                <a:latin typeface="Times New Roman" panose="02020603050405020304" pitchFamily="18" charset="0"/>
                <a:cs typeface="Times New Roman" panose="02020603050405020304" pitchFamily="18" charset="0"/>
              </a:rPr>
              <a:t> Replaces a resource on the server with the data sent in the request.</a:t>
            </a:r>
          </a:p>
          <a:p>
            <a:pPr>
              <a:buFont typeface="Arial" panose="020B0604020202020204" pitchFamily="34" charset="0"/>
              <a:buChar char="•"/>
            </a:pPr>
            <a:r>
              <a:rPr lang="en-US" sz="1200" b="1" dirty="0">
                <a:solidFill>
                  <a:srgbClr val="242424"/>
                </a:solidFill>
                <a:latin typeface="Times New Roman" panose="02020603050405020304" pitchFamily="18" charset="0"/>
                <a:cs typeface="Times New Roman" panose="02020603050405020304" pitchFamily="18" charset="0"/>
              </a:rPr>
              <a:t>DELETE:</a:t>
            </a:r>
            <a:r>
              <a:rPr lang="en-US" sz="1200" dirty="0">
                <a:solidFill>
                  <a:srgbClr val="242424"/>
                </a:solidFill>
                <a:latin typeface="Times New Roman" panose="02020603050405020304" pitchFamily="18" charset="0"/>
                <a:cs typeface="Times New Roman" panose="02020603050405020304" pitchFamily="18" charset="0"/>
              </a:rPr>
              <a:t> Deletes a resource on the server</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These methods guide what client wants and how the server should respond. So the client makes a “GET” request means,</a:t>
            </a:r>
          </a:p>
          <a:p>
            <a:r>
              <a:rPr lang="en-US" sz="1200" dirty="0">
                <a:solidFill>
                  <a:srgbClr val="242424"/>
                </a:solidFill>
                <a:latin typeface="Times New Roman" panose="02020603050405020304" pitchFamily="18" charset="0"/>
                <a:cs typeface="Times New Roman" panose="02020603050405020304" pitchFamily="18" charset="0"/>
              </a:rPr>
              <a:t>It is asking the server to </a:t>
            </a:r>
            <a:r>
              <a:rPr lang="en-US" sz="1200" b="1" dirty="0">
                <a:solidFill>
                  <a:srgbClr val="242424"/>
                </a:solidFill>
                <a:latin typeface="Times New Roman" panose="02020603050405020304" pitchFamily="18" charset="0"/>
                <a:cs typeface="Times New Roman" panose="02020603050405020304" pitchFamily="18" charset="0"/>
              </a:rPr>
              <a:t>send back some data</a:t>
            </a:r>
            <a:r>
              <a:rPr lang="en-US" sz="1200" dirty="0">
                <a:solidFill>
                  <a:srgbClr val="242424"/>
                </a:solidFill>
                <a:latin typeface="Times New Roman" panose="02020603050405020304" pitchFamily="18" charset="0"/>
                <a:cs typeface="Times New Roman" panose="02020603050405020304" pitchFamily="18" charset="0"/>
              </a:rPr>
              <a:t> — As an example when you type a URL in your browser and press Enter, the browser sends a GET request to the server to fetch that page. Server process it and responds with the requested data, like an HTML file, and your browser displays it</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b="1" dirty="0">
                <a:solidFill>
                  <a:srgbClr val="242424"/>
                </a:solidFill>
                <a:latin typeface="Times New Roman" panose="02020603050405020304" pitchFamily="18" charset="0"/>
                <a:cs typeface="Times New Roman" panose="02020603050405020304" pitchFamily="18" charset="0"/>
              </a:rPr>
              <a:t>2.</a:t>
            </a:r>
            <a:r>
              <a:rPr lang="en-US" sz="1200" dirty="0">
                <a:solidFill>
                  <a:srgbClr val="242424"/>
                </a:solidFill>
                <a:latin typeface="Times New Roman" panose="02020603050405020304" pitchFamily="18" charset="0"/>
                <a:cs typeface="Times New Roman" panose="02020603050405020304" pitchFamily="18" charset="0"/>
              </a:rPr>
              <a:t> </a:t>
            </a:r>
            <a:r>
              <a:rPr lang="en-US" sz="1200" b="1" dirty="0">
                <a:solidFill>
                  <a:srgbClr val="242424"/>
                </a:solidFill>
                <a:latin typeface="Times New Roman" panose="02020603050405020304" pitchFamily="18" charset="0"/>
                <a:cs typeface="Times New Roman" panose="02020603050405020304" pitchFamily="18" charset="0"/>
              </a:rPr>
              <a:t>Status </a:t>
            </a:r>
            <a:r>
              <a:rPr lang="en-US" sz="1200" b="1" dirty="0" smtClean="0">
                <a:solidFill>
                  <a:srgbClr val="242424"/>
                </a:solidFill>
                <a:latin typeface="Times New Roman" panose="02020603050405020304" pitchFamily="18" charset="0"/>
                <a:cs typeface="Times New Roman" panose="02020603050405020304" pitchFamily="18" charset="0"/>
              </a:rPr>
              <a:t>Codes</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When the server responds, it includes a </a:t>
            </a:r>
            <a:r>
              <a:rPr lang="en-US" sz="1200" b="1" dirty="0">
                <a:solidFill>
                  <a:srgbClr val="242424"/>
                </a:solidFill>
                <a:latin typeface="Times New Roman" panose="02020603050405020304" pitchFamily="18" charset="0"/>
                <a:cs typeface="Times New Roman" panose="02020603050405020304" pitchFamily="18" charset="0"/>
              </a:rPr>
              <a:t>status code</a:t>
            </a:r>
            <a:r>
              <a:rPr lang="en-US" sz="1200" dirty="0">
                <a:solidFill>
                  <a:srgbClr val="242424"/>
                </a:solidFill>
                <a:latin typeface="Times New Roman" panose="02020603050405020304" pitchFamily="18" charset="0"/>
                <a:cs typeface="Times New Roman" panose="02020603050405020304" pitchFamily="18" charset="0"/>
              </a:rPr>
              <a:t> to indicate the result of the request. Examples include</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200 OK: The request was successful</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404 Not Found: The requested resource doesn’t exist</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500 Internal Server Error: A problem occurred on the </a:t>
            </a:r>
            <a:r>
              <a:rPr lang="en-US" sz="1200" dirty="0" smtClean="0">
                <a:solidFill>
                  <a:srgbClr val="242424"/>
                </a:solidFill>
                <a:latin typeface="Times New Roman" panose="02020603050405020304" pitchFamily="18" charset="0"/>
                <a:cs typeface="Times New Roman" panose="02020603050405020304" pitchFamily="18" charset="0"/>
              </a:rPr>
              <a:t>server</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These codes help the browser or client app understand what happened</a:t>
            </a:r>
            <a:r>
              <a:rPr lang="en-US" sz="1200" dirty="0" smtClean="0">
                <a:solidFill>
                  <a:srgbClr val="242424"/>
                </a:solidFill>
                <a:latin typeface="Times New Roman" panose="02020603050405020304" pitchFamily="18" charset="0"/>
                <a:cs typeface="Times New Roman" panose="02020603050405020304" pitchFamily="18" charset="0"/>
              </a:rPr>
              <a:t>.</a:t>
            </a:r>
          </a:p>
        </p:txBody>
      </p:sp>
      <p:sp>
        <p:nvSpPr>
          <p:cNvPr id="5" name="Rectangle 4"/>
          <p:cNvSpPr/>
          <p:nvPr/>
        </p:nvSpPr>
        <p:spPr>
          <a:xfrm>
            <a:off x="6022428" y="5596759"/>
            <a:ext cx="1371600" cy="8429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070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43</a:t>
            </a:fld>
            <a:endParaRPr/>
          </a:p>
        </p:txBody>
      </p:sp>
      <p:sp>
        <p:nvSpPr>
          <p:cNvPr id="4" name="Google Shape;56;p8"/>
          <p:cNvSpPr txBox="1"/>
          <p:nvPr/>
        </p:nvSpPr>
        <p:spPr>
          <a:xfrm>
            <a:off x="1123109" y="879219"/>
            <a:ext cx="8142000" cy="3792049"/>
          </a:xfrm>
          <a:prstGeom prst="rect">
            <a:avLst/>
          </a:prstGeom>
          <a:noFill/>
          <a:ln>
            <a:noFill/>
          </a:ln>
        </p:spPr>
        <p:txBody>
          <a:bodyPr spcFirstLastPara="1" wrap="square" lIns="0" tIns="97775" rIns="0" bIns="0" anchor="t" anchorCtr="0">
            <a:spAutoFit/>
          </a:bodyPr>
          <a:lstStyle/>
          <a:p>
            <a:r>
              <a:rPr lang="en-US" sz="1200" b="1" dirty="0" smtClean="0">
                <a:solidFill>
                  <a:srgbClr val="242424"/>
                </a:solidFill>
                <a:latin typeface="Times New Roman" panose="02020603050405020304" pitchFamily="18" charset="0"/>
                <a:cs typeface="Times New Roman" panose="02020603050405020304" pitchFamily="18" charset="0"/>
              </a:rPr>
              <a:t>3</a:t>
            </a:r>
            <a:r>
              <a:rPr lang="en-US" sz="1200" b="1" dirty="0">
                <a:solidFill>
                  <a:srgbClr val="242424"/>
                </a:solidFill>
                <a:latin typeface="Times New Roman" panose="02020603050405020304" pitchFamily="18" charset="0"/>
                <a:cs typeface="Times New Roman" panose="02020603050405020304" pitchFamily="18" charset="0"/>
              </a:rPr>
              <a:t>.</a:t>
            </a:r>
            <a:r>
              <a:rPr lang="en-US" sz="1200" dirty="0">
                <a:solidFill>
                  <a:srgbClr val="242424"/>
                </a:solidFill>
                <a:latin typeface="Times New Roman" panose="02020603050405020304" pitchFamily="18" charset="0"/>
                <a:cs typeface="Times New Roman" panose="02020603050405020304" pitchFamily="18" charset="0"/>
              </a:rPr>
              <a:t> </a:t>
            </a:r>
            <a:r>
              <a:rPr lang="en-US" sz="1200" b="1" dirty="0" smtClean="0">
                <a:solidFill>
                  <a:srgbClr val="242424"/>
                </a:solidFill>
                <a:latin typeface="Times New Roman" panose="02020603050405020304" pitchFamily="18" charset="0"/>
                <a:cs typeface="Times New Roman" panose="02020603050405020304" pitchFamily="18" charset="0"/>
              </a:rPr>
              <a:t>Headers</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Headers provide extra information about the request or response, such as</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Content-Type: Tells what kind of data is being sent (e.g., HTML, JSON)</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User-Agent: Identifies the browser</a:t>
            </a:r>
          </a:p>
          <a:p>
            <a:pPr>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Authorization: Contains login credentials or </a:t>
            </a:r>
            <a:r>
              <a:rPr lang="en-US" sz="1200" dirty="0" smtClean="0">
                <a:solidFill>
                  <a:srgbClr val="242424"/>
                </a:solidFill>
                <a:latin typeface="Times New Roman" panose="02020603050405020304" pitchFamily="18" charset="0"/>
                <a:cs typeface="Times New Roman" panose="02020603050405020304" pitchFamily="18" charset="0"/>
              </a:rPr>
              <a:t>tokens</a:t>
            </a:r>
          </a:p>
          <a:p>
            <a:r>
              <a:rPr lang="en-US" sz="1200" dirty="0">
                <a:solidFill>
                  <a:srgbClr val="242424"/>
                </a:solidFill>
                <a:latin typeface="Times New Roman" panose="02020603050405020304" pitchFamily="18" charset="0"/>
                <a:cs typeface="Times New Roman" panose="02020603050405020304" pitchFamily="18" charset="0"/>
              </a:rPr>
              <a:t/>
            </a:r>
            <a:br>
              <a:rPr lang="en-US" sz="1200" dirty="0">
                <a:solidFill>
                  <a:srgbClr val="242424"/>
                </a:solidFill>
                <a:latin typeface="Times New Roman" panose="02020603050405020304" pitchFamily="18" charset="0"/>
                <a:cs typeface="Times New Roman" panose="02020603050405020304" pitchFamily="18" charset="0"/>
              </a:rPr>
            </a:br>
            <a:r>
              <a:rPr lang="en-US" sz="1200" dirty="0">
                <a:solidFill>
                  <a:srgbClr val="242424"/>
                </a:solidFill>
                <a:latin typeface="Times New Roman" panose="02020603050405020304" pitchFamily="18" charset="0"/>
                <a:cs typeface="Times New Roman" panose="02020603050405020304" pitchFamily="18" charset="0"/>
              </a:rPr>
              <a:t>Headers are key-value pairs that add context to the communication</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b="1" dirty="0">
                <a:solidFill>
                  <a:srgbClr val="242424"/>
                </a:solidFill>
                <a:latin typeface="Times New Roman" panose="02020603050405020304" pitchFamily="18" charset="0"/>
                <a:cs typeface="Times New Roman" panose="02020603050405020304" pitchFamily="18" charset="0"/>
              </a:rPr>
              <a:t>4.</a:t>
            </a:r>
            <a:r>
              <a:rPr lang="en-US" sz="1200" dirty="0">
                <a:solidFill>
                  <a:srgbClr val="242424"/>
                </a:solidFill>
                <a:latin typeface="Times New Roman" panose="02020603050405020304" pitchFamily="18" charset="0"/>
                <a:cs typeface="Times New Roman" panose="02020603050405020304" pitchFamily="18" charset="0"/>
              </a:rPr>
              <a:t> </a:t>
            </a:r>
            <a:r>
              <a:rPr lang="en-US" sz="1200" b="1" dirty="0" smtClean="0">
                <a:solidFill>
                  <a:srgbClr val="242424"/>
                </a:solidFill>
                <a:latin typeface="Times New Roman" panose="02020603050405020304" pitchFamily="18" charset="0"/>
                <a:cs typeface="Times New Roman" panose="02020603050405020304" pitchFamily="18" charset="0"/>
              </a:rPr>
              <a:t>Statelessness</a:t>
            </a:r>
          </a:p>
          <a:p>
            <a:endParaRPr lang="en-US" sz="1200" dirty="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Also HTTP is stateless, meaning each request is treated independently. The server does not remember anything about previous requests from the same client</a:t>
            </a:r>
            <a:r>
              <a:rPr lang="en-US" sz="1200" dirty="0" smtClean="0">
                <a:solidFill>
                  <a:srgbClr val="242424"/>
                </a:solidFill>
                <a:latin typeface="Times New Roman" panose="02020603050405020304" pitchFamily="18" charset="0"/>
                <a:cs typeface="Times New Roman" panose="02020603050405020304" pitchFamily="18" charset="0"/>
              </a:rPr>
              <a:t>.</a:t>
            </a:r>
          </a:p>
          <a:p>
            <a:endParaRPr lang="en-US" sz="1200" dirty="0">
              <a:solidFill>
                <a:srgbClr val="242424"/>
              </a:solidFill>
              <a:latin typeface="Times New Roman" panose="02020603050405020304" pitchFamily="18" charset="0"/>
              <a:cs typeface="Times New Roman" panose="02020603050405020304" pitchFamily="18" charset="0"/>
            </a:endParaRPr>
          </a:p>
          <a:p>
            <a:endParaRPr lang="en-US" sz="1200" dirty="0" smtClean="0">
              <a:solidFill>
                <a:srgbClr val="242424"/>
              </a:solidFill>
              <a:latin typeface="Times New Roman" panose="02020603050405020304" pitchFamily="18" charset="0"/>
              <a:cs typeface="Times New Roman" panose="02020603050405020304" pitchFamily="18" charset="0"/>
            </a:endParaRPr>
          </a:p>
          <a:p>
            <a:r>
              <a:rPr lang="en-US" sz="1200" dirty="0">
                <a:solidFill>
                  <a:srgbClr val="242424"/>
                </a:solidFill>
                <a:latin typeface="Times New Roman" panose="02020603050405020304" pitchFamily="18" charset="0"/>
                <a:cs typeface="Times New Roman" panose="02020603050405020304" pitchFamily="18" charset="0"/>
              </a:rPr>
              <a:t>Like HTTP we have </a:t>
            </a:r>
            <a:r>
              <a:rPr lang="en-US" sz="1200" dirty="0" smtClean="0">
                <a:solidFill>
                  <a:srgbClr val="242424"/>
                </a:solidFill>
                <a:latin typeface="Times New Roman" panose="02020603050405020304" pitchFamily="18" charset="0"/>
                <a:cs typeface="Times New Roman" panose="02020603050405020304" pitchFamily="18" charset="0"/>
              </a:rPr>
              <a:t>other </a:t>
            </a:r>
            <a:r>
              <a:rPr lang="en-US" sz="1200" dirty="0">
                <a:solidFill>
                  <a:srgbClr val="242424"/>
                </a:solidFill>
                <a:latin typeface="Times New Roman" panose="02020603050405020304" pitchFamily="18" charset="0"/>
                <a:cs typeface="Times New Roman" panose="02020603050405020304" pitchFamily="18" charset="0"/>
              </a:rPr>
              <a:t>protocols.</a:t>
            </a:r>
          </a:p>
          <a:p>
            <a:endParaRPr lang="en-US" sz="1200" dirty="0">
              <a:solidFill>
                <a:srgbClr val="242424"/>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solidFill>
                  <a:srgbClr val="242424"/>
                </a:solidFill>
                <a:latin typeface="Times New Roman" panose="02020603050405020304" pitchFamily="18" charset="0"/>
                <a:cs typeface="Times New Roman" panose="02020603050405020304" pitchFamily="18" charset="0"/>
              </a:rPr>
              <a:t>FTP (File Transfer </a:t>
            </a:r>
            <a:r>
              <a:rPr lang="en-US" sz="1200" dirty="0" smtClean="0">
                <a:solidFill>
                  <a:srgbClr val="242424"/>
                </a:solidFill>
                <a:latin typeface="Times New Roman" panose="02020603050405020304" pitchFamily="18" charset="0"/>
                <a:cs typeface="Times New Roman" panose="02020603050405020304" pitchFamily="18" charset="0"/>
              </a:rPr>
              <a:t>Protocol) - Used </a:t>
            </a:r>
            <a:r>
              <a:rPr lang="en-US" sz="1200" dirty="0">
                <a:solidFill>
                  <a:srgbClr val="242424"/>
                </a:solidFill>
                <a:latin typeface="Times New Roman" panose="02020603050405020304" pitchFamily="18" charset="0"/>
                <a:cs typeface="Times New Roman" panose="02020603050405020304" pitchFamily="18" charset="0"/>
              </a:rPr>
              <a:t>for transferring files between a client and server.</a:t>
            </a:r>
          </a:p>
          <a:p>
            <a:pPr marL="171450" indent="-171450">
              <a:buFont typeface="Arial" panose="020B0604020202020204" pitchFamily="34" charset="0"/>
              <a:buChar char="•"/>
            </a:pPr>
            <a:r>
              <a:rPr lang="en-US" sz="1200" dirty="0" smtClean="0">
                <a:solidFill>
                  <a:srgbClr val="242424"/>
                </a:solidFill>
                <a:latin typeface="Times New Roman" panose="02020603050405020304" pitchFamily="18" charset="0"/>
                <a:cs typeface="Times New Roman" panose="02020603050405020304" pitchFamily="18" charset="0"/>
              </a:rPr>
              <a:t>SMTP </a:t>
            </a:r>
            <a:r>
              <a:rPr lang="en-US" sz="1200" dirty="0">
                <a:solidFill>
                  <a:srgbClr val="242424"/>
                </a:solidFill>
                <a:latin typeface="Times New Roman" panose="02020603050405020304" pitchFamily="18" charset="0"/>
                <a:cs typeface="Times New Roman" panose="02020603050405020304" pitchFamily="18" charset="0"/>
              </a:rPr>
              <a:t>(Simple Mail Transfer </a:t>
            </a:r>
            <a:r>
              <a:rPr lang="en-US" sz="1200" dirty="0" smtClean="0">
                <a:solidFill>
                  <a:srgbClr val="242424"/>
                </a:solidFill>
                <a:latin typeface="Times New Roman" panose="02020603050405020304" pitchFamily="18" charset="0"/>
                <a:cs typeface="Times New Roman" panose="02020603050405020304" pitchFamily="18" charset="0"/>
              </a:rPr>
              <a:t>Protocol) - Used </a:t>
            </a:r>
            <a:r>
              <a:rPr lang="en-US" sz="1200" dirty="0">
                <a:solidFill>
                  <a:srgbClr val="242424"/>
                </a:solidFill>
                <a:latin typeface="Times New Roman" panose="02020603050405020304" pitchFamily="18" charset="0"/>
                <a:cs typeface="Times New Roman" panose="02020603050405020304" pitchFamily="18" charset="0"/>
              </a:rPr>
              <a:t>for sending emails from a client to a mail server.</a:t>
            </a:r>
          </a:p>
        </p:txBody>
      </p:sp>
    </p:spTree>
    <p:extLst>
      <p:ext uri="{BB962C8B-B14F-4D97-AF65-F5344CB8AC3E}">
        <p14:creationId xmlns:p14="http://schemas.microsoft.com/office/powerpoint/2010/main" val="123362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Network Infrastructure</a:t>
            </a:r>
            <a:endParaRPr sz="3600" dirty="0"/>
          </a:p>
        </p:txBody>
      </p:sp>
      <p:sp>
        <p:nvSpPr>
          <p:cNvPr id="56" name="Google Shape;56;p8"/>
          <p:cNvSpPr txBox="1"/>
          <p:nvPr/>
        </p:nvSpPr>
        <p:spPr>
          <a:xfrm>
            <a:off x="883805" y="1864906"/>
            <a:ext cx="8142000" cy="1945389"/>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CiscoSansTT"/>
              </a:rPr>
              <a:t>The network infrastructure contains three categories of hardware </a:t>
            </a:r>
            <a:r>
              <a:rPr lang="en-US" sz="2000" dirty="0" smtClean="0">
                <a:latin typeface="CiscoSansTT"/>
              </a:rPr>
              <a:t>components.</a:t>
            </a:r>
          </a:p>
          <a:p>
            <a:pPr marL="146050" lvl="0">
              <a:buClr>
                <a:srgbClr val="CC9A00"/>
              </a:buClr>
              <a:buSzPts val="1300"/>
            </a:pPr>
            <a:r>
              <a:rPr lang="en-US" sz="2000" dirty="0" smtClean="0">
                <a:latin typeface="Times New Roman"/>
                <a:ea typeface="Times New Roman"/>
                <a:cs typeface="Times New Roman"/>
                <a:sym typeface="Times New Roman"/>
              </a:rPr>
              <a:t> </a:t>
            </a:r>
          </a:p>
          <a:p>
            <a:pPr marL="342900" lvl="2" indent="-342900">
              <a:buFont typeface="Wingdings" panose="05000000000000000000" pitchFamily="2" charset="2"/>
              <a:buChar char="q"/>
            </a:pPr>
            <a:r>
              <a:rPr lang="en-US" sz="2000" dirty="0" smtClean="0">
                <a:latin typeface="CiscoSansTT"/>
              </a:rPr>
              <a:t> End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Intermediate </a:t>
            </a:r>
            <a:r>
              <a:rPr lang="en-US" sz="2000" dirty="0">
                <a:latin typeface="CiscoSansTT"/>
              </a:rPr>
              <a:t>devices</a:t>
            </a:r>
          </a:p>
          <a:p>
            <a:pPr marL="342900" lvl="2" indent="-342900">
              <a:buFont typeface="Wingdings" panose="05000000000000000000" pitchFamily="2" charset="2"/>
              <a:buChar char="q"/>
            </a:pPr>
            <a:r>
              <a:rPr lang="en-US" sz="2000" dirty="0" smtClean="0">
                <a:latin typeface="CiscoSansTT"/>
              </a:rPr>
              <a:t> Network </a:t>
            </a:r>
            <a:r>
              <a:rPr lang="en-US" sz="2000" dirty="0">
                <a:latin typeface="CiscoSansTT"/>
              </a:rPr>
              <a:t>media</a:t>
            </a: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44</a:t>
            </a:fld>
            <a:endParaRPr/>
          </a:p>
        </p:txBody>
      </p:sp>
      <p:pic>
        <p:nvPicPr>
          <p:cNvPr id="2" name="Picture 1"/>
          <p:cNvPicPr>
            <a:picLocks noChangeAspect="1"/>
          </p:cNvPicPr>
          <p:nvPr/>
        </p:nvPicPr>
        <p:blipFill>
          <a:blip r:embed="rId3"/>
          <a:stretch>
            <a:fillRect/>
          </a:stretch>
        </p:blipFill>
        <p:spPr>
          <a:xfrm>
            <a:off x="4257755" y="2637201"/>
            <a:ext cx="5161561" cy="1595586"/>
          </a:xfrm>
          <a:prstGeom prst="rect">
            <a:avLst/>
          </a:prstGeom>
        </p:spPr>
      </p:pic>
      <p:pic>
        <p:nvPicPr>
          <p:cNvPr id="3" name="Picture 2"/>
          <p:cNvPicPr>
            <a:picLocks noChangeAspect="1"/>
          </p:cNvPicPr>
          <p:nvPr/>
        </p:nvPicPr>
        <p:blipFill>
          <a:blip r:embed="rId4"/>
          <a:stretch>
            <a:fillRect/>
          </a:stretch>
        </p:blipFill>
        <p:spPr>
          <a:xfrm>
            <a:off x="344971" y="4692659"/>
            <a:ext cx="5435436" cy="1693393"/>
          </a:xfrm>
          <a:prstGeom prst="rect">
            <a:avLst/>
          </a:prstGeom>
        </p:spPr>
      </p:pic>
      <p:pic>
        <p:nvPicPr>
          <p:cNvPr id="4" name="Picture 3"/>
          <p:cNvPicPr>
            <a:picLocks noChangeAspect="1"/>
          </p:cNvPicPr>
          <p:nvPr/>
        </p:nvPicPr>
        <p:blipFill>
          <a:blip r:embed="rId5"/>
          <a:stretch>
            <a:fillRect/>
          </a:stretch>
        </p:blipFill>
        <p:spPr>
          <a:xfrm>
            <a:off x="5578786" y="4692659"/>
            <a:ext cx="4173028" cy="1595954"/>
          </a:xfrm>
          <a:prstGeom prst="rect">
            <a:avLst/>
          </a:prstGeom>
        </p:spPr>
      </p:pic>
    </p:spTree>
    <p:extLst>
      <p:ext uri="{BB962C8B-B14F-4D97-AF65-F5344CB8AC3E}">
        <p14:creationId xmlns:p14="http://schemas.microsoft.com/office/powerpoint/2010/main" val="395126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11268" name="Picture 4" descr="Internet Connection Hub Switch Stock Photo - Image of business, background: 1273856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7644" y="176127"/>
            <a:ext cx="3380556" cy="2256521"/>
          </a:xfrm>
          <a:prstGeom prst="rect">
            <a:avLst/>
          </a:prstGeom>
          <a:noFill/>
          <a:extLst>
            <a:ext uri="{909E8E84-426E-40DD-AFC4-6F175D3DCCD1}">
              <a14:hiddenFill xmlns:a14="http://schemas.microsoft.com/office/drawing/2010/main">
                <a:solidFill>
                  <a:srgbClr val="FFFFFF"/>
                </a:solidFill>
              </a14:hiddenFill>
            </a:ext>
          </a:extLst>
        </p:spPr>
      </p:pic>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a:t>Hub</a:t>
            </a:r>
            <a:endParaRPr sz="3600" dirty="0"/>
          </a:p>
        </p:txBody>
      </p:sp>
      <p:sp>
        <p:nvSpPr>
          <p:cNvPr id="56" name="Google Shape;56;p8"/>
          <p:cNvSpPr txBox="1"/>
          <p:nvPr/>
        </p:nvSpPr>
        <p:spPr>
          <a:xfrm>
            <a:off x="883805" y="1732170"/>
            <a:ext cx="8142000" cy="4715378"/>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hub is the most basic way of connecting several devices in a local area network (LAN).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hub receives data packets and forwards them on to all devices that are connected to the hub. Only the intended destination device will accept the data sent; the other devices connected to the hub will just ignore it.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Each </a:t>
            </a:r>
            <a:r>
              <a:rPr lang="en-US" sz="2000" dirty="0">
                <a:latin typeface="Times New Roman"/>
                <a:ea typeface="Times New Roman"/>
                <a:cs typeface="Times New Roman"/>
                <a:sym typeface="Times New Roman"/>
              </a:rPr>
              <a:t>device is connected to a hub using a wired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type of wired connection normally used for a hub is either an </a:t>
            </a:r>
            <a:r>
              <a:rPr lang="en-US" sz="2000" dirty="0" err="1">
                <a:latin typeface="Times New Roman"/>
                <a:ea typeface="Times New Roman"/>
                <a:cs typeface="Times New Roman"/>
                <a:sym typeface="Times New Roman"/>
              </a:rPr>
              <a:t>ethernet</a:t>
            </a:r>
            <a:r>
              <a:rPr lang="en-US" sz="2000" dirty="0">
                <a:latin typeface="Times New Roman"/>
                <a:ea typeface="Times New Roman"/>
                <a:cs typeface="Times New Roman"/>
                <a:sym typeface="Times New Roman"/>
              </a:rPr>
              <a:t> connection or a USB connection.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There </a:t>
            </a:r>
            <a:r>
              <a:rPr lang="en-US" sz="2000" dirty="0">
                <a:latin typeface="Times New Roman"/>
                <a:ea typeface="Times New Roman"/>
                <a:cs typeface="Times New Roman"/>
                <a:sym typeface="Times New Roman"/>
              </a:rPr>
              <a:t>is a lot of unnecessary traffic in a network where hubs are used. This can cause a lot of data collisions, which can cause errors to occur and reduce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14410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Switch</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A switch was developed as an improvement to the inefficiency of a hub. A switch is also used to connect several devices in a LAN network.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S</a:t>
            </a:r>
            <a:r>
              <a:rPr lang="en-US" sz="2000" dirty="0" smtClean="0">
                <a:latin typeface="Times New Roman"/>
                <a:ea typeface="Times New Roman"/>
                <a:cs typeface="Times New Roman"/>
                <a:sym typeface="Times New Roman"/>
              </a:rPr>
              <a:t>witch</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only </a:t>
            </a:r>
            <a:r>
              <a:rPr lang="en-US" sz="2000" dirty="0">
                <a:latin typeface="Times New Roman"/>
                <a:ea typeface="Times New Roman"/>
                <a:cs typeface="Times New Roman"/>
                <a:sym typeface="Times New Roman"/>
              </a:rPr>
              <a:t>sends the data packets to the intended destination. It does this by using a device's media access control (MAC) address.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switch records all the MAC addresses of devices that are attached to it and stores them in a table. It looks at the data packet to find the destination MAC address and forwards the data packet on to this device only. </a:t>
            </a:r>
            <a:endParaRPr lang="en-US" sz="2000" dirty="0" smtClean="0">
              <a:latin typeface="Times New Roman"/>
              <a:ea typeface="Times New Roman"/>
              <a:cs typeface="Times New Roman"/>
              <a:sym typeface="Times New Roman"/>
            </a:endParaRP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This </a:t>
            </a:r>
            <a:r>
              <a:rPr lang="en-US" sz="2000" dirty="0">
                <a:latin typeface="Times New Roman"/>
                <a:ea typeface="Times New Roman"/>
                <a:cs typeface="Times New Roman"/>
                <a:sym typeface="Times New Roman"/>
              </a:rPr>
              <a:t>reduces the amount of traffic in the network and as a result reduces the number of data collisions. This improves the performance of the network.</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46</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2" name="Picture 4" descr="Network Switches | Juniper Networks 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3898" y="619599"/>
            <a:ext cx="5478309" cy="1369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72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Activity: Install </a:t>
            </a:r>
            <a:r>
              <a:rPr lang="en-US" dirty="0" smtClean="0"/>
              <a:t>Packet </a:t>
            </a:r>
            <a:r>
              <a:rPr lang="en-US" dirty="0"/>
              <a:t>Tracer</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47</a:t>
            </a:fld>
            <a:endParaRPr/>
          </a:p>
        </p:txBody>
      </p:sp>
      <p:pic>
        <p:nvPicPr>
          <p:cNvPr id="6146" name="Picture 2" descr="Ultimate Guide to Packet Tracer - ITPR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752" y="1857192"/>
            <a:ext cx="7668953" cy="4517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93894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243930"/>
          </a:xfrm>
          <a:prstGeom prst="rect">
            <a:avLst/>
          </a:prstGeom>
          <a:noFill/>
          <a:ln>
            <a:noFill/>
          </a:ln>
        </p:spPr>
        <p:txBody>
          <a:bodyPr spcFirstLastPara="1" wrap="square" lIns="0" tIns="12700" rIns="0" bIns="0" anchor="t" anchorCtr="0">
            <a:spAutoFit/>
          </a:bodyPr>
          <a:lstStyle/>
          <a:p>
            <a:r>
              <a:rPr lang="en-US" dirty="0" smtClean="0"/>
              <a:t>Activity: Transfer a data </a:t>
            </a:r>
            <a:r>
              <a:rPr lang="en-US" dirty="0"/>
              <a:t>p</a:t>
            </a:r>
            <a:r>
              <a:rPr lang="en-US" dirty="0" smtClean="0"/>
              <a:t>acket </a:t>
            </a:r>
            <a:br>
              <a:rPr lang="en-US" dirty="0" smtClean="0"/>
            </a:br>
            <a:r>
              <a:rPr lang="en-US" dirty="0" smtClean="0"/>
              <a:t>b</a:t>
            </a:r>
            <a:r>
              <a:rPr lang="en-US" dirty="0" smtClean="0"/>
              <a:t>etween </a:t>
            </a:r>
            <a:r>
              <a:rPr lang="en-US" dirty="0"/>
              <a:t>t</a:t>
            </a:r>
            <a:r>
              <a:rPr lang="en-US" dirty="0" smtClean="0"/>
              <a:t>wo PCs</a:t>
            </a: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48</a:t>
            </a:fld>
            <a:endParaRPr/>
          </a:p>
        </p:txBody>
      </p:sp>
      <p:pic>
        <p:nvPicPr>
          <p:cNvPr id="5" name="Picture 4"/>
          <p:cNvPicPr>
            <a:picLocks noChangeAspect="1"/>
          </p:cNvPicPr>
          <p:nvPr/>
        </p:nvPicPr>
        <p:blipFill>
          <a:blip r:embed="rId3"/>
          <a:stretch>
            <a:fillRect/>
          </a:stretch>
        </p:blipFill>
        <p:spPr>
          <a:xfrm>
            <a:off x="2295938" y="2757986"/>
            <a:ext cx="5637331" cy="3169451"/>
          </a:xfrm>
          <a:prstGeom prst="rect">
            <a:avLst/>
          </a:prstGeom>
        </p:spPr>
      </p:pic>
    </p:spTree>
    <p:extLst>
      <p:ext uri="{BB962C8B-B14F-4D97-AF65-F5344CB8AC3E}">
        <p14:creationId xmlns:p14="http://schemas.microsoft.com/office/powerpoint/2010/main" val="1813042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628377"/>
          </a:xfrm>
          <a:prstGeom prst="rect">
            <a:avLst/>
          </a:prstGeom>
          <a:noFill/>
          <a:ln>
            <a:noFill/>
          </a:ln>
        </p:spPr>
        <p:txBody>
          <a:bodyPr spcFirstLastPara="1" wrap="square" lIns="0" tIns="12700" rIns="0" bIns="0" anchor="t" anchorCtr="0">
            <a:spAutoFit/>
          </a:bodyPr>
          <a:lstStyle/>
          <a:p>
            <a:r>
              <a:rPr lang="en-US" dirty="0" smtClean="0"/>
              <a:t>IP Address</a:t>
            </a:r>
            <a:endParaRPr sz="3600" dirty="0"/>
          </a:p>
        </p:txBody>
      </p:sp>
      <p:sp>
        <p:nvSpPr>
          <p:cNvPr id="56" name="Google Shape;56;p8"/>
          <p:cNvSpPr txBox="1"/>
          <p:nvPr/>
        </p:nvSpPr>
        <p:spPr>
          <a:xfrm>
            <a:off x="883805" y="1864906"/>
            <a:ext cx="8142000" cy="4099825"/>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An </a:t>
            </a:r>
            <a:r>
              <a:rPr lang="en-US" sz="2000" dirty="0">
                <a:latin typeface="Times New Roman"/>
                <a:ea typeface="Times New Roman"/>
                <a:cs typeface="Times New Roman"/>
                <a:sym typeface="Times New Roman"/>
              </a:rPr>
              <a:t>IP address (Internet Protocol </a:t>
            </a:r>
            <a:r>
              <a:rPr lang="en-US" sz="2000" dirty="0" smtClean="0">
                <a:latin typeface="Times New Roman"/>
                <a:ea typeface="Times New Roman"/>
                <a:cs typeface="Times New Roman"/>
                <a:sym typeface="Times New Roman"/>
              </a:rPr>
              <a:t>Address</a:t>
            </a:r>
            <a:r>
              <a:rPr lang="en-US" sz="2000" dirty="0">
                <a:latin typeface="Times New Roman"/>
                <a:ea typeface="Times New Roman"/>
                <a:cs typeface="Times New Roman"/>
                <a:sym typeface="Times New Roman"/>
              </a:rPr>
              <a:t>) is a unique numerical identifier assigned to each device connected to a network that uses the Internet Protocol for communication</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IP address is use to </a:t>
            </a:r>
            <a:r>
              <a:rPr lang="en-US" sz="2000" dirty="0">
                <a:latin typeface="Times New Roman"/>
                <a:ea typeface="Times New Roman"/>
                <a:cs typeface="Times New Roman"/>
                <a:sym typeface="Times New Roman"/>
              </a:rPr>
              <a:t>uniquely </a:t>
            </a:r>
            <a:r>
              <a:rPr lang="en-US" sz="2000" dirty="0" smtClean="0">
                <a:latin typeface="Times New Roman"/>
                <a:ea typeface="Times New Roman"/>
                <a:cs typeface="Times New Roman"/>
                <a:sym typeface="Times New Roman"/>
              </a:rPr>
              <a:t>identify </a:t>
            </a:r>
            <a:r>
              <a:rPr lang="en-US" sz="2000" dirty="0">
                <a:latin typeface="Times New Roman"/>
                <a:ea typeface="Times New Roman"/>
                <a:cs typeface="Times New Roman"/>
                <a:sym typeface="Times New Roman"/>
              </a:rPr>
              <a:t>a device on the </a:t>
            </a:r>
            <a:r>
              <a:rPr lang="en-US" sz="2000" dirty="0" smtClean="0">
                <a:latin typeface="Times New Roman"/>
                <a:ea typeface="Times New Roman"/>
                <a:cs typeface="Times New Roman"/>
                <a:sym typeface="Times New Roman"/>
              </a:rPr>
              <a:t>network and to </a:t>
            </a:r>
            <a:r>
              <a:rPr lang="en-US" sz="2000" dirty="0">
                <a:latin typeface="Times New Roman"/>
                <a:ea typeface="Times New Roman"/>
                <a:cs typeface="Times New Roman"/>
                <a:sym typeface="Times New Roman"/>
              </a:rPr>
              <a:t>determine where the device is located in the </a:t>
            </a:r>
            <a:r>
              <a:rPr lang="en-US" sz="2000" dirty="0" smtClean="0">
                <a:latin typeface="Times New Roman"/>
                <a:ea typeface="Times New Roman"/>
                <a:cs typeface="Times New Roman"/>
                <a:sym typeface="Times New Roman"/>
              </a:rPr>
              <a:t>network, </a:t>
            </a:r>
            <a:r>
              <a:rPr lang="en-US" sz="2000" dirty="0">
                <a:latin typeface="Times New Roman"/>
                <a:ea typeface="Times New Roman"/>
                <a:cs typeface="Times New Roman"/>
                <a:sym typeface="Times New Roman"/>
              </a:rPr>
              <a:t>so data can be sent to and from it</a:t>
            </a:r>
            <a:r>
              <a:rPr lang="en-US" sz="2000" dirty="0" smtClean="0">
                <a:latin typeface="Times New Roman"/>
                <a:ea typeface="Times New Roman"/>
                <a:cs typeface="Times New Roman"/>
                <a:sym typeface="Times New Roman"/>
              </a:rPr>
              <a:t>.</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cs typeface="Times New Roman"/>
                <a:sym typeface="Times New Roman"/>
              </a:rPr>
              <a:t>IPV4 </a:t>
            </a:r>
            <a:r>
              <a:rPr lang="en-US" sz="2000" dirty="0">
                <a:latin typeface="Times New Roman"/>
                <a:cs typeface="Times New Roman"/>
                <a:sym typeface="Times New Roman"/>
              </a:rPr>
              <a:t>– 192.168.1.1</a:t>
            </a:r>
            <a:endParaRPr lang="en-US" sz="2000" dirty="0" smtClean="0">
              <a:latin typeface="Times New Roman"/>
              <a:cs typeface="Times New Roman"/>
              <a:sym typeface="Times New Roman"/>
            </a:endParaRPr>
          </a:p>
          <a:p>
            <a:pPr marL="146050" lvl="0">
              <a:buClr>
                <a:srgbClr val="CC9A00"/>
              </a:buClr>
              <a:buSzPts val="1300"/>
            </a:pP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IPV6 </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2001:0db8:85a3:0000:0000:8a2e:0370:7334</a:t>
            </a:r>
          </a:p>
          <a:p>
            <a:pPr marL="146050" lvl="0">
              <a:buClr>
                <a:srgbClr val="CC9A00"/>
              </a:buClr>
              <a:buSzPts val="1300"/>
            </a:pPr>
            <a:endParaRPr lang="en-US" sz="2000" dirty="0" smtClean="0">
              <a:latin typeface="Times New Roman"/>
              <a:ea typeface="Times New Roman"/>
              <a:cs typeface="Times New Roman"/>
              <a:sym typeface="Times New Roman"/>
            </a:endParaRPr>
          </a:p>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The </a:t>
            </a:r>
            <a:r>
              <a:rPr lang="en-US" sz="2000" dirty="0">
                <a:latin typeface="Times New Roman"/>
                <a:ea typeface="Times New Roman"/>
                <a:cs typeface="Times New Roman"/>
                <a:sym typeface="Times New Roman"/>
              </a:rPr>
              <a:t>sender includes the destination IP address in the data packet. Routers use this IP address to forward the packet to the correct destination.</a:t>
            </a:r>
            <a:endParaRPr lang="en-US" sz="2000" dirty="0" smtClean="0">
              <a:latin typeface="Times New Roman"/>
              <a:ea typeface="Times New Roman"/>
              <a:cs typeface="Times New Roman"/>
              <a:sym typeface="Times New Roman"/>
            </a:endParaRPr>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49</a:t>
            </a:fld>
            <a:endParaRPr/>
          </a:p>
        </p:txBody>
      </p:sp>
      <p:sp>
        <p:nvSpPr>
          <p:cNvPr id="2" name="AutoShape 2" descr="Network Switches | Juniper Networks U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0968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Data Packet</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50</a:t>
            </a:fld>
            <a:endParaRPr/>
          </a:p>
        </p:txBody>
      </p:sp>
      <p:pic>
        <p:nvPicPr>
          <p:cNvPr id="1026" name="Picture 2" descr="Data Packets - Conquer Computer Sc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531" y="2705346"/>
            <a:ext cx="6578530" cy="3700423"/>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56;p8"/>
          <p:cNvSpPr txBox="1"/>
          <p:nvPr/>
        </p:nvSpPr>
        <p:spPr>
          <a:xfrm>
            <a:off x="883805" y="168328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a:latin typeface="Times New Roman"/>
                <a:ea typeface="Times New Roman"/>
                <a:cs typeface="Times New Roman"/>
                <a:sym typeface="Times New Roman"/>
              </a:rPr>
              <a:t>The unit of data that contains the information to be transmitted across a network</a:t>
            </a:r>
            <a:endParaRPr lang="en-US" sz="2000" dirty="0" smtClean="0">
              <a:latin typeface="Times New Roman"/>
              <a:ea typeface="Times New Roman"/>
              <a:cs typeface="Times New Roman"/>
              <a:sym typeface="Times New Roman"/>
            </a:endParaRPr>
          </a:p>
        </p:txBody>
      </p:sp>
    </p:spTree>
    <p:extLst>
      <p:ext uri="{BB962C8B-B14F-4D97-AF65-F5344CB8AC3E}">
        <p14:creationId xmlns:p14="http://schemas.microsoft.com/office/powerpoint/2010/main" val="216251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993900" y="990200"/>
            <a:ext cx="8904300" cy="1797928"/>
          </a:xfrm>
          <a:prstGeom prst="rect">
            <a:avLst/>
          </a:prstGeom>
          <a:noFill/>
          <a:ln>
            <a:noFill/>
          </a:ln>
        </p:spPr>
        <p:txBody>
          <a:bodyPr spcFirstLastPara="1" wrap="square" lIns="0" tIns="12700" rIns="0" bIns="0" anchor="t" anchorCtr="0">
            <a:spAutoFit/>
          </a:bodyPr>
          <a:lstStyle/>
          <a:p>
            <a:r>
              <a:rPr lang="en-US" dirty="0" smtClean="0"/>
              <a:t>OSI Model</a:t>
            </a:r>
            <a:r>
              <a:rPr lang="en-US" dirty="0"/>
              <a:t/>
            </a:r>
            <a:br>
              <a:rPr lang="en-US" dirty="0"/>
            </a:br>
            <a:r>
              <a:rPr lang="en-US" dirty="0"/>
              <a:t/>
            </a:r>
            <a:br>
              <a:rPr lang="en-US" dirty="0"/>
            </a:br>
            <a:endParaRPr sz="3600" dirty="0"/>
          </a:p>
        </p:txBody>
      </p:sp>
      <p:sp>
        <p:nvSpPr>
          <p:cNvPr id="57" name="Google Shape;57;p8"/>
          <p:cNvSpPr txBox="1">
            <a:spLocks noGrp="1"/>
          </p:cNvSpPr>
          <p:nvPr>
            <p:ph type="sldNum" idx="12"/>
          </p:nvPr>
        </p:nvSpPr>
        <p:spPr>
          <a:xfrm>
            <a:off x="8915705" y="6780493"/>
            <a:ext cx="220200" cy="184800"/>
          </a:xfrm>
          <a:prstGeom prst="rect">
            <a:avLst/>
          </a:prstGeom>
          <a:noFill/>
          <a:ln>
            <a:noFill/>
          </a:ln>
        </p:spPr>
        <p:txBody>
          <a:bodyPr spcFirstLastPara="1" wrap="square" lIns="0" tIns="0" rIns="0" bIns="0" anchor="t" anchorCtr="0">
            <a:spAutoFit/>
          </a:bodyPr>
          <a:lstStyle/>
          <a:p>
            <a:pPr marL="38100" lvl="0" indent="0" algn="l" rtl="0">
              <a:lnSpc>
                <a:spcPct val="114583"/>
              </a:lnSpc>
              <a:spcBef>
                <a:spcPts val="0"/>
              </a:spcBef>
              <a:spcAft>
                <a:spcPts val="0"/>
              </a:spcAft>
              <a:buNone/>
            </a:pPr>
            <a:fld id="{00000000-1234-1234-1234-123412341234}" type="slidenum">
              <a:rPr lang="en-US"/>
              <a:t>51</a:t>
            </a:fld>
            <a:endParaRPr/>
          </a:p>
        </p:txBody>
      </p:sp>
      <p:sp>
        <p:nvSpPr>
          <p:cNvPr id="5" name="Google Shape;56;p8"/>
          <p:cNvSpPr txBox="1"/>
          <p:nvPr/>
        </p:nvSpPr>
        <p:spPr>
          <a:xfrm>
            <a:off x="883805" y="1683286"/>
            <a:ext cx="8142000" cy="714283"/>
          </a:xfrm>
          <a:prstGeom prst="rect">
            <a:avLst/>
          </a:prstGeom>
          <a:noFill/>
          <a:ln>
            <a:noFill/>
          </a:ln>
        </p:spPr>
        <p:txBody>
          <a:bodyPr spcFirstLastPara="1" wrap="square" lIns="0" tIns="97775" rIns="0" bIns="0" anchor="t" anchorCtr="0">
            <a:spAutoFit/>
          </a:bodyPr>
          <a:lstStyle/>
          <a:p>
            <a:pPr marL="457200" lvl="0" indent="-311150">
              <a:buClr>
                <a:srgbClr val="CC9A00"/>
              </a:buClr>
              <a:buSzPts val="1300"/>
              <a:buFont typeface="Noto Sans Symbols"/>
              <a:buChar char="❑"/>
            </a:pPr>
            <a:r>
              <a:rPr lang="en-US" sz="2000" dirty="0" smtClean="0">
                <a:latin typeface="Times New Roman"/>
                <a:ea typeface="Times New Roman"/>
                <a:cs typeface="Times New Roman"/>
                <a:sym typeface="Times New Roman"/>
              </a:rPr>
              <a:t>A </a:t>
            </a:r>
            <a:r>
              <a:rPr lang="en-US" sz="2000" dirty="0">
                <a:latin typeface="Times New Roman"/>
                <a:ea typeface="Times New Roman"/>
                <a:cs typeface="Times New Roman"/>
                <a:sym typeface="Times New Roman"/>
              </a:rPr>
              <a:t>universal standard for communication. It allowed different hardware and software systems to talk to each other.</a:t>
            </a:r>
            <a:endParaRPr lang="en-US" sz="2000" dirty="0" smtClean="0">
              <a:latin typeface="Times New Roman"/>
              <a:ea typeface="Times New Roman"/>
              <a:cs typeface="Times New Roman"/>
              <a:sym typeface="Times New Roman"/>
            </a:endParaRPr>
          </a:p>
        </p:txBody>
      </p:sp>
      <p:pic>
        <p:nvPicPr>
          <p:cNvPr id="3074" name="Picture 2" descr="https://miro.medium.com/v2/resize:fit:875/0*vc7WxYDGvtEG-YN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5489" y="2788128"/>
            <a:ext cx="5878632" cy="3305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183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3766</TotalTime>
  <Words>1948</Words>
  <Application>Microsoft Office PowerPoint</Application>
  <PresentationFormat>Custom</PresentationFormat>
  <Paragraphs>299</Paragraphs>
  <Slides>51</Slides>
  <Notes>49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CiscoSansTT</vt:lpstr>
      <vt:lpstr>Iskoola Pota</vt:lpstr>
      <vt:lpstr>Noto Sans Symbols</vt:lpstr>
      <vt:lpstr>Times New Roman</vt:lpstr>
      <vt:lpstr>Wingdings</vt:lpstr>
      <vt:lpstr>Office Theme</vt:lpstr>
      <vt:lpstr>Computer Networks</vt:lpstr>
      <vt:lpstr>What is a Computer Network? </vt:lpstr>
      <vt:lpstr>Host / End Device? </vt:lpstr>
      <vt:lpstr>Client? </vt:lpstr>
      <vt:lpstr>Server? </vt:lpstr>
      <vt:lpstr>PowerPoint Presentation</vt:lpstr>
      <vt:lpstr>Intermediary Devices </vt:lpstr>
      <vt:lpstr>Intermediary Devices </vt:lpstr>
      <vt:lpstr>Components of Data Communication System  </vt:lpstr>
      <vt:lpstr>1. Sender </vt:lpstr>
      <vt:lpstr>2. Receiver </vt:lpstr>
      <vt:lpstr>Question:  </vt:lpstr>
      <vt:lpstr>Answer:  </vt:lpstr>
      <vt:lpstr>3. Transmission Media </vt:lpstr>
      <vt:lpstr>Guided Media (Wired)  </vt:lpstr>
      <vt:lpstr>Twisted pair cable</vt:lpstr>
      <vt:lpstr>Coaxial cable</vt:lpstr>
      <vt:lpstr>Fiber optic cable</vt:lpstr>
      <vt:lpstr>Unguided Media (Wireless)  </vt:lpstr>
      <vt:lpstr>Microwaves</vt:lpstr>
      <vt:lpstr>Radio waves</vt:lpstr>
      <vt:lpstr>Ethernet</vt:lpstr>
      <vt:lpstr>Question  </vt:lpstr>
      <vt:lpstr>NIC?   </vt:lpstr>
      <vt:lpstr>PowerPoint Presentation</vt:lpstr>
      <vt:lpstr>Question  </vt:lpstr>
      <vt:lpstr>Answer  </vt:lpstr>
      <vt:lpstr>How MAC addresses stay unique  </vt:lpstr>
      <vt:lpstr>MAC Address</vt:lpstr>
      <vt:lpstr>4. Message </vt:lpstr>
      <vt:lpstr>Question  </vt:lpstr>
      <vt:lpstr>Answer  </vt:lpstr>
      <vt:lpstr>Bandwidth  </vt:lpstr>
      <vt:lpstr>Throughput  </vt:lpstr>
      <vt:lpstr>Question  </vt:lpstr>
      <vt:lpstr>Answer  </vt:lpstr>
      <vt:lpstr>Question  </vt:lpstr>
      <vt:lpstr>Answer  </vt:lpstr>
      <vt:lpstr>5. Protocol </vt:lpstr>
      <vt:lpstr>Question  </vt:lpstr>
      <vt:lpstr>Answer  </vt:lpstr>
      <vt:lpstr> Rules or Main aspects in HTTP  </vt:lpstr>
      <vt:lpstr>PowerPoint Presentation</vt:lpstr>
      <vt:lpstr>Network Infrastructure</vt:lpstr>
      <vt:lpstr>Hub</vt:lpstr>
      <vt:lpstr>Switch</vt:lpstr>
      <vt:lpstr>Activity: Install Packet Tracer</vt:lpstr>
      <vt:lpstr>Activity: Transfer a data packet  between two PCs</vt:lpstr>
      <vt:lpstr>IP Address</vt:lpstr>
      <vt:lpstr>Data Packet  </vt:lpstr>
      <vt:lpstr>OSI 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System Administration</dc:title>
  <dc:creator>Chamindu</dc:creator>
  <cp:lastModifiedBy>Chamindu</cp:lastModifiedBy>
  <cp:revision>86</cp:revision>
  <dcterms:modified xsi:type="dcterms:W3CDTF">2026-04-05T12:01:51Z</dcterms:modified>
</cp:coreProperties>
</file>