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352" r:id="rId2"/>
    <p:sldId id="339" r:id="rId3"/>
    <p:sldId id="305" r:id="rId4"/>
    <p:sldId id="363" r:id="rId5"/>
    <p:sldId id="366" r:id="rId6"/>
    <p:sldId id="367" r:id="rId7"/>
    <p:sldId id="364" r:id="rId8"/>
    <p:sldId id="368" r:id="rId9"/>
    <p:sldId id="369" r:id="rId10"/>
    <p:sldId id="370" r:id="rId11"/>
    <p:sldId id="371" r:id="rId12"/>
    <p:sldId id="372" r:id="rId13"/>
    <p:sldId id="373" r:id="rId14"/>
    <p:sldId id="355" r:id="rId15"/>
    <p:sldId id="356" r:id="rId16"/>
    <p:sldId id="361" r:id="rId17"/>
    <p:sldId id="362" r:id="rId18"/>
  </p:sldIdLst>
  <p:sldSz cx="10058400" cy="7772400"/>
  <p:notesSz cx="10058400" cy="7772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ide5E5K1qMnAXfCVAS8PAjD/wh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26" autoAdjust="0"/>
    <p:restoredTop sz="94660"/>
  </p:normalViewPr>
  <p:slideViewPr>
    <p:cSldViewPr snapToGrid="0">
      <p:cViewPr varScale="1">
        <p:scale>
          <a:sx n="73" d="100"/>
          <a:sy n="73" d="100"/>
        </p:scale>
        <p:origin x="1406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76725" y="582925"/>
            <a:ext cx="6705925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3588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539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28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1924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082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0701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537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8507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1282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022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7220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6150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7513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4829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4904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9521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eabb2b389b_0_12:notes"/>
          <p:cNvSpPr txBox="1">
            <a:spLocks noGrp="1"/>
          </p:cNvSpPr>
          <p:nvPr>
            <p:ph type="body" idx="1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2eabb2b389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5962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title"/>
          </p:nvPr>
        </p:nvSpPr>
        <p:spPr>
          <a:xfrm>
            <a:off x="3917822" y="3268472"/>
            <a:ext cx="2222754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0065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body" idx="1"/>
          </p:nvPr>
        </p:nvSpPr>
        <p:spPr>
          <a:xfrm>
            <a:off x="967739" y="1415005"/>
            <a:ext cx="6968490" cy="303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rgbClr val="0065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ldNum" idx="12"/>
          </p:nvPr>
        </p:nvSpPr>
        <p:spPr>
          <a:xfrm>
            <a:off x="8869680" y="6925793"/>
            <a:ext cx="220345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marR="0" lvl="1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marR="0" lvl="2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marR="0" lvl="3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marR="0" lvl="4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marR="0" lvl="5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marR="0" lvl="6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marR="0" lvl="7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marR="0" lvl="8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3917822" y="3268472"/>
            <a:ext cx="2222754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rgbClr val="0065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2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869680" y="6925793"/>
            <a:ext cx="220345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marR="0" lvl="1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marR="0" lvl="2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marR="0" lvl="3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marR="0" lvl="4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marR="0" lvl="5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marR="0" lvl="6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marR="0" lvl="7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marR="0" lvl="8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869680" y="6925793"/>
            <a:ext cx="220345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marR="0" lvl="1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marR="0" lvl="2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marR="0" lvl="3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marR="0" lvl="4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marR="0" lvl="5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marR="0" lvl="6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marR="0" lvl="7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marR="0" lvl="8" indent="0" algn="l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/>
          <p:nvPr/>
        </p:nvSpPr>
        <p:spPr>
          <a:xfrm>
            <a:off x="829056" y="676655"/>
            <a:ext cx="8238490" cy="619125"/>
          </a:xfrm>
          <a:custGeom>
            <a:avLst/>
            <a:gdLst/>
            <a:ahLst/>
            <a:cxnLst/>
            <a:rect l="l" t="t" r="r" b="b"/>
            <a:pathLst>
              <a:path w="8238490" h="619125" extrusionOk="0">
                <a:moveTo>
                  <a:pt x="8238490" y="0"/>
                </a:moveTo>
                <a:lnTo>
                  <a:pt x="19050" y="0"/>
                </a:lnTo>
                <a:lnTo>
                  <a:pt x="8890" y="0"/>
                </a:lnTo>
                <a:lnTo>
                  <a:pt x="0" y="0"/>
                </a:lnTo>
                <a:lnTo>
                  <a:pt x="0" y="618744"/>
                </a:lnTo>
                <a:lnTo>
                  <a:pt x="8890" y="618744"/>
                </a:lnTo>
                <a:lnTo>
                  <a:pt x="8890" y="14224"/>
                </a:lnTo>
                <a:lnTo>
                  <a:pt x="13970" y="14224"/>
                </a:lnTo>
                <a:lnTo>
                  <a:pt x="9144" y="19050"/>
                </a:lnTo>
                <a:lnTo>
                  <a:pt x="9144" y="618744"/>
                </a:lnTo>
                <a:lnTo>
                  <a:pt x="19050" y="618744"/>
                </a:lnTo>
                <a:lnTo>
                  <a:pt x="19050" y="19050"/>
                </a:lnTo>
                <a:lnTo>
                  <a:pt x="8238490" y="19050"/>
                </a:lnTo>
                <a:lnTo>
                  <a:pt x="8238490" y="0"/>
                </a:lnTo>
                <a:close/>
              </a:path>
            </a:pathLst>
          </a:custGeom>
          <a:solidFill>
            <a:srgbClr val="CC99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6"/>
          <p:cNvSpPr/>
          <p:nvPr/>
        </p:nvSpPr>
        <p:spPr>
          <a:xfrm>
            <a:off x="914400" y="6620256"/>
            <a:ext cx="8229600" cy="19050"/>
          </a:xfrm>
          <a:custGeom>
            <a:avLst/>
            <a:gdLst/>
            <a:ahLst/>
            <a:cxnLst/>
            <a:rect l="l" t="t" r="r" b="b"/>
            <a:pathLst>
              <a:path w="8229600" h="19050" extrusionOk="0">
                <a:moveTo>
                  <a:pt x="8229600" y="19050"/>
                </a:moveTo>
                <a:lnTo>
                  <a:pt x="8229600" y="0"/>
                </a:lnTo>
                <a:lnTo>
                  <a:pt x="0" y="0"/>
                </a:lnTo>
                <a:lnTo>
                  <a:pt x="0" y="19050"/>
                </a:lnTo>
                <a:lnTo>
                  <a:pt x="8229600" y="19050"/>
                </a:lnTo>
                <a:close/>
              </a:path>
            </a:pathLst>
          </a:custGeom>
          <a:solidFill>
            <a:srgbClr val="CC99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6"/>
          <p:cNvSpPr txBox="1">
            <a:spLocks noGrp="1"/>
          </p:cNvSpPr>
          <p:nvPr>
            <p:ph type="title"/>
          </p:nvPr>
        </p:nvSpPr>
        <p:spPr>
          <a:xfrm>
            <a:off x="3917822" y="3268472"/>
            <a:ext cx="2222754" cy="63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rgbClr val="0065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body" idx="1"/>
          </p:nvPr>
        </p:nvSpPr>
        <p:spPr>
          <a:xfrm>
            <a:off x="967739" y="1415005"/>
            <a:ext cx="6968490" cy="303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65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ftr" idx="11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dt" idx="10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sldNum" idx="12"/>
          </p:nvPr>
        </p:nvSpPr>
        <p:spPr>
          <a:xfrm>
            <a:off x="8869680" y="6925793"/>
            <a:ext cx="220345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38100" marR="0" lvl="1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38100" marR="0" lvl="2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38100" marR="0" lvl="3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38100" marR="0" lvl="4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8100" marR="0" lvl="5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8100" marR="0" lvl="6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8100" marR="0" lvl="7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100" marR="0" lvl="8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1510747" y="2819000"/>
            <a:ext cx="7136601" cy="936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lvl="0" algn="ctr"/>
            <a:r>
              <a:rPr lang="en-US" sz="6000" dirty="0" smtClean="0"/>
              <a:t>Computer Networks</a:t>
            </a: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22428" y="5596759"/>
            <a:ext cx="1371600" cy="8429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909817" y="627930"/>
            <a:ext cx="8904300" cy="118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lvl="0"/>
            <a:r>
              <a:rPr lang="en-US" dirty="0" smtClean="0"/>
              <a:t>Learning Outcomes</a:t>
            </a:r>
            <a:r>
              <a:rPr lang="en-US" dirty="0"/>
              <a:t/>
            </a:r>
            <a:br>
              <a:rPr lang="en-US" dirty="0"/>
            </a:b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911" y="1481048"/>
            <a:ext cx="4855778" cy="42488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910" y="5658005"/>
            <a:ext cx="4855779" cy="92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1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Part</a:t>
            </a:r>
            <a:r>
              <a:rPr lang="en-US" sz="3600" dirty="0" smtClean="0"/>
              <a:t> 1:</a:t>
            </a: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262" y="1847052"/>
            <a:ext cx="6677957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3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883805" y="1759803"/>
            <a:ext cx="8142000" cy="379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TCP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first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establish a reliable connection using a 3-way handshake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When host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 wants to communicate with Host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cs typeface="Times New Roman"/>
                <a:sym typeface="Times New Roman"/>
              </a:rPr>
              <a:t>It sends a SYN packet → “I want to start a connection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”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Host B replies with SYN + ACK → “Okay, I accept + here is my sequence number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Host A sends ACK → “Confirmed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Then the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connection is established.</a:t>
            </a: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" name="AutoShape 2" descr="Network Switches | Juniper Networks 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Question 1: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77298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883805" y="1759803"/>
            <a:ext cx="8142000" cy="317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Each TCP packet has flags and header fields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SYN (Synchronize) → Used to start a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connection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ACK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(Acknowledgment) → Confirms received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data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Sequence Number → Tracks data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order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Acknowledgment Number → Confirms received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bytes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" name="AutoShape 2" descr="Network Switches | Juniper Networks 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Question 2: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69632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883805" y="1759803"/>
            <a:ext cx="8142000" cy="379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SYN - Start communication</a:t>
            </a: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SYN-ACK - Accept + respond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ACK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- Final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confirmation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These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steps need because: </a:t>
            </a:r>
          </a:p>
          <a:p>
            <a:pPr marL="146050" lvl="0">
              <a:buClr>
                <a:srgbClr val="CC9A00"/>
              </a:buClr>
              <a:buSzPts val="1300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Both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sides must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603250" lvl="0" indent="-457200">
              <a:buClr>
                <a:srgbClr val="CC9A00"/>
              </a:buClr>
              <a:buSzPts val="1300"/>
              <a:buFont typeface="+mj-lt"/>
              <a:buAutoNum type="arabicPeriod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Agree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communication</a:t>
            </a:r>
          </a:p>
          <a:p>
            <a:pPr marL="603250" lvl="0" indent="-457200">
              <a:buClr>
                <a:srgbClr val="CC9A00"/>
              </a:buClr>
              <a:buSzPts val="1300"/>
              <a:buFont typeface="+mj-lt"/>
              <a:buAutoNum type="arabicPeriod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Synchronize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sequence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numbers</a:t>
            </a:r>
          </a:p>
          <a:p>
            <a:pPr marL="603250" lvl="0" indent="-457200">
              <a:buClr>
                <a:srgbClr val="CC9A00"/>
              </a:buClr>
              <a:buSzPts val="1300"/>
              <a:buFont typeface="+mj-lt"/>
              <a:buAutoNum type="arabicPeriod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Ensure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reliability from the start</a:t>
            </a: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AutoShape 2" descr="Network Switches | Juniper Networks 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Question 3: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55101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Part</a:t>
            </a:r>
            <a:r>
              <a:rPr lang="en-US" sz="3600" dirty="0" smtClean="0"/>
              <a:t> 2:</a:t>
            </a: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360" y="1949216"/>
            <a:ext cx="6849431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6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883805" y="1759803"/>
            <a:ext cx="8142000" cy="348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There are two main delays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Transmission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Delay → Time to put bits onto the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link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Propagation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Delay → Time for signal to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travel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 a store-and-forward network, each router must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Receive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entire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message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Then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forward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it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As given in the question node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A is slow (100 bps) → main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bottleneck.</a:t>
            </a:r>
          </a:p>
          <a:p>
            <a:pPr marL="146050" lvl="0">
              <a:buClr>
                <a:srgbClr val="CC9A00"/>
              </a:buClr>
              <a:buSzPts val="1300"/>
            </a:pP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Routers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are faster (1000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bps). Most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delay comes from the first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link. This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is why total delay becomes very high</a:t>
            </a: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AutoShape 2" descr="Network Switches | Juniper Networks 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Question 1: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74400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883805" y="1759803"/>
            <a:ext cx="8142000" cy="348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Now instead of sending 10,000 bits at once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we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send 10 packets of 1000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bits.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Routers don’t wait for the whole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message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 They forward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packet-by-packet.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cs typeface="Times New Roman"/>
                <a:sym typeface="Times New Roman"/>
              </a:rPr>
              <a:t>This creates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pipelining.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First packet takes full path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 Remaining packets follow like a conveyor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belt.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Total delay is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reduced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 Network becomes more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efficient.</a:t>
            </a: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AutoShape 2" descr="Network Switches | Juniper Networks 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Question 2: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80818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Part</a:t>
            </a:r>
            <a:r>
              <a:rPr lang="en-US" sz="3600" dirty="0" smtClean="0"/>
              <a:t> 3:</a:t>
            </a: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515" y="1653806"/>
            <a:ext cx="6887536" cy="25149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833" y="4168757"/>
            <a:ext cx="6944694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3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883805" y="1759803"/>
            <a:ext cx="8142000" cy="348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IP networks use prefix notation (CIDR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/16 → first 16 bits =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/24 → first 24 bits =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cs typeface="Times New Roman"/>
                <a:sym typeface="Times New Roman"/>
              </a:rPr>
              <a:t>To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check we compare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the network portion of IP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address.</a:t>
            </a: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131.21.x.x → belongs to Network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131.22.x.x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→ belongs to Network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133.22.12.x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→ belongs to Network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  <a:p>
            <a:pPr marL="488950" lvl="0" indent="-342900">
              <a:buClr>
                <a:srgbClr val="CC9A00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it doesn’t match → not in any network</a:t>
            </a: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AutoShape 2" descr="Network Switches | Juniper Networks 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Question 1: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80924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883805" y="1759803"/>
            <a:ext cx="8142000" cy="256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Flow Control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prevents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receiver from being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overwhelmed.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Managed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by Transmission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Control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Protocol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 (Receiver says: “Send slower, I can’t handle more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”)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cs typeface="Times New Roman"/>
                <a:sym typeface="Times New Roman"/>
              </a:rPr>
              <a:t>Congestion Control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happens </a:t>
            </a:r>
            <a:r>
              <a:rPr lang="en-US" sz="2000" dirty="0">
                <a:latin typeface="Times New Roman"/>
                <a:cs typeface="Times New Roman"/>
                <a:sym typeface="Times New Roman"/>
              </a:rPr>
              <a:t>in the </a:t>
            </a: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network. </a:t>
            </a:r>
            <a:endParaRPr lang="en-US" sz="2000" dirty="0">
              <a:latin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Prevents too much traffic overall </a:t>
            </a: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AutoShape 2" descr="Network Switches | Juniper Networks 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Question 2 (a):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12002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883805" y="1759803"/>
            <a:ext cx="8142000" cy="409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Routing decides best path.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Happens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using protocols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like Open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Shortest Path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First.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cs typeface="Times New Roman"/>
                <a:sym typeface="Times New Roman"/>
              </a:rPr>
              <a:t>Forwarding moves packets.</a:t>
            </a:r>
            <a:endParaRPr lang="en-US" sz="2000" dirty="0">
              <a:latin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Uses routing table.</a:t>
            </a: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Routing - Decision making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| Control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</a:p>
          <a:p>
            <a:pPr marL="146050" lvl="0">
              <a:buClr>
                <a:srgbClr val="CC9A00"/>
              </a:buClr>
              <a:buSzPts val="1300"/>
            </a:pPr>
            <a:endParaRPr lang="en-US" sz="20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Forwarding 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– Action | Data plane</a:t>
            </a: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1150">
              <a:buClr>
                <a:srgbClr val="CC9A00"/>
              </a:buClr>
              <a:buSzPts val="1300"/>
              <a:buFont typeface="Noto Sans Symbols"/>
              <a:buChar char="❑"/>
            </a:pPr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AutoShape 2" descr="Network Switches | Juniper Networks 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Question 2 (b):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381328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290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/>
              <a:t>Referencing Requirements (Harvard Format</a:t>
            </a:r>
            <a:r>
              <a:rPr lang="en-US" sz="3600" dirty="0" smtClean="0"/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" name="Google Shape;56;p8"/>
          <p:cNvSpPr txBox="1"/>
          <p:nvPr/>
        </p:nvSpPr>
        <p:spPr>
          <a:xfrm>
            <a:off x="773700" y="2103587"/>
            <a:ext cx="8142005" cy="4676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/>
              <a:t>• All assignments must follow Harvard Referencing Style. </a:t>
            </a:r>
            <a:endParaRPr lang="en-US" dirty="0" smtClean="0"/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 smtClean="0"/>
              <a:t>• </a:t>
            </a:r>
            <a:r>
              <a:rPr lang="en-US" dirty="0"/>
              <a:t>A minimum of 20 academic references is required. </a:t>
            </a:r>
            <a:endParaRPr lang="en-US" dirty="0" smtClean="0"/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 smtClean="0"/>
              <a:t>• </a:t>
            </a:r>
            <a:r>
              <a:rPr lang="en-US" dirty="0"/>
              <a:t>Every in-text citation must match </a:t>
            </a:r>
            <a:r>
              <a:rPr lang="en-US" dirty="0" smtClean="0"/>
              <a:t>the reference list.</a:t>
            </a:r>
            <a:br>
              <a:rPr lang="en-US" dirty="0" smtClean="0"/>
            </a:br>
            <a:endParaRPr lang="en-US" b="1" dirty="0"/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b="1" dirty="0" smtClean="0"/>
              <a:t>Example</a:t>
            </a:r>
            <a:endParaRPr lang="en-US" b="1" dirty="0"/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sz="1100" dirty="0"/>
              <a:t>Relational database normalization significantly enhances data integrity by eliminating redundancies (</a:t>
            </a:r>
            <a:r>
              <a:rPr lang="en-US" sz="1100" dirty="0" err="1"/>
              <a:t>Codd</a:t>
            </a:r>
            <a:r>
              <a:rPr lang="en-US" sz="1100" dirty="0"/>
              <a:t>, 1970). According to Connolly and </a:t>
            </a:r>
            <a:r>
              <a:rPr lang="en-US" sz="1100" dirty="0" err="1"/>
              <a:t>Begg</a:t>
            </a:r>
            <a:r>
              <a:rPr lang="en-US" sz="1100" dirty="0"/>
              <a:t> (2015), the normalization process through successive normal forms prevents update anomalies that could compromise transactional consistency. Recent studies in gaming platforms specifically highlight how 3NF structures prevent data corruption in multi-player environments (Chen et al., 2020). However, some researchers argue that excessive normalization may impact query performance in high-volume systems (</a:t>
            </a:r>
            <a:r>
              <a:rPr lang="en-US" sz="1100" dirty="0" err="1"/>
              <a:t>Silberschatz</a:t>
            </a:r>
            <a:r>
              <a:rPr lang="en-US" sz="1100" dirty="0"/>
              <a:t> et al., 2019</a:t>
            </a:r>
            <a:r>
              <a:rPr lang="en-US" sz="1100" dirty="0" smtClean="0"/>
              <a:t>).</a:t>
            </a:r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1100" b="1" dirty="0"/>
              <a:t>Reference </a:t>
            </a:r>
            <a:r>
              <a:rPr lang="en-US" sz="1100" b="1" dirty="0" smtClean="0"/>
              <a:t>List</a:t>
            </a:r>
            <a:endParaRPr lang="en-US" sz="1100" b="1" dirty="0"/>
          </a:p>
          <a:p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 err="1"/>
              <a:t>Codd</a:t>
            </a:r>
            <a:r>
              <a:rPr lang="en-US" sz="1100" dirty="0"/>
              <a:t>, E.F. (1970) 'A relational model of data for large shared data banks', </a:t>
            </a:r>
            <a:r>
              <a:rPr lang="en-US" sz="1100" i="1" dirty="0" smtClean="0"/>
              <a:t>Communications </a:t>
            </a:r>
            <a:r>
              <a:rPr lang="en-US" sz="1100" i="1" dirty="0"/>
              <a:t>of the ACM</a:t>
            </a:r>
            <a:r>
              <a:rPr lang="en-US" sz="1100" dirty="0"/>
              <a:t>, 13(6), pp. 377-387.</a:t>
            </a:r>
          </a:p>
          <a:p>
            <a:r>
              <a:rPr lang="en-US" sz="1100" dirty="0"/>
              <a:t>Connolly, T.M. and </a:t>
            </a:r>
            <a:r>
              <a:rPr lang="en-US" sz="1100" dirty="0" err="1"/>
              <a:t>Begg</a:t>
            </a:r>
            <a:r>
              <a:rPr lang="en-US" sz="1100" dirty="0"/>
              <a:t>, </a:t>
            </a:r>
            <a:endParaRPr lang="en-US" sz="1100" dirty="0" smtClean="0"/>
          </a:p>
          <a:p>
            <a:endParaRPr lang="en-US" sz="1100" dirty="0"/>
          </a:p>
          <a:p>
            <a:r>
              <a:rPr lang="en-US" sz="1100" dirty="0" smtClean="0"/>
              <a:t>C.E</a:t>
            </a:r>
            <a:r>
              <a:rPr lang="en-US" sz="1100" dirty="0"/>
              <a:t>. (2015) </a:t>
            </a:r>
            <a:r>
              <a:rPr lang="en-US" sz="1100" i="1" dirty="0"/>
              <a:t>Database systems: a practical approach to design, implementation, and management</a:t>
            </a:r>
            <a:r>
              <a:rPr lang="en-US" sz="1100" dirty="0"/>
              <a:t>. 6th </a:t>
            </a:r>
            <a:r>
              <a:rPr lang="en-US" sz="1100" dirty="0" err="1"/>
              <a:t>edn</a:t>
            </a:r>
            <a:r>
              <a:rPr lang="en-US" sz="1100" dirty="0"/>
              <a:t>. Harlow: Pearson Education.</a:t>
            </a:r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endParaRPr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612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398578" cy="364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dirty="0"/>
              <a:t>Academic Reference Priority Hierarchy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852" y="2251640"/>
            <a:ext cx="3200781" cy="422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2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235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 smtClean="0"/>
              <a:t>Formatting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4" name="Google Shape;56;p8"/>
          <p:cNvSpPr txBox="1"/>
          <p:nvPr/>
        </p:nvSpPr>
        <p:spPr>
          <a:xfrm>
            <a:off x="773700" y="1537057"/>
            <a:ext cx="8142005" cy="1068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/>
              <a:t>• </a:t>
            </a:r>
            <a:r>
              <a:rPr lang="en-US" dirty="0" smtClean="0"/>
              <a:t>Font Style : Times New Roman / Calibri </a:t>
            </a:r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 smtClean="0"/>
              <a:t>• Font Size : 12 for content / 13 for heading </a:t>
            </a:r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 smtClean="0"/>
              <a:t>• Page numbers must be included</a:t>
            </a:r>
            <a:endParaRPr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820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993900" y="990200"/>
            <a:ext cx="8904300" cy="241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3600" dirty="0"/>
              <a:t>Mistakes to Avoid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sz="3600"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915705" y="6780493"/>
            <a:ext cx="22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" name="Google Shape;56;p8"/>
          <p:cNvSpPr txBox="1"/>
          <p:nvPr/>
        </p:nvSpPr>
        <p:spPr>
          <a:xfrm>
            <a:off x="773700" y="1765657"/>
            <a:ext cx="8142005" cy="171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/>
              <a:t>• Submitting assignments with fewer than 20 references. </a:t>
            </a:r>
            <a:endParaRPr lang="en-US" dirty="0" smtClean="0"/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 smtClean="0"/>
              <a:t>• </a:t>
            </a:r>
            <a:r>
              <a:rPr lang="en-US" dirty="0"/>
              <a:t>Failing to match in-text citations with the reference list. </a:t>
            </a:r>
            <a:endParaRPr lang="en-US" dirty="0" smtClean="0"/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 smtClean="0"/>
              <a:t>• </a:t>
            </a:r>
            <a:r>
              <a:rPr lang="en-US" dirty="0"/>
              <a:t>Plagiarism – copying content without proper citation. This will result in disqualification. </a:t>
            </a:r>
            <a:endParaRPr lang="en-US" dirty="0" smtClean="0"/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 smtClean="0"/>
              <a:t>• </a:t>
            </a:r>
            <a:r>
              <a:rPr lang="en-US" dirty="0"/>
              <a:t>Writing descriptive content only, without critical </a:t>
            </a:r>
            <a:r>
              <a:rPr lang="en-US" dirty="0" smtClean="0"/>
              <a:t>analysis. </a:t>
            </a:r>
          </a:p>
          <a:p>
            <a:pPr marL="146050">
              <a:lnSpc>
                <a:spcPct val="150000"/>
              </a:lnSpc>
              <a:buClr>
                <a:srgbClr val="CC9A00"/>
              </a:buClr>
              <a:buSzPts val="1300"/>
            </a:pPr>
            <a:r>
              <a:rPr lang="en-US" dirty="0" smtClean="0"/>
              <a:t>• </a:t>
            </a:r>
            <a:r>
              <a:rPr lang="en-US" dirty="0"/>
              <a:t>Ignoring the application of theories to practical </a:t>
            </a:r>
            <a:r>
              <a:rPr lang="en-US" dirty="0" smtClean="0"/>
              <a:t>scenarios</a:t>
            </a:r>
            <a:r>
              <a:rPr lang="en-US" dirty="0"/>
              <a:t>.</a:t>
            </a:r>
            <a:endParaRPr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982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581</Words>
  <Application>Microsoft Office PowerPoint</Application>
  <PresentationFormat>Custom</PresentationFormat>
  <Paragraphs>132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Noto Sans Symbols</vt:lpstr>
      <vt:lpstr>Times New Roman</vt:lpstr>
      <vt:lpstr>Office Theme</vt:lpstr>
      <vt:lpstr>Computer Networks</vt:lpstr>
      <vt:lpstr>Learning Outcomes </vt:lpstr>
      <vt:lpstr>Part 1:</vt:lpstr>
      <vt:lpstr>Question 1:</vt:lpstr>
      <vt:lpstr>Question 2:</vt:lpstr>
      <vt:lpstr>Question 3:</vt:lpstr>
      <vt:lpstr>Part 2:</vt:lpstr>
      <vt:lpstr>Question 1:</vt:lpstr>
      <vt:lpstr>Question 2:</vt:lpstr>
      <vt:lpstr>Part 3:</vt:lpstr>
      <vt:lpstr>Question 1:</vt:lpstr>
      <vt:lpstr>Question 2 (a):</vt:lpstr>
      <vt:lpstr>Question 2 (b):</vt:lpstr>
      <vt:lpstr>Referencing Requirements (Harvard Format)   </vt:lpstr>
      <vt:lpstr>Academic Reference Priority Hierarchy    </vt:lpstr>
      <vt:lpstr>Formatting   </vt:lpstr>
      <vt:lpstr>Mistakes to Avoid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System Administration</dc:title>
  <dc:creator>Chamindu</dc:creator>
  <cp:lastModifiedBy>Chamindu</cp:lastModifiedBy>
  <cp:revision>76</cp:revision>
  <dcterms:modified xsi:type="dcterms:W3CDTF">2026-04-05T17:00:25Z</dcterms:modified>
</cp:coreProperties>
</file>