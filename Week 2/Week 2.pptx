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23"/>
  </p:notesMasterIdLst>
  <p:sldIdLst>
    <p:sldId id="331" r:id="rId2"/>
    <p:sldId id="305" r:id="rId3"/>
    <p:sldId id="332" r:id="rId4"/>
    <p:sldId id="336" r:id="rId5"/>
    <p:sldId id="337" r:id="rId6"/>
    <p:sldId id="310" r:id="rId7"/>
    <p:sldId id="338" r:id="rId8"/>
    <p:sldId id="339" r:id="rId9"/>
    <p:sldId id="340" r:id="rId10"/>
    <p:sldId id="369" r:id="rId11"/>
    <p:sldId id="370" r:id="rId12"/>
    <p:sldId id="371" r:id="rId13"/>
    <p:sldId id="341" r:id="rId14"/>
    <p:sldId id="313" r:id="rId15"/>
    <p:sldId id="342" r:id="rId16"/>
    <p:sldId id="276" r:id="rId17"/>
    <p:sldId id="314" r:id="rId18"/>
    <p:sldId id="315" r:id="rId19"/>
    <p:sldId id="343" r:id="rId20"/>
    <p:sldId id="316" r:id="rId21"/>
    <p:sldId id="319" r:id="rId22"/>
    <p:sldId id="320" r:id="rId23"/>
    <p:sldId id="390" r:id="rId24"/>
    <p:sldId id="344" r:id="rId25"/>
    <p:sldId id="345" r:id="rId26"/>
    <p:sldId id="346" r:id="rId27"/>
    <p:sldId id="347" r:id="rId28"/>
    <p:sldId id="348" r:id="rId29"/>
    <p:sldId id="349" r:id="rId30"/>
    <p:sldId id="350" r:id="rId31"/>
    <p:sldId id="351" r:id="rId32"/>
    <p:sldId id="352" r:id="rId33"/>
    <p:sldId id="372" r:id="rId34"/>
    <p:sldId id="373" r:id="rId35"/>
    <p:sldId id="374" r:id="rId36"/>
    <p:sldId id="375" r:id="rId37"/>
    <p:sldId id="376" r:id="rId38"/>
    <p:sldId id="377" r:id="rId39"/>
    <p:sldId id="378" r:id="rId40"/>
    <p:sldId id="379" r:id="rId41"/>
    <p:sldId id="353" r:id="rId42"/>
    <p:sldId id="380" r:id="rId43"/>
    <p:sldId id="381" r:id="rId44"/>
    <p:sldId id="354" r:id="rId45"/>
    <p:sldId id="355" r:id="rId46"/>
    <p:sldId id="356" r:id="rId47"/>
    <p:sldId id="357" r:id="rId48"/>
    <p:sldId id="358" r:id="rId49"/>
    <p:sldId id="359" r:id="rId50"/>
    <p:sldId id="382" r:id="rId51"/>
    <p:sldId id="383" r:id="rId52"/>
    <p:sldId id="384" r:id="rId53"/>
    <p:sldId id="385" r:id="rId54"/>
    <p:sldId id="386" r:id="rId55"/>
    <p:sldId id="387" r:id="rId56"/>
    <p:sldId id="360" r:id="rId57"/>
    <p:sldId id="361" r:id="rId58"/>
    <p:sldId id="362" r:id="rId59"/>
    <p:sldId id="363" r:id="rId60"/>
    <p:sldId id="364" r:id="rId61"/>
    <p:sldId id="321" r:id="rId62"/>
    <p:sldId id="323" r:id="rId63"/>
    <p:sldId id="325" r:id="rId64"/>
    <p:sldId id="388" r:id="rId65"/>
    <p:sldId id="365" r:id="rId66"/>
    <p:sldId id="389" r:id="rId67"/>
    <p:sldId id="391" r:id="rId68"/>
    <p:sldId id="392" r:id="rId69"/>
    <p:sldId id="394" r:id="rId70"/>
    <p:sldId id="395" r:id="rId71"/>
    <p:sldId id="396" r:id="rId72"/>
    <p:sldId id="397" r:id="rId73"/>
    <p:sldId id="398" r:id="rId74"/>
    <p:sldId id="399" r:id="rId75"/>
    <p:sldId id="400" r:id="rId76"/>
    <p:sldId id="401" r:id="rId77"/>
    <p:sldId id="402" r:id="rId78"/>
    <p:sldId id="403" r:id="rId79"/>
    <p:sldId id="404" r:id="rId80"/>
    <p:sldId id="405" r:id="rId81"/>
    <p:sldId id="406" r:id="rId82"/>
    <p:sldId id="407" r:id="rId83"/>
    <p:sldId id="408" r:id="rId84"/>
    <p:sldId id="409" r:id="rId85"/>
    <p:sldId id="410" r:id="rId86"/>
    <p:sldId id="411" r:id="rId87"/>
    <p:sldId id="412" r:id="rId88"/>
    <p:sldId id="413" r:id="rId89"/>
    <p:sldId id="414" r:id="rId90"/>
    <p:sldId id="415" r:id="rId91"/>
    <p:sldId id="416" r:id="rId92"/>
    <p:sldId id="417" r:id="rId93"/>
    <p:sldId id="418" r:id="rId94"/>
    <p:sldId id="419" r:id="rId95"/>
    <p:sldId id="420" r:id="rId96"/>
    <p:sldId id="421" r:id="rId97"/>
    <p:sldId id="422" r:id="rId98"/>
    <p:sldId id="423" r:id="rId99"/>
    <p:sldId id="424" r:id="rId100"/>
    <p:sldId id="425" r:id="rId101"/>
    <p:sldId id="430" r:id="rId102"/>
    <p:sldId id="426" r:id="rId103"/>
    <p:sldId id="427" r:id="rId104"/>
    <p:sldId id="428" r:id="rId105"/>
    <p:sldId id="429" r:id="rId106"/>
    <p:sldId id="330" r:id="rId107"/>
    <p:sldId id="431" r:id="rId108"/>
    <p:sldId id="432" r:id="rId109"/>
    <p:sldId id="433" r:id="rId110"/>
    <p:sldId id="434" r:id="rId111"/>
    <p:sldId id="368" r:id="rId112"/>
    <p:sldId id="435" r:id="rId113"/>
    <p:sldId id="436" r:id="rId114"/>
    <p:sldId id="437" r:id="rId115"/>
    <p:sldId id="438" r:id="rId116"/>
    <p:sldId id="439" r:id="rId117"/>
    <p:sldId id="440" r:id="rId118"/>
    <p:sldId id="441" r:id="rId119"/>
    <p:sldId id="442" r:id="rId120"/>
    <p:sldId id="443" r:id="rId121"/>
    <p:sldId id="444" r:id="rId122"/>
  </p:sldIdLst>
  <p:sldSz cx="10058400" cy="7772400"/>
  <p:notesSz cx="10058400" cy="77724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000000"/>
          </p15:clr>
        </p15:guide>
        <p15:guide id="2" pos="216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24" roundtripDataSignature="AMtx7mide5E5K1qMnAXfCVAS8PAjD/wh6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62" autoAdjust="0"/>
    <p:restoredTop sz="94660"/>
  </p:normalViewPr>
  <p:slideViewPr>
    <p:cSldViewPr snapToGrid="0">
      <p:cViewPr varScale="1">
        <p:scale>
          <a:sx n="77" d="100"/>
          <a:sy n="77" d="100"/>
        </p:scale>
        <p:origin x="1378" y="110"/>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notesMaster" Target="notesMasters/notesMaster1.xml"/><Relationship Id="rId128"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customschemas.google.com/relationships/presentationmetadata" Target="metadata"/><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676725" y="582925"/>
            <a:ext cx="6705925"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1005825" y="3691875"/>
            <a:ext cx="8046700" cy="3497575"/>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210634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96280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367897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87507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702135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145791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286004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583490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857697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245759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794043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398393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942123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157106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078732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600805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546336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665926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490528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013989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669128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3061575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9417734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8407604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113261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8295883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0808766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2201288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1056682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5533841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9682271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5766938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7702328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5212295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7875786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2743571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09536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269843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5948434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5419501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9088372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738293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411267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4768000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3669633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5435220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9394756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7971908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2854682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2317025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0559867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7215361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5826757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6479461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2614043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0449429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3491473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5344218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4211579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2403774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352973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6797541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3288185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7476012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3016366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6496227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926835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2930870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2479275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794344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7938594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3945076"/>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2710925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32183628"/>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74780543"/>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22808918"/>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539760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31555827"/>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07028672"/>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06422232"/>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25570303"/>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64049002"/>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7534169"/>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53224280"/>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16115597"/>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9006916"/>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38354329"/>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63151966"/>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5208543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241771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12058874"/>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47468958"/>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3209092"/>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11406314"/>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63814636"/>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3352856"/>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5195695"/>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2140002"/>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70201320"/>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05927024"/>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5391946"/>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12968884"/>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50720548"/>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57892406"/>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9715438"/>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04941297"/>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1196423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68996356"/>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902023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3"/>
        <p:cNvGrpSpPr/>
        <p:nvPr/>
      </p:nvGrpSpPr>
      <p:grpSpPr>
        <a:xfrm>
          <a:off x="0" y="0"/>
          <a:ext cx="0" cy="0"/>
          <a:chOff x="0" y="0"/>
          <a:chExt cx="0" cy="0"/>
        </a:xfrm>
      </p:grpSpPr>
      <p:sp>
        <p:nvSpPr>
          <p:cNvPr id="14" name="Google Shape;14;p17"/>
          <p:cNvSpPr txBox="1">
            <a:spLocks noGrp="1"/>
          </p:cNvSpPr>
          <p:nvPr>
            <p:ph type="title"/>
          </p:nvPr>
        </p:nvSpPr>
        <p:spPr>
          <a:xfrm>
            <a:off x="3917822" y="3268472"/>
            <a:ext cx="2222754" cy="63563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4000" b="1" i="0">
                <a:solidFill>
                  <a:srgbClr val="006533"/>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7"/>
          <p:cNvSpPr txBox="1">
            <a:spLocks noGrp="1"/>
          </p:cNvSpPr>
          <p:nvPr>
            <p:ph type="body" idx="1"/>
          </p:nvPr>
        </p:nvSpPr>
        <p:spPr>
          <a:xfrm>
            <a:off x="967739" y="1415005"/>
            <a:ext cx="6968490" cy="3034665"/>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sz="2800" b="0" i="0">
                <a:solidFill>
                  <a:srgbClr val="006533"/>
                </a:solidFill>
                <a:latin typeface="Times New Roman"/>
                <a:ea typeface="Times New Roman"/>
                <a:cs typeface="Times New Roman"/>
                <a:sym typeface="Times New Roman"/>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6" name="Google Shape;16;p17"/>
          <p:cNvSpPr txBox="1">
            <a:spLocks noGrp="1"/>
          </p:cNvSpPr>
          <p:nvPr>
            <p:ph type="ftr" idx="11"/>
          </p:nvPr>
        </p:nvSpPr>
        <p:spPr>
          <a:xfrm>
            <a:off x="3419856" y="7228332"/>
            <a:ext cx="3218688" cy="38862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7"/>
          <p:cNvSpPr txBox="1">
            <a:spLocks noGrp="1"/>
          </p:cNvSpPr>
          <p:nvPr>
            <p:ph type="dt" idx="10"/>
          </p:nvPr>
        </p:nvSpPr>
        <p:spPr>
          <a:xfrm>
            <a:off x="502920" y="7228332"/>
            <a:ext cx="2313432" cy="38862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7"/>
          <p:cNvSpPr txBox="1">
            <a:spLocks noGrp="1"/>
          </p:cNvSpPr>
          <p:nvPr>
            <p:ph type="sldNum" idx="12"/>
          </p:nvPr>
        </p:nvSpPr>
        <p:spPr>
          <a:xfrm>
            <a:off x="8869680" y="6925793"/>
            <a:ext cx="220345" cy="196850"/>
          </a:xfrm>
          <a:prstGeom prst="rect">
            <a:avLst/>
          </a:prstGeom>
          <a:noFill/>
          <a:ln>
            <a:noFill/>
          </a:ln>
        </p:spPr>
        <p:txBody>
          <a:bodyPr spcFirstLastPara="1" wrap="square" lIns="0" tIns="0" rIns="0" bIns="0" anchor="t" anchorCtr="0">
            <a:spAutoFit/>
          </a:bodyPr>
          <a:lstStyle>
            <a:lvl1pPr marL="38100" marR="0" lvl="0"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1pPr>
            <a:lvl2pPr marL="38100" marR="0" lvl="1"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2pPr>
            <a:lvl3pPr marL="38100" marR="0" lvl="2"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3pPr>
            <a:lvl4pPr marL="38100" marR="0" lvl="3"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4pPr>
            <a:lvl5pPr marL="38100" marR="0" lvl="4"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5pPr>
            <a:lvl6pPr marL="38100" marR="0" lvl="5"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6pPr>
            <a:lvl7pPr marL="38100" marR="0" lvl="6"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7pPr>
            <a:lvl8pPr marL="38100" marR="0" lvl="7"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8pPr>
            <a:lvl9pPr marL="38100" marR="0" lvl="8"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9pPr>
          </a:lstStyle>
          <a:p>
            <a:pPr marL="381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4"/>
        <p:cNvGrpSpPr/>
        <p:nvPr/>
      </p:nvGrpSpPr>
      <p:grpSpPr>
        <a:xfrm>
          <a:off x="0" y="0"/>
          <a:ext cx="0" cy="0"/>
          <a:chOff x="0" y="0"/>
          <a:chExt cx="0" cy="0"/>
        </a:xfrm>
      </p:grpSpPr>
      <p:sp>
        <p:nvSpPr>
          <p:cNvPr id="25" name="Google Shape;25;p19"/>
          <p:cNvSpPr txBox="1">
            <a:spLocks noGrp="1"/>
          </p:cNvSpPr>
          <p:nvPr>
            <p:ph type="ctrTitle"/>
          </p:nvPr>
        </p:nvSpPr>
        <p:spPr>
          <a:xfrm>
            <a:off x="754380" y="2409444"/>
            <a:ext cx="8549640" cy="1632204"/>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19"/>
          <p:cNvSpPr txBox="1">
            <a:spLocks noGrp="1"/>
          </p:cNvSpPr>
          <p:nvPr>
            <p:ph type="subTitle" idx="1"/>
          </p:nvPr>
        </p:nvSpPr>
        <p:spPr>
          <a:xfrm>
            <a:off x="1508760" y="4352544"/>
            <a:ext cx="7040880" cy="19431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9"/>
          <p:cNvSpPr txBox="1">
            <a:spLocks noGrp="1"/>
          </p:cNvSpPr>
          <p:nvPr>
            <p:ph type="ftr" idx="11"/>
          </p:nvPr>
        </p:nvSpPr>
        <p:spPr>
          <a:xfrm>
            <a:off x="3419856" y="7228332"/>
            <a:ext cx="3218688" cy="38862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9"/>
          <p:cNvSpPr txBox="1">
            <a:spLocks noGrp="1"/>
          </p:cNvSpPr>
          <p:nvPr>
            <p:ph type="dt" idx="10"/>
          </p:nvPr>
        </p:nvSpPr>
        <p:spPr>
          <a:xfrm>
            <a:off x="502920" y="7228332"/>
            <a:ext cx="2313432" cy="38862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9"/>
          <p:cNvSpPr txBox="1">
            <a:spLocks noGrp="1"/>
          </p:cNvSpPr>
          <p:nvPr>
            <p:ph type="sldNum" idx="12"/>
          </p:nvPr>
        </p:nvSpPr>
        <p:spPr>
          <a:xfrm>
            <a:off x="8869680" y="6925793"/>
            <a:ext cx="220345" cy="196850"/>
          </a:xfrm>
          <a:prstGeom prst="rect">
            <a:avLst/>
          </a:prstGeom>
          <a:noFill/>
          <a:ln>
            <a:noFill/>
          </a:ln>
        </p:spPr>
        <p:txBody>
          <a:bodyPr spcFirstLastPara="1" wrap="square" lIns="0" tIns="0" rIns="0" bIns="0" anchor="t" anchorCtr="0">
            <a:spAutoFit/>
          </a:bodyPr>
          <a:lstStyle>
            <a:lvl1pPr marL="38100" marR="0" lvl="0"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1pPr>
            <a:lvl2pPr marL="38100" marR="0" lvl="1"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2pPr>
            <a:lvl3pPr marL="38100" marR="0" lvl="2"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3pPr>
            <a:lvl4pPr marL="38100" marR="0" lvl="3"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4pPr>
            <a:lvl5pPr marL="38100" marR="0" lvl="4"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5pPr>
            <a:lvl6pPr marL="38100" marR="0" lvl="5"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6pPr>
            <a:lvl7pPr marL="38100" marR="0" lvl="6"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7pPr>
            <a:lvl8pPr marL="38100" marR="0" lvl="7"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8pPr>
            <a:lvl9pPr marL="38100" marR="0" lvl="8"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9pPr>
          </a:lstStyle>
          <a:p>
            <a:pPr marL="381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30"/>
        <p:cNvGrpSpPr/>
        <p:nvPr/>
      </p:nvGrpSpPr>
      <p:grpSpPr>
        <a:xfrm>
          <a:off x="0" y="0"/>
          <a:ext cx="0" cy="0"/>
          <a:chOff x="0" y="0"/>
          <a:chExt cx="0" cy="0"/>
        </a:xfrm>
      </p:grpSpPr>
      <p:sp>
        <p:nvSpPr>
          <p:cNvPr id="31" name="Google Shape;31;p20"/>
          <p:cNvSpPr txBox="1">
            <a:spLocks noGrp="1"/>
          </p:cNvSpPr>
          <p:nvPr>
            <p:ph type="title"/>
          </p:nvPr>
        </p:nvSpPr>
        <p:spPr>
          <a:xfrm>
            <a:off x="3917822" y="3268472"/>
            <a:ext cx="2222754" cy="63563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4000" b="1" i="0">
                <a:solidFill>
                  <a:srgbClr val="006533"/>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0"/>
          <p:cNvSpPr txBox="1">
            <a:spLocks noGrp="1"/>
          </p:cNvSpPr>
          <p:nvPr>
            <p:ph type="body" idx="1"/>
          </p:nvPr>
        </p:nvSpPr>
        <p:spPr>
          <a:xfrm>
            <a:off x="502920" y="1787652"/>
            <a:ext cx="4375404" cy="5129784"/>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33" name="Google Shape;33;p20"/>
          <p:cNvSpPr txBox="1">
            <a:spLocks noGrp="1"/>
          </p:cNvSpPr>
          <p:nvPr>
            <p:ph type="body" idx="2"/>
          </p:nvPr>
        </p:nvSpPr>
        <p:spPr>
          <a:xfrm>
            <a:off x="5180076" y="1787652"/>
            <a:ext cx="4375404" cy="5129784"/>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34" name="Google Shape;34;p20"/>
          <p:cNvSpPr txBox="1">
            <a:spLocks noGrp="1"/>
          </p:cNvSpPr>
          <p:nvPr>
            <p:ph type="ftr" idx="11"/>
          </p:nvPr>
        </p:nvSpPr>
        <p:spPr>
          <a:xfrm>
            <a:off x="3419856" y="7228332"/>
            <a:ext cx="3218688" cy="38862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20"/>
          <p:cNvSpPr txBox="1">
            <a:spLocks noGrp="1"/>
          </p:cNvSpPr>
          <p:nvPr>
            <p:ph type="dt" idx="10"/>
          </p:nvPr>
        </p:nvSpPr>
        <p:spPr>
          <a:xfrm>
            <a:off x="502920" y="7228332"/>
            <a:ext cx="2313432" cy="38862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20"/>
          <p:cNvSpPr txBox="1">
            <a:spLocks noGrp="1"/>
          </p:cNvSpPr>
          <p:nvPr>
            <p:ph type="sldNum" idx="12"/>
          </p:nvPr>
        </p:nvSpPr>
        <p:spPr>
          <a:xfrm>
            <a:off x="8869680" y="6925793"/>
            <a:ext cx="220345" cy="196850"/>
          </a:xfrm>
          <a:prstGeom prst="rect">
            <a:avLst/>
          </a:prstGeom>
          <a:noFill/>
          <a:ln>
            <a:noFill/>
          </a:ln>
        </p:spPr>
        <p:txBody>
          <a:bodyPr spcFirstLastPara="1" wrap="square" lIns="0" tIns="0" rIns="0" bIns="0" anchor="t" anchorCtr="0">
            <a:spAutoFit/>
          </a:bodyPr>
          <a:lstStyle>
            <a:lvl1pPr marL="38100" marR="0" lvl="0"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1pPr>
            <a:lvl2pPr marL="38100" marR="0" lvl="1"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2pPr>
            <a:lvl3pPr marL="38100" marR="0" lvl="2"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3pPr>
            <a:lvl4pPr marL="38100" marR="0" lvl="3"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4pPr>
            <a:lvl5pPr marL="38100" marR="0" lvl="4"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5pPr>
            <a:lvl6pPr marL="38100" marR="0" lvl="5"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6pPr>
            <a:lvl7pPr marL="38100" marR="0" lvl="6"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7pPr>
            <a:lvl8pPr marL="38100" marR="0" lvl="7"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8pPr>
            <a:lvl9pPr marL="38100" marR="0" lvl="8"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9pPr>
          </a:lstStyle>
          <a:p>
            <a:pPr marL="381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37"/>
        <p:cNvGrpSpPr/>
        <p:nvPr/>
      </p:nvGrpSpPr>
      <p:grpSpPr>
        <a:xfrm>
          <a:off x="0" y="0"/>
          <a:ext cx="0" cy="0"/>
          <a:chOff x="0" y="0"/>
          <a:chExt cx="0" cy="0"/>
        </a:xfrm>
      </p:grpSpPr>
      <p:sp>
        <p:nvSpPr>
          <p:cNvPr id="38" name="Google Shape;38;p21"/>
          <p:cNvSpPr txBox="1">
            <a:spLocks noGrp="1"/>
          </p:cNvSpPr>
          <p:nvPr>
            <p:ph type="ftr" idx="11"/>
          </p:nvPr>
        </p:nvSpPr>
        <p:spPr>
          <a:xfrm>
            <a:off x="3419856" y="7228332"/>
            <a:ext cx="3218688" cy="38862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21"/>
          <p:cNvSpPr txBox="1">
            <a:spLocks noGrp="1"/>
          </p:cNvSpPr>
          <p:nvPr>
            <p:ph type="dt" idx="10"/>
          </p:nvPr>
        </p:nvSpPr>
        <p:spPr>
          <a:xfrm>
            <a:off x="502920" y="7228332"/>
            <a:ext cx="2313432" cy="38862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21"/>
          <p:cNvSpPr txBox="1">
            <a:spLocks noGrp="1"/>
          </p:cNvSpPr>
          <p:nvPr>
            <p:ph type="sldNum" idx="12"/>
          </p:nvPr>
        </p:nvSpPr>
        <p:spPr>
          <a:xfrm>
            <a:off x="8869680" y="6925793"/>
            <a:ext cx="220345" cy="196850"/>
          </a:xfrm>
          <a:prstGeom prst="rect">
            <a:avLst/>
          </a:prstGeom>
          <a:noFill/>
          <a:ln>
            <a:noFill/>
          </a:ln>
        </p:spPr>
        <p:txBody>
          <a:bodyPr spcFirstLastPara="1" wrap="square" lIns="0" tIns="0" rIns="0" bIns="0" anchor="t" anchorCtr="0">
            <a:spAutoFit/>
          </a:bodyPr>
          <a:lstStyle>
            <a:lvl1pPr marL="38100" marR="0" lvl="0"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1pPr>
            <a:lvl2pPr marL="38100" marR="0" lvl="1"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2pPr>
            <a:lvl3pPr marL="38100" marR="0" lvl="2"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3pPr>
            <a:lvl4pPr marL="38100" marR="0" lvl="3"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4pPr>
            <a:lvl5pPr marL="38100" marR="0" lvl="4"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5pPr>
            <a:lvl6pPr marL="38100" marR="0" lvl="5"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6pPr>
            <a:lvl7pPr marL="38100" marR="0" lvl="6"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7pPr>
            <a:lvl8pPr marL="38100" marR="0" lvl="7"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8pPr>
            <a:lvl9pPr marL="38100" marR="0" lvl="8"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9pPr>
          </a:lstStyle>
          <a:p>
            <a:pPr marL="381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6"/>
          <p:cNvSpPr/>
          <p:nvPr/>
        </p:nvSpPr>
        <p:spPr>
          <a:xfrm>
            <a:off x="829056" y="676655"/>
            <a:ext cx="8238490" cy="619125"/>
          </a:xfrm>
          <a:custGeom>
            <a:avLst/>
            <a:gdLst/>
            <a:ahLst/>
            <a:cxnLst/>
            <a:rect l="l" t="t" r="r" b="b"/>
            <a:pathLst>
              <a:path w="8238490" h="619125" extrusionOk="0">
                <a:moveTo>
                  <a:pt x="8238490" y="0"/>
                </a:moveTo>
                <a:lnTo>
                  <a:pt x="19050" y="0"/>
                </a:lnTo>
                <a:lnTo>
                  <a:pt x="8890" y="0"/>
                </a:lnTo>
                <a:lnTo>
                  <a:pt x="0" y="0"/>
                </a:lnTo>
                <a:lnTo>
                  <a:pt x="0" y="618744"/>
                </a:lnTo>
                <a:lnTo>
                  <a:pt x="8890" y="618744"/>
                </a:lnTo>
                <a:lnTo>
                  <a:pt x="8890" y="14224"/>
                </a:lnTo>
                <a:lnTo>
                  <a:pt x="13970" y="14224"/>
                </a:lnTo>
                <a:lnTo>
                  <a:pt x="9144" y="19050"/>
                </a:lnTo>
                <a:lnTo>
                  <a:pt x="9144" y="618744"/>
                </a:lnTo>
                <a:lnTo>
                  <a:pt x="19050" y="618744"/>
                </a:lnTo>
                <a:lnTo>
                  <a:pt x="19050" y="19050"/>
                </a:lnTo>
                <a:lnTo>
                  <a:pt x="8238490" y="19050"/>
                </a:lnTo>
                <a:lnTo>
                  <a:pt x="8238490" y="0"/>
                </a:lnTo>
                <a:close/>
              </a:path>
            </a:pathLst>
          </a:custGeom>
          <a:solidFill>
            <a:srgbClr val="CC99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 name="Google Shape;7;p16"/>
          <p:cNvSpPr/>
          <p:nvPr/>
        </p:nvSpPr>
        <p:spPr>
          <a:xfrm>
            <a:off x="914400" y="6620256"/>
            <a:ext cx="8229600" cy="19050"/>
          </a:xfrm>
          <a:custGeom>
            <a:avLst/>
            <a:gdLst/>
            <a:ahLst/>
            <a:cxnLst/>
            <a:rect l="l" t="t" r="r" b="b"/>
            <a:pathLst>
              <a:path w="8229600" h="19050" extrusionOk="0">
                <a:moveTo>
                  <a:pt x="8229600" y="19050"/>
                </a:moveTo>
                <a:lnTo>
                  <a:pt x="8229600" y="0"/>
                </a:lnTo>
                <a:lnTo>
                  <a:pt x="0" y="0"/>
                </a:lnTo>
                <a:lnTo>
                  <a:pt x="0" y="19050"/>
                </a:lnTo>
                <a:lnTo>
                  <a:pt x="8229600" y="19050"/>
                </a:lnTo>
                <a:close/>
              </a:path>
            </a:pathLst>
          </a:custGeom>
          <a:solidFill>
            <a:srgbClr val="CC99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 name="Google Shape;8;p16"/>
          <p:cNvSpPr txBox="1">
            <a:spLocks noGrp="1"/>
          </p:cNvSpPr>
          <p:nvPr>
            <p:ph type="title"/>
          </p:nvPr>
        </p:nvSpPr>
        <p:spPr>
          <a:xfrm>
            <a:off x="3917822" y="3268472"/>
            <a:ext cx="2222754" cy="635635"/>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4000" b="1" i="0" u="none" strike="noStrike" cap="none">
                <a:solidFill>
                  <a:srgbClr val="006533"/>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9" name="Google Shape;9;p16"/>
          <p:cNvSpPr txBox="1">
            <a:spLocks noGrp="1"/>
          </p:cNvSpPr>
          <p:nvPr>
            <p:ph type="body" idx="1"/>
          </p:nvPr>
        </p:nvSpPr>
        <p:spPr>
          <a:xfrm>
            <a:off x="967739" y="1415005"/>
            <a:ext cx="6968490" cy="3034665"/>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1400"/>
              <a:buFont typeface="Arial"/>
              <a:buNone/>
              <a:defRPr sz="2800" b="0" i="0" u="none" strike="noStrike" cap="none">
                <a:solidFill>
                  <a:srgbClr val="006533"/>
                </a:solidFill>
                <a:latin typeface="Times New Roman"/>
                <a:ea typeface="Times New Roman"/>
                <a:cs typeface="Times New Roman"/>
                <a:sym typeface="Times New Roman"/>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a:p>
        </p:txBody>
      </p:sp>
      <p:sp>
        <p:nvSpPr>
          <p:cNvPr id="10" name="Google Shape;10;p16"/>
          <p:cNvSpPr txBox="1">
            <a:spLocks noGrp="1"/>
          </p:cNvSpPr>
          <p:nvPr>
            <p:ph type="ftr" idx="11"/>
          </p:nvPr>
        </p:nvSpPr>
        <p:spPr>
          <a:xfrm>
            <a:off x="3419856" y="7228332"/>
            <a:ext cx="3218688" cy="388620"/>
          </a:xfrm>
          <a:prstGeom prst="rect">
            <a:avLst/>
          </a:prstGeom>
          <a:noFill/>
          <a:ln>
            <a:noFill/>
          </a:ln>
        </p:spPr>
        <p:txBody>
          <a:bodyPr spcFirstLastPara="1" wrap="square" lIns="0" tIns="0" rIns="0" bIns="0" anchor="t" anchorCtr="0">
            <a:spAutoFit/>
          </a:bodyPr>
          <a:lstStyle>
            <a:lvl1pPr marR="0" lvl="0" algn="ctr"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6"/>
          <p:cNvSpPr txBox="1">
            <a:spLocks noGrp="1"/>
          </p:cNvSpPr>
          <p:nvPr>
            <p:ph type="dt" idx="10"/>
          </p:nvPr>
        </p:nvSpPr>
        <p:spPr>
          <a:xfrm>
            <a:off x="502920" y="7228332"/>
            <a:ext cx="2313432" cy="38862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2" name="Google Shape;12;p16"/>
          <p:cNvSpPr txBox="1">
            <a:spLocks noGrp="1"/>
          </p:cNvSpPr>
          <p:nvPr>
            <p:ph type="sldNum" idx="12"/>
          </p:nvPr>
        </p:nvSpPr>
        <p:spPr>
          <a:xfrm>
            <a:off x="8869680" y="6925793"/>
            <a:ext cx="220345" cy="196850"/>
          </a:xfrm>
          <a:prstGeom prst="rect">
            <a:avLst/>
          </a:prstGeom>
          <a:noFill/>
          <a:ln>
            <a:noFill/>
          </a:ln>
        </p:spPr>
        <p:txBody>
          <a:bodyPr spcFirstLastPara="1" wrap="square" lIns="0" tIns="0" rIns="0" bIns="0" anchor="t" anchorCtr="0">
            <a:spAutoFit/>
          </a:bodyPr>
          <a:lstStyle>
            <a:lvl1pPr marL="38100" marR="0" lvl="0" indent="0" algn="l" rtl="0">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1pPr>
            <a:lvl2pPr marL="38100" marR="0" lvl="1" indent="0" algn="l" rtl="0">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2pPr>
            <a:lvl3pPr marL="38100" marR="0" lvl="2" indent="0" algn="l" rtl="0">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3pPr>
            <a:lvl4pPr marL="38100" marR="0" lvl="3" indent="0" algn="l" rtl="0">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4pPr>
            <a:lvl5pPr marL="38100" marR="0" lvl="4" indent="0" algn="l" rtl="0">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5pPr>
            <a:lvl6pPr marL="38100" marR="0" lvl="5" indent="0" algn="l" rtl="0">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6pPr>
            <a:lvl7pPr marL="38100" marR="0" lvl="6" indent="0" algn="l" rtl="0">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7pPr>
            <a:lvl8pPr marL="38100" marR="0" lvl="7" indent="0" algn="l" rtl="0">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8pPr>
            <a:lvl9pPr marL="38100" marR="0" lvl="8" indent="0" algn="l" rtl="0">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9pPr>
          </a:lstStyle>
          <a:p>
            <a:pPr marL="38100" lvl="0" indent="0" algn="l"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9.jpeg"/></Relationships>
</file>

<file path=ppt/slides/_rels/slide1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21.jpeg"/></Relationships>
</file>

<file path=ppt/slides/_rels/slide4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23.gif"/><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9.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25.png"/></Relationships>
</file>

<file path=ppt/slides/_rels/slide6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91.xml"/><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1510747" y="2819000"/>
            <a:ext cx="7136601" cy="936154"/>
          </a:xfrm>
          <a:prstGeom prst="rect">
            <a:avLst/>
          </a:prstGeom>
          <a:noFill/>
          <a:ln>
            <a:noFill/>
          </a:ln>
        </p:spPr>
        <p:txBody>
          <a:bodyPr spcFirstLastPara="1" wrap="square" lIns="0" tIns="12700" rIns="0" bIns="0" anchor="t" anchorCtr="0">
            <a:spAutoFit/>
          </a:bodyPr>
          <a:lstStyle/>
          <a:p>
            <a:pPr lvl="0" algn="ctr"/>
            <a:r>
              <a:rPr lang="en-US" sz="6000" dirty="0" smtClean="0"/>
              <a:t>Computer Networks</a:t>
            </a: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1</a:t>
            </a:fld>
            <a:endParaRP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6246281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182375"/>
          </a:xfrm>
          <a:prstGeom prst="rect">
            <a:avLst/>
          </a:prstGeom>
          <a:noFill/>
          <a:ln>
            <a:noFill/>
          </a:ln>
        </p:spPr>
        <p:txBody>
          <a:bodyPr spcFirstLastPara="1" wrap="square" lIns="0" tIns="12700" rIns="0" bIns="0" anchor="t" anchorCtr="0">
            <a:spAutoFit/>
          </a:bodyPr>
          <a:lstStyle/>
          <a:p>
            <a:pPr lvl="0"/>
            <a:r>
              <a:rPr lang="en-US" dirty="0"/>
              <a:t>What </a:t>
            </a:r>
            <a:r>
              <a:rPr lang="en-US" dirty="0" smtClean="0"/>
              <a:t>is a Computer Network?</a:t>
            </a: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2</a:t>
            </a:fld>
            <a:endParaRPr/>
          </a:p>
        </p:txBody>
      </p:sp>
      <p:sp>
        <p:nvSpPr>
          <p:cNvPr id="4" name="Google Shape;56;p8"/>
          <p:cNvSpPr txBox="1"/>
          <p:nvPr/>
        </p:nvSpPr>
        <p:spPr>
          <a:xfrm>
            <a:off x="993900" y="1833375"/>
            <a:ext cx="8142000" cy="1022060"/>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A </a:t>
            </a:r>
            <a:r>
              <a:rPr lang="en-US" sz="2000" dirty="0">
                <a:latin typeface="Times New Roman"/>
                <a:ea typeface="Times New Roman"/>
                <a:cs typeface="Times New Roman"/>
                <a:sym typeface="Times New Roman"/>
              </a:rPr>
              <a:t>network is a collection of two or more devices that are connected together to share resources, exchange data, and communicate with each other.</a:t>
            </a:r>
            <a:endParaRPr sz="2800" dirty="0">
              <a:latin typeface="Times New Roman"/>
              <a:ea typeface="Times New Roman"/>
              <a:cs typeface="Times New Roman"/>
              <a:sym typeface="Times New Roman"/>
            </a:endParaRP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p:cNvPicPr/>
          <p:nvPr/>
        </p:nvPicPr>
        <p:blipFill>
          <a:blip r:embed="rId3"/>
          <a:stretch>
            <a:fillRect/>
          </a:stretch>
        </p:blipFill>
        <p:spPr>
          <a:xfrm>
            <a:off x="2613991" y="3623786"/>
            <a:ext cx="4353877" cy="1972973"/>
          </a:xfrm>
          <a:prstGeom prst="rect">
            <a:avLst/>
          </a:prstGeom>
        </p:spPr>
      </p:pic>
    </p:spTree>
    <p:extLst>
      <p:ext uri="{BB962C8B-B14F-4D97-AF65-F5344CB8AC3E}">
        <p14:creationId xmlns:p14="http://schemas.microsoft.com/office/powerpoint/2010/main" val="4229632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182375"/>
          </a:xfrm>
          <a:prstGeom prst="rect">
            <a:avLst/>
          </a:prstGeom>
          <a:noFill/>
          <a:ln>
            <a:noFill/>
          </a:ln>
        </p:spPr>
        <p:txBody>
          <a:bodyPr spcFirstLastPara="1" wrap="square" lIns="0" tIns="12700" rIns="0" bIns="0" anchor="t" anchorCtr="0">
            <a:spAutoFit/>
          </a:bodyPr>
          <a:lstStyle/>
          <a:p>
            <a:pPr lvl="0"/>
            <a:r>
              <a:rPr lang="en-US" dirty="0"/>
              <a:t>Host / End Device?</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3</a:t>
            </a:fld>
            <a:endParaRPr/>
          </a:p>
        </p:txBody>
      </p:sp>
      <p:sp>
        <p:nvSpPr>
          <p:cNvPr id="4" name="Google Shape;56;p8"/>
          <p:cNvSpPr txBox="1"/>
          <p:nvPr/>
        </p:nvSpPr>
        <p:spPr>
          <a:xfrm>
            <a:off x="993900" y="1833375"/>
            <a:ext cx="8142000" cy="2376276"/>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panose="02020603050405020304" pitchFamily="18" charset="0"/>
                <a:cs typeface="Times New Roman" panose="02020603050405020304" pitchFamily="18" charset="0"/>
              </a:rPr>
              <a:t>All devices that are connected to a network and participate directly in network communication are classified as hosts</a:t>
            </a:r>
            <a:r>
              <a:rPr lang="en-US" sz="2000" dirty="0" smtClean="0">
                <a:latin typeface="Times New Roman" panose="02020603050405020304" pitchFamily="18" charset="0"/>
                <a:cs typeface="Times New Roman" panose="02020603050405020304" pitchFamily="18" charset="0"/>
              </a:rPr>
              <a:t>.</a:t>
            </a:r>
          </a:p>
          <a:p>
            <a:pPr marL="146050">
              <a:buClr>
                <a:srgbClr val="CC9A00"/>
              </a:buClr>
              <a:buSzPts val="1300"/>
            </a:pPr>
            <a:endParaRPr lang="en-US" sz="2000" dirty="0" smtClean="0">
              <a:latin typeface="Times New Roman" panose="02020603050405020304" pitchFamily="18" charset="0"/>
              <a:cs typeface="Times New Roman" panose="02020603050405020304" pitchFamily="18" charset="0"/>
            </a:endParaRPr>
          </a:p>
          <a:p>
            <a:pPr marL="457200" indent="-311150">
              <a:buClr>
                <a:srgbClr val="CC9A00"/>
              </a:buClr>
              <a:buSzPts val="1300"/>
              <a:buFont typeface="Noto Sans Symbols"/>
              <a:buChar char="❑"/>
            </a:pPr>
            <a:r>
              <a:rPr lang="en-US" sz="2000" dirty="0">
                <a:latin typeface="Times New Roman" panose="02020603050405020304" pitchFamily="18" charset="0"/>
                <a:cs typeface="Times New Roman" panose="02020603050405020304" pitchFamily="18" charset="0"/>
              </a:rPr>
              <a:t>Hosts are also called end devices</a:t>
            </a:r>
            <a:r>
              <a:rPr lang="en-US" sz="2000" dirty="0" smtClean="0">
                <a:latin typeface="Times New Roman" panose="02020603050405020304" pitchFamily="18" charset="0"/>
                <a:cs typeface="Times New Roman" panose="02020603050405020304" pitchFamily="18" charset="0"/>
              </a:rPr>
              <a:t>.</a:t>
            </a:r>
          </a:p>
          <a:p>
            <a:pPr marL="146050">
              <a:buClr>
                <a:srgbClr val="CC9A00"/>
              </a:buClr>
              <a:buSzPts val="1300"/>
            </a:pPr>
            <a:endParaRPr lang="en-US" sz="2000" dirty="0" smtClean="0">
              <a:latin typeface="Times New Roman" panose="02020603050405020304" pitchFamily="18" charset="0"/>
              <a:cs typeface="Times New Roman" panose="02020603050405020304" pitchFamily="18" charset="0"/>
            </a:endParaRPr>
          </a:p>
          <a:p>
            <a:pPr marL="457200" indent="-311150">
              <a:buClr>
                <a:srgbClr val="CC9A00"/>
              </a:buClr>
              <a:buSzPts val="1300"/>
              <a:buFont typeface="Noto Sans Symbols"/>
              <a:buChar char="❑"/>
            </a:pPr>
            <a:r>
              <a:rPr lang="en-US" sz="2000" dirty="0">
                <a:latin typeface="Times New Roman" panose="02020603050405020304" pitchFamily="18" charset="0"/>
                <a:cs typeface="Times New Roman" panose="02020603050405020304" pitchFamily="18" charset="0"/>
              </a:rPr>
              <a:t>Example: Computers, Servers, Smartphones, Printers, and etc.</a:t>
            </a:r>
          </a:p>
          <a:p>
            <a:pPr marL="457200" lvl="0" indent="-311150">
              <a:buClr>
                <a:srgbClr val="CC9A00"/>
              </a:buClr>
              <a:buSzPts val="1300"/>
              <a:buFont typeface="Noto Sans Symbols"/>
              <a:buChar char="❑"/>
            </a:pPr>
            <a:endParaRPr sz="2800" dirty="0">
              <a:latin typeface="Times New Roman"/>
              <a:ea typeface="Times New Roman"/>
              <a:cs typeface="Times New Roman"/>
              <a:sym typeface="Times New Roman"/>
            </a:endParaRP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32514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182375"/>
          </a:xfrm>
          <a:prstGeom prst="rect">
            <a:avLst/>
          </a:prstGeom>
          <a:noFill/>
          <a:ln>
            <a:noFill/>
          </a:ln>
        </p:spPr>
        <p:txBody>
          <a:bodyPr spcFirstLastPara="1" wrap="square" lIns="0" tIns="12700" rIns="0" bIns="0" anchor="t" anchorCtr="0">
            <a:spAutoFit/>
          </a:bodyPr>
          <a:lstStyle/>
          <a:p>
            <a:pPr lvl="0"/>
            <a:r>
              <a:rPr lang="en-US" dirty="0"/>
              <a:t>Intermediary </a:t>
            </a:r>
            <a:r>
              <a:rPr lang="en-US" dirty="0" smtClean="0"/>
              <a:t>Devices</a:t>
            </a: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4</a:t>
            </a:fld>
            <a:endParaRPr/>
          </a:p>
        </p:txBody>
      </p:sp>
      <p:sp>
        <p:nvSpPr>
          <p:cNvPr id="4" name="Google Shape;56;p8"/>
          <p:cNvSpPr txBox="1"/>
          <p:nvPr/>
        </p:nvSpPr>
        <p:spPr>
          <a:xfrm>
            <a:off x="993900" y="1833375"/>
            <a:ext cx="8142000" cy="1637613"/>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Network devices that connect hosts and help manage the flow of data across the network</a:t>
            </a:r>
            <a:r>
              <a:rPr lang="en-US" sz="2000" dirty="0" smtClean="0">
                <a:latin typeface="Times New Roman"/>
                <a:ea typeface="Times New Roman"/>
                <a:cs typeface="Times New Roman"/>
                <a:sym typeface="Times New Roman"/>
              </a:rPr>
              <a:t>.</a:t>
            </a:r>
          </a:p>
          <a:p>
            <a:pPr marL="146050">
              <a:buClr>
                <a:srgbClr val="CC9A00"/>
              </a:buClr>
              <a:buSzPts val="1300"/>
            </a:pPr>
            <a:endParaRPr lang="en-US" sz="2000" dirty="0">
              <a:latin typeface="Times New Roman"/>
              <a:ea typeface="Times New Roman"/>
              <a:cs typeface="Times New Roman"/>
              <a:sym typeface="Times New Roman"/>
            </a:endParaRPr>
          </a:p>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They do not generate or consume data like end devices, but instead forward, direct, and control data traffic between devices.</a:t>
            </a: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p:cNvPicPr/>
          <p:nvPr/>
        </p:nvPicPr>
        <p:blipFill>
          <a:blip r:embed="rId3"/>
          <a:stretch>
            <a:fillRect/>
          </a:stretch>
        </p:blipFill>
        <p:spPr>
          <a:xfrm>
            <a:off x="2782956" y="3730265"/>
            <a:ext cx="4184374" cy="2591021"/>
          </a:xfrm>
          <a:prstGeom prst="rect">
            <a:avLst/>
          </a:prstGeom>
        </p:spPr>
      </p:pic>
    </p:spTree>
    <p:extLst>
      <p:ext uri="{BB962C8B-B14F-4D97-AF65-F5344CB8AC3E}">
        <p14:creationId xmlns:p14="http://schemas.microsoft.com/office/powerpoint/2010/main" val="405477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182375"/>
          </a:xfrm>
          <a:prstGeom prst="rect">
            <a:avLst/>
          </a:prstGeom>
          <a:noFill/>
          <a:ln>
            <a:noFill/>
          </a:ln>
        </p:spPr>
        <p:txBody>
          <a:bodyPr spcFirstLastPara="1" wrap="square" lIns="0" tIns="12700" rIns="0" bIns="0" anchor="t" anchorCtr="0">
            <a:spAutoFit/>
          </a:bodyPr>
          <a:lstStyle/>
          <a:p>
            <a:pPr lvl="0"/>
            <a:r>
              <a:rPr lang="en-US" dirty="0"/>
              <a:t>Intermediary </a:t>
            </a:r>
            <a:r>
              <a:rPr lang="en-US" dirty="0" smtClean="0"/>
              <a:t>Devices</a:t>
            </a: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5</a:t>
            </a:fld>
            <a:endParaRPr/>
          </a:p>
        </p:txBody>
      </p:sp>
      <p:sp>
        <p:nvSpPr>
          <p:cNvPr id="4" name="Google Shape;56;p8"/>
          <p:cNvSpPr txBox="1"/>
          <p:nvPr/>
        </p:nvSpPr>
        <p:spPr>
          <a:xfrm>
            <a:off x="993900" y="1833375"/>
            <a:ext cx="8142000" cy="2560942"/>
          </a:xfrm>
          <a:prstGeom prst="rect">
            <a:avLst/>
          </a:prstGeom>
          <a:noFill/>
          <a:ln>
            <a:noFill/>
          </a:ln>
        </p:spPr>
        <p:txBody>
          <a:bodyPr spcFirstLastPara="1" wrap="square" lIns="0" tIns="97775" rIns="0" bIns="0" anchor="t" anchorCtr="0">
            <a:spAutoFit/>
          </a:bodyPr>
          <a:lstStyle/>
          <a:p>
            <a:pPr marL="457200" indent="-311150">
              <a:lnSpc>
                <a:spcPct val="200000"/>
              </a:lnSpc>
              <a:buClr>
                <a:srgbClr val="CC9A00"/>
              </a:buClr>
              <a:buSzPts val="1300"/>
              <a:buFont typeface="Noto Sans Symbols"/>
              <a:buChar char="❑"/>
            </a:pPr>
            <a:r>
              <a:rPr lang="en-US" sz="2000" dirty="0" smtClean="0">
                <a:latin typeface="Times New Roman"/>
                <a:ea typeface="Times New Roman"/>
                <a:cs typeface="Times New Roman"/>
                <a:sym typeface="Times New Roman"/>
              </a:rPr>
              <a:t>Forward </a:t>
            </a:r>
            <a:r>
              <a:rPr lang="en-US" sz="2000" dirty="0">
                <a:latin typeface="Times New Roman"/>
                <a:ea typeface="Times New Roman"/>
                <a:cs typeface="Times New Roman"/>
                <a:sym typeface="Times New Roman"/>
              </a:rPr>
              <a:t>data to the correct destination</a:t>
            </a:r>
          </a:p>
          <a:p>
            <a:pPr marL="457200" indent="-311150">
              <a:lnSpc>
                <a:spcPct val="200000"/>
              </a:lnSpc>
              <a:buClr>
                <a:srgbClr val="CC9A00"/>
              </a:buClr>
              <a:buSzPts val="1300"/>
              <a:buFont typeface="Noto Sans Symbols"/>
              <a:buChar char="❑"/>
            </a:pPr>
            <a:r>
              <a:rPr lang="en-US" sz="2000" dirty="0" smtClean="0">
                <a:latin typeface="Times New Roman"/>
                <a:ea typeface="Times New Roman"/>
                <a:cs typeface="Times New Roman"/>
                <a:sym typeface="Times New Roman"/>
              </a:rPr>
              <a:t>Determine </a:t>
            </a:r>
            <a:r>
              <a:rPr lang="en-US" sz="2000" dirty="0">
                <a:latin typeface="Times New Roman"/>
                <a:ea typeface="Times New Roman"/>
                <a:cs typeface="Times New Roman"/>
                <a:sym typeface="Times New Roman"/>
              </a:rPr>
              <a:t>the best path for data to travel</a:t>
            </a:r>
          </a:p>
          <a:p>
            <a:pPr marL="457200" indent="-311150">
              <a:lnSpc>
                <a:spcPct val="200000"/>
              </a:lnSpc>
              <a:buClr>
                <a:srgbClr val="CC9A00"/>
              </a:buClr>
              <a:buSzPts val="1300"/>
              <a:buFont typeface="Noto Sans Symbols"/>
              <a:buChar char="❑"/>
            </a:pPr>
            <a:r>
              <a:rPr lang="en-US" sz="2000" dirty="0" smtClean="0">
                <a:latin typeface="Times New Roman"/>
                <a:ea typeface="Times New Roman"/>
                <a:cs typeface="Times New Roman"/>
                <a:sym typeface="Times New Roman"/>
              </a:rPr>
              <a:t>Filter </a:t>
            </a:r>
            <a:r>
              <a:rPr lang="en-US" sz="2000" dirty="0">
                <a:latin typeface="Times New Roman"/>
                <a:ea typeface="Times New Roman"/>
                <a:cs typeface="Times New Roman"/>
                <a:sym typeface="Times New Roman"/>
              </a:rPr>
              <a:t>and secure traffic (Ex: firewalls)</a:t>
            </a:r>
          </a:p>
          <a:p>
            <a:pPr marL="457200" indent="-311150">
              <a:lnSpc>
                <a:spcPct val="200000"/>
              </a:lnSpc>
              <a:buClr>
                <a:srgbClr val="CC9A00"/>
              </a:buClr>
              <a:buSzPts val="1300"/>
              <a:buFont typeface="Noto Sans Symbols"/>
              <a:buChar char="❑"/>
            </a:pPr>
            <a:r>
              <a:rPr lang="en-US" sz="2000" dirty="0" smtClean="0">
                <a:latin typeface="Times New Roman"/>
                <a:ea typeface="Times New Roman"/>
                <a:cs typeface="Times New Roman"/>
                <a:sym typeface="Times New Roman"/>
              </a:rPr>
              <a:t>Connect </a:t>
            </a:r>
            <a:r>
              <a:rPr lang="en-US" sz="2000" dirty="0">
                <a:latin typeface="Times New Roman"/>
                <a:ea typeface="Times New Roman"/>
                <a:cs typeface="Times New Roman"/>
                <a:sym typeface="Times New Roman"/>
              </a:rPr>
              <a:t>different networks together</a:t>
            </a: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22078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2413481"/>
          </a:xfrm>
          <a:prstGeom prst="rect">
            <a:avLst/>
          </a:prstGeom>
          <a:noFill/>
          <a:ln>
            <a:noFill/>
          </a:ln>
        </p:spPr>
        <p:txBody>
          <a:bodyPr spcFirstLastPara="1" wrap="square" lIns="0" tIns="12700" rIns="0" bIns="0" anchor="t" anchorCtr="0">
            <a:spAutoFit/>
          </a:bodyPr>
          <a:lstStyle/>
          <a:p>
            <a:r>
              <a:rPr lang="en-US" dirty="0" smtClean="0"/>
              <a:t>Components of Data </a:t>
            </a:r>
            <a:r>
              <a:rPr lang="en-US" dirty="0"/>
              <a:t>C</a:t>
            </a:r>
            <a:r>
              <a:rPr lang="en-US" dirty="0" smtClean="0"/>
              <a:t>ommunication System</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6</a:t>
            </a:fld>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58297" y="2614345"/>
            <a:ext cx="6391104" cy="3675418"/>
          </a:xfrm>
          <a:prstGeom prst="rect">
            <a:avLst/>
          </a:prstGeom>
        </p:spPr>
      </p:pic>
    </p:spTree>
    <p:extLst>
      <p:ext uri="{BB962C8B-B14F-4D97-AF65-F5344CB8AC3E}">
        <p14:creationId xmlns:p14="http://schemas.microsoft.com/office/powerpoint/2010/main" val="97400314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182375"/>
          </a:xfrm>
          <a:prstGeom prst="rect">
            <a:avLst/>
          </a:prstGeom>
          <a:noFill/>
          <a:ln>
            <a:noFill/>
          </a:ln>
        </p:spPr>
        <p:txBody>
          <a:bodyPr spcFirstLastPara="1" wrap="square" lIns="0" tIns="12700" rIns="0" bIns="0" anchor="t" anchorCtr="0">
            <a:spAutoFit/>
          </a:bodyPr>
          <a:lstStyle/>
          <a:p>
            <a:pPr lvl="0"/>
            <a:r>
              <a:rPr lang="en-US" dirty="0" smtClean="0"/>
              <a:t>1. Sender</a:t>
            </a: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7</a:t>
            </a:fld>
            <a:endParaRPr/>
          </a:p>
        </p:txBody>
      </p:sp>
      <p:sp>
        <p:nvSpPr>
          <p:cNvPr id="4" name="Google Shape;56;p8"/>
          <p:cNvSpPr txBox="1"/>
          <p:nvPr/>
        </p:nvSpPr>
        <p:spPr>
          <a:xfrm>
            <a:off x="993900" y="1833375"/>
            <a:ext cx="8142000" cy="714283"/>
          </a:xfrm>
          <a:prstGeom prst="rect">
            <a:avLst/>
          </a:prstGeom>
          <a:noFill/>
          <a:ln>
            <a:noFill/>
          </a:ln>
        </p:spPr>
        <p:txBody>
          <a:bodyPr spcFirstLastPara="1" wrap="square" lIns="0" tIns="97775" rIns="0" bIns="0" anchor="t" anchorCtr="0">
            <a:spAutoFit/>
          </a:bodyPr>
          <a:lstStyle/>
          <a:p>
            <a:pPr marL="457200" indent="-311150">
              <a:lnSpc>
                <a:spcPct val="200000"/>
              </a:lnSpc>
              <a:buClr>
                <a:srgbClr val="CC9A00"/>
              </a:buClr>
              <a:buSzPts val="1300"/>
              <a:buFont typeface="Noto Sans Symbols"/>
              <a:buChar char="❑"/>
            </a:pPr>
            <a:r>
              <a:rPr lang="en-US" sz="2000" dirty="0" smtClean="0">
                <a:latin typeface="Times New Roman"/>
                <a:ea typeface="Times New Roman"/>
                <a:cs typeface="Times New Roman"/>
                <a:sym typeface="Times New Roman"/>
              </a:rPr>
              <a:t>The </a:t>
            </a:r>
            <a:r>
              <a:rPr lang="en-US" sz="2000" dirty="0">
                <a:latin typeface="Times New Roman"/>
                <a:ea typeface="Times New Roman"/>
                <a:cs typeface="Times New Roman"/>
                <a:sym typeface="Times New Roman"/>
              </a:rPr>
              <a:t>device that initiates (sends) the data.</a:t>
            </a: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66488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182375"/>
          </a:xfrm>
          <a:prstGeom prst="rect">
            <a:avLst/>
          </a:prstGeom>
          <a:noFill/>
          <a:ln>
            <a:noFill/>
          </a:ln>
        </p:spPr>
        <p:txBody>
          <a:bodyPr spcFirstLastPara="1" wrap="square" lIns="0" tIns="12700" rIns="0" bIns="0" anchor="t" anchorCtr="0">
            <a:spAutoFit/>
          </a:bodyPr>
          <a:lstStyle/>
          <a:p>
            <a:pPr lvl="0"/>
            <a:r>
              <a:rPr lang="en-US" dirty="0" smtClean="0"/>
              <a:t>2. Receiver</a:t>
            </a: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8</a:t>
            </a:fld>
            <a:endParaRPr/>
          </a:p>
        </p:txBody>
      </p:sp>
      <p:sp>
        <p:nvSpPr>
          <p:cNvPr id="4" name="Google Shape;56;p8"/>
          <p:cNvSpPr txBox="1"/>
          <p:nvPr/>
        </p:nvSpPr>
        <p:spPr>
          <a:xfrm>
            <a:off x="993900" y="1833375"/>
            <a:ext cx="8142000" cy="714283"/>
          </a:xfrm>
          <a:prstGeom prst="rect">
            <a:avLst/>
          </a:prstGeom>
          <a:noFill/>
          <a:ln>
            <a:noFill/>
          </a:ln>
        </p:spPr>
        <p:txBody>
          <a:bodyPr spcFirstLastPara="1" wrap="square" lIns="0" tIns="97775" rIns="0" bIns="0" anchor="t" anchorCtr="0">
            <a:spAutoFit/>
          </a:bodyPr>
          <a:lstStyle/>
          <a:p>
            <a:pPr marL="457200" indent="-311150">
              <a:lnSpc>
                <a:spcPct val="200000"/>
              </a:lnSpc>
              <a:buClr>
                <a:srgbClr val="CC9A00"/>
              </a:buClr>
              <a:buSzPts val="1300"/>
              <a:buFont typeface="Noto Sans Symbols"/>
              <a:buChar char="❑"/>
            </a:pPr>
            <a:r>
              <a:rPr lang="en-US" sz="2000" dirty="0">
                <a:latin typeface="Times New Roman"/>
                <a:ea typeface="Times New Roman"/>
                <a:cs typeface="Times New Roman"/>
                <a:sym typeface="Times New Roman"/>
              </a:rPr>
              <a:t>The device that receives the data.</a:t>
            </a: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54596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a:t>Question:</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9</a:t>
            </a:fld>
            <a:endParaRPr/>
          </a:p>
        </p:txBody>
      </p:sp>
      <p:sp>
        <p:nvSpPr>
          <p:cNvPr id="4" name="Google Shape;56;p8"/>
          <p:cNvSpPr txBox="1"/>
          <p:nvPr/>
        </p:nvSpPr>
        <p:spPr>
          <a:xfrm>
            <a:off x="993900" y="1833375"/>
            <a:ext cx="8142000" cy="714283"/>
          </a:xfrm>
          <a:prstGeom prst="rect">
            <a:avLst/>
          </a:prstGeom>
          <a:noFill/>
          <a:ln>
            <a:noFill/>
          </a:ln>
        </p:spPr>
        <p:txBody>
          <a:bodyPr spcFirstLastPara="1" wrap="square" lIns="0" tIns="97775" rIns="0" bIns="0" anchor="t" anchorCtr="0">
            <a:spAutoFit/>
          </a:bodyPr>
          <a:lstStyle/>
          <a:p>
            <a:pPr marL="457200" indent="-311150">
              <a:lnSpc>
                <a:spcPct val="200000"/>
              </a:lnSpc>
              <a:buClr>
                <a:srgbClr val="CC9A00"/>
              </a:buClr>
              <a:buSzPts val="1300"/>
              <a:buFont typeface="Noto Sans Symbols"/>
              <a:buChar char="❑"/>
            </a:pPr>
            <a:r>
              <a:rPr lang="en-US" sz="2000" dirty="0">
                <a:latin typeface="Times New Roman"/>
                <a:ea typeface="Times New Roman"/>
                <a:cs typeface="Times New Roman"/>
                <a:sym typeface="Times New Roman"/>
              </a:rPr>
              <a:t>Is the client always the sender and the server always the receiver?</a:t>
            </a: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25125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182375"/>
          </a:xfrm>
          <a:prstGeom prst="rect">
            <a:avLst/>
          </a:prstGeom>
          <a:noFill/>
          <a:ln>
            <a:noFill/>
          </a:ln>
        </p:spPr>
        <p:txBody>
          <a:bodyPr spcFirstLastPara="1" wrap="square" lIns="0" tIns="12700" rIns="0" bIns="0" anchor="t" anchorCtr="0">
            <a:spAutoFit/>
          </a:bodyPr>
          <a:lstStyle/>
          <a:p>
            <a:pPr lvl="0"/>
            <a:r>
              <a:rPr lang="en-US" dirty="0"/>
              <a:t>Client?</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10</a:t>
            </a:fld>
            <a:endParaRPr/>
          </a:p>
        </p:txBody>
      </p:sp>
      <p:sp>
        <p:nvSpPr>
          <p:cNvPr id="4" name="Google Shape;56;p8"/>
          <p:cNvSpPr txBox="1"/>
          <p:nvPr/>
        </p:nvSpPr>
        <p:spPr>
          <a:xfrm>
            <a:off x="993900" y="1833375"/>
            <a:ext cx="8142000" cy="714283"/>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A client is a type of host that requests services from another device. Clients use software to request and display information received from servers.</a:t>
            </a:r>
            <a:endParaRPr sz="2000" dirty="0">
              <a:latin typeface="Times New Roman"/>
              <a:ea typeface="Times New Roman"/>
              <a:cs typeface="Times New Roman"/>
              <a:sym typeface="Times New Roman"/>
            </a:endParaRP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34283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182375"/>
          </a:xfrm>
          <a:prstGeom prst="rect">
            <a:avLst/>
          </a:prstGeom>
          <a:noFill/>
          <a:ln>
            <a:noFill/>
          </a:ln>
        </p:spPr>
        <p:txBody>
          <a:bodyPr spcFirstLastPara="1" wrap="square" lIns="0" tIns="12700" rIns="0" bIns="0" anchor="t" anchorCtr="0">
            <a:spAutoFit/>
          </a:bodyPr>
          <a:lstStyle/>
          <a:p>
            <a:pPr lvl="0"/>
            <a:r>
              <a:rPr lang="en-US" dirty="0" smtClean="0"/>
              <a:t>Server?</a:t>
            </a: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11</a:t>
            </a:fld>
            <a:endParaRPr/>
          </a:p>
        </p:txBody>
      </p:sp>
      <p:sp>
        <p:nvSpPr>
          <p:cNvPr id="4" name="Google Shape;56;p8"/>
          <p:cNvSpPr txBox="1"/>
          <p:nvPr/>
        </p:nvSpPr>
        <p:spPr>
          <a:xfrm>
            <a:off x="993900" y="1833375"/>
            <a:ext cx="8142000" cy="1022060"/>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A </a:t>
            </a:r>
            <a:r>
              <a:rPr lang="en-US" sz="2000" dirty="0">
                <a:latin typeface="Times New Roman"/>
                <a:ea typeface="Times New Roman"/>
                <a:cs typeface="Times New Roman"/>
                <a:sym typeface="Times New Roman"/>
              </a:rPr>
              <a:t>server is a type of host that provides services to other devices. Servers run software that allows them to provide information and services, often to multiple clients simultaneously.</a:t>
            </a:r>
            <a:endParaRPr sz="2000" dirty="0">
              <a:latin typeface="Times New Roman"/>
              <a:ea typeface="Times New Roman"/>
              <a:cs typeface="Times New Roman"/>
              <a:sym typeface="Times New Roman"/>
            </a:endParaRP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23558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a:stretch>
            <a:fillRect/>
          </a:stretch>
        </p:blipFill>
        <p:spPr>
          <a:xfrm>
            <a:off x="1639956" y="1858617"/>
            <a:ext cx="6798366" cy="3568148"/>
          </a:xfrm>
          <a:prstGeom prst="rect">
            <a:avLst/>
          </a:prstGeom>
        </p:spPr>
      </p:pic>
    </p:spTree>
    <p:extLst>
      <p:ext uri="{BB962C8B-B14F-4D97-AF65-F5344CB8AC3E}">
        <p14:creationId xmlns:p14="http://schemas.microsoft.com/office/powerpoint/2010/main" val="98912231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Answer:</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13</a:t>
            </a:fld>
            <a:endParaRPr/>
          </a:p>
        </p:txBody>
      </p:sp>
      <p:sp>
        <p:nvSpPr>
          <p:cNvPr id="4" name="Google Shape;56;p8"/>
          <p:cNvSpPr txBox="1"/>
          <p:nvPr/>
        </p:nvSpPr>
        <p:spPr>
          <a:xfrm>
            <a:off x="1143000" y="1833375"/>
            <a:ext cx="7772705" cy="2279840"/>
          </a:xfrm>
          <a:prstGeom prst="rect">
            <a:avLst/>
          </a:prstGeom>
          <a:noFill/>
          <a:ln>
            <a:noFill/>
          </a:ln>
        </p:spPr>
        <p:txBody>
          <a:bodyPr spcFirstLastPara="1" wrap="square" lIns="0" tIns="97775" rIns="0" bIns="0" anchor="t" anchorCtr="0">
            <a:spAutoFit/>
          </a:bodyPr>
          <a:lstStyle/>
          <a:p>
            <a:pPr>
              <a:lnSpc>
                <a:spcPct val="107000"/>
              </a:lnSpc>
              <a:spcAft>
                <a:spcPts val="800"/>
              </a:spcAft>
            </a:pPr>
            <a:r>
              <a:rPr lang="en-US" sz="2000" dirty="0">
                <a:latin typeface="Calibri" panose="020F0502020204030204" pitchFamily="34" charset="0"/>
                <a:ea typeface="Calibri" panose="020F0502020204030204" pitchFamily="34" charset="0"/>
                <a:cs typeface="Iskoola Pota"/>
              </a:rPr>
              <a:t>No</a:t>
            </a:r>
            <a:endParaRPr lang="en-US" sz="1800" dirty="0">
              <a:latin typeface="Calibri" panose="020F0502020204030204" pitchFamily="34" charset="0"/>
              <a:ea typeface="Calibri" panose="020F0502020204030204" pitchFamily="34" charset="0"/>
              <a:cs typeface="Iskoola Pota"/>
            </a:endParaRPr>
          </a:p>
          <a:p>
            <a:pPr>
              <a:lnSpc>
                <a:spcPct val="107000"/>
              </a:lnSpc>
              <a:spcAft>
                <a:spcPts val="800"/>
              </a:spcAft>
            </a:pPr>
            <a:r>
              <a:rPr lang="en-US" sz="2000" dirty="0">
                <a:latin typeface="Calibri" panose="020F0502020204030204" pitchFamily="34" charset="0"/>
                <a:ea typeface="Calibri" panose="020F0502020204030204" pitchFamily="34" charset="0"/>
                <a:cs typeface="Iskoola Pota"/>
              </a:rPr>
              <a:t>A client and a server can both act as sender or receiver depending on the direction of communication. For example, when a client request data, it is the sender and the server is the receiver. When the server sends the requested data back, the server becomes the sender and the client becomes the receiver.</a:t>
            </a:r>
            <a:endParaRPr lang="en-US" sz="1800" dirty="0">
              <a:effectLst/>
              <a:latin typeface="Calibri" panose="020F0502020204030204" pitchFamily="34" charset="0"/>
              <a:ea typeface="Calibri" panose="020F0502020204030204" pitchFamily="34" charset="0"/>
              <a:cs typeface="Iskoola Pota"/>
            </a:endParaRP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58834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182375"/>
          </a:xfrm>
          <a:prstGeom prst="rect">
            <a:avLst/>
          </a:prstGeom>
          <a:noFill/>
          <a:ln>
            <a:noFill/>
          </a:ln>
        </p:spPr>
        <p:txBody>
          <a:bodyPr spcFirstLastPara="1" wrap="square" lIns="0" tIns="12700" rIns="0" bIns="0" anchor="t" anchorCtr="0">
            <a:spAutoFit/>
          </a:bodyPr>
          <a:lstStyle/>
          <a:p>
            <a:pPr lvl="0"/>
            <a:r>
              <a:rPr lang="en-US" dirty="0" smtClean="0"/>
              <a:t>3. Transmission Media</a:t>
            </a: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14</a:t>
            </a:fld>
            <a:endParaRPr/>
          </a:p>
        </p:txBody>
      </p:sp>
      <p:sp>
        <p:nvSpPr>
          <p:cNvPr id="4" name="Google Shape;56;p8"/>
          <p:cNvSpPr txBox="1"/>
          <p:nvPr/>
        </p:nvSpPr>
        <p:spPr>
          <a:xfrm>
            <a:off x="993900" y="1833375"/>
            <a:ext cx="8142000" cy="714283"/>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T</a:t>
            </a:r>
            <a:r>
              <a:rPr lang="en-US" sz="2000" dirty="0" smtClean="0">
                <a:latin typeface="Times New Roman"/>
                <a:ea typeface="Times New Roman"/>
                <a:cs typeface="Times New Roman"/>
                <a:sym typeface="Times New Roman"/>
              </a:rPr>
              <a:t>ransmission </a:t>
            </a:r>
            <a:r>
              <a:rPr lang="en-US" sz="2000" dirty="0">
                <a:latin typeface="Times New Roman"/>
                <a:ea typeface="Times New Roman"/>
                <a:cs typeface="Times New Roman"/>
                <a:sym typeface="Times New Roman"/>
              </a:rPr>
              <a:t>media refer to the physical pathways through which data is transmitted from one device to another within a network.</a:t>
            </a:r>
            <a:endParaRPr sz="2800" dirty="0">
              <a:latin typeface="Times New Roman"/>
              <a:ea typeface="Times New Roman"/>
              <a:cs typeface="Times New Roman"/>
              <a:sym typeface="Times New Roman"/>
            </a:endParaRP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Guided and Unguided Medi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3368" y="2952085"/>
            <a:ext cx="5534025" cy="34239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8249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a:t>Guided Media (Wired)</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15</a:t>
            </a:fld>
            <a:endParaRPr/>
          </a:p>
        </p:txBody>
      </p:sp>
      <p:sp>
        <p:nvSpPr>
          <p:cNvPr id="4" name="Google Shape;56;p8"/>
          <p:cNvSpPr txBox="1"/>
          <p:nvPr/>
        </p:nvSpPr>
        <p:spPr>
          <a:xfrm>
            <a:off x="993900" y="1833375"/>
            <a:ext cx="8142000" cy="714283"/>
          </a:xfrm>
          <a:prstGeom prst="rect">
            <a:avLst/>
          </a:prstGeom>
          <a:noFill/>
          <a:ln>
            <a:noFill/>
          </a:ln>
        </p:spPr>
        <p:txBody>
          <a:bodyPr spcFirstLastPara="1" wrap="square" lIns="0" tIns="97775" rIns="0" bIns="0" anchor="t" anchorCtr="0">
            <a:spAutoFit/>
          </a:bodyPr>
          <a:lstStyle/>
          <a:p>
            <a:pPr marL="457200" indent="-311150">
              <a:lnSpc>
                <a:spcPct val="200000"/>
              </a:lnSpc>
              <a:buClr>
                <a:srgbClr val="CC9A00"/>
              </a:buClr>
              <a:buSzPts val="1300"/>
              <a:buFont typeface="Noto Sans Symbols"/>
              <a:buChar char="❑"/>
            </a:pPr>
            <a:r>
              <a:rPr lang="en-US" sz="2000" dirty="0">
                <a:latin typeface="Times New Roman"/>
                <a:ea typeface="Times New Roman"/>
                <a:cs typeface="Times New Roman"/>
                <a:sym typeface="Times New Roman"/>
              </a:rPr>
              <a:t>Data travels through a physical path such as cables.</a:t>
            </a: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9055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pic>
        <p:nvPicPr>
          <p:cNvPr id="3074" name="Picture 2" descr="Ultimate Guide to Twisted Pair Cab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25157" y="3097161"/>
            <a:ext cx="3233244" cy="1818701"/>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p:cNvPicPr>
            <a:picLocks noChangeAspect="1"/>
          </p:cNvPicPr>
          <p:nvPr/>
        </p:nvPicPr>
        <p:blipFill>
          <a:blip r:embed="rId4"/>
          <a:stretch>
            <a:fillRect/>
          </a:stretch>
        </p:blipFill>
        <p:spPr>
          <a:xfrm>
            <a:off x="6825156" y="777656"/>
            <a:ext cx="3073044" cy="1098253"/>
          </a:xfrm>
          <a:prstGeom prst="rect">
            <a:avLst/>
          </a:prstGeom>
        </p:spPr>
      </p:pic>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smtClean="0"/>
              <a:t>Twisted pair cable</a:t>
            </a:r>
            <a:endParaRPr sz="3600" dirty="0"/>
          </a:p>
        </p:txBody>
      </p:sp>
      <p:sp>
        <p:nvSpPr>
          <p:cNvPr id="56" name="Google Shape;56;p8"/>
          <p:cNvSpPr txBox="1"/>
          <p:nvPr/>
        </p:nvSpPr>
        <p:spPr>
          <a:xfrm>
            <a:off x="883805" y="1864906"/>
            <a:ext cx="8142000" cy="5146265"/>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A </a:t>
            </a:r>
            <a:r>
              <a:rPr lang="en-US" sz="2000" dirty="0">
                <a:latin typeface="Times New Roman"/>
                <a:ea typeface="Times New Roman"/>
                <a:cs typeface="Times New Roman"/>
                <a:sym typeface="Times New Roman"/>
              </a:rPr>
              <a:t>twisted pair cable is a type of copper cable that has two copper wires. Each copper wire has an insulated layer. The two copper wires are twisted around each other, and there is an outer plastic layer covering them.</a:t>
            </a:r>
            <a:r>
              <a:rPr lang="en-US" sz="2000" dirty="0" smtClean="0">
                <a:latin typeface="Times New Roman"/>
                <a:ea typeface="Times New Roman"/>
                <a:cs typeface="Times New Roman"/>
                <a:sym typeface="Times New Roman"/>
              </a:rPr>
              <a:t/>
            </a:r>
            <a:br>
              <a:rPr lang="en-US" sz="2000" dirty="0" smtClean="0">
                <a:latin typeface="Times New Roman"/>
                <a:ea typeface="Times New Roman"/>
                <a:cs typeface="Times New Roman"/>
                <a:sym typeface="Times New Roman"/>
              </a:rPr>
            </a:br>
            <a:endParaRPr lang="en-US" sz="2000" dirty="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C</a:t>
            </a:r>
            <a:r>
              <a:rPr lang="en-US" sz="2000" dirty="0" smtClean="0">
                <a:latin typeface="Times New Roman"/>
                <a:ea typeface="Times New Roman"/>
                <a:cs typeface="Times New Roman"/>
                <a:sym typeface="Times New Roman"/>
              </a:rPr>
              <a:t>haracteristics </a:t>
            </a:r>
            <a:r>
              <a:rPr lang="en-US" sz="2000" dirty="0">
                <a:latin typeface="Times New Roman"/>
                <a:ea typeface="Times New Roman"/>
                <a:cs typeface="Times New Roman"/>
                <a:sym typeface="Times New Roman"/>
              </a:rPr>
              <a:t>of twisted pair cables</a:t>
            </a:r>
            <a:r>
              <a:rPr lang="en-US" sz="2000" dirty="0" smtClean="0">
                <a:latin typeface="Times New Roman"/>
                <a:ea typeface="Times New Roman"/>
                <a:cs typeface="Times New Roman"/>
                <a:sym typeface="Times New Roman"/>
              </a:rPr>
              <a:t>.</a:t>
            </a:r>
            <a:endParaRPr lang="en-US" sz="2000" dirty="0">
              <a:latin typeface="Times New Roman"/>
              <a:ea typeface="Times New Roman"/>
              <a:cs typeface="Times New Roman"/>
              <a:sym typeface="Times New Roman"/>
            </a:endParaRPr>
          </a:p>
          <a:p>
            <a:pPr marL="603250" lvl="0" indent="-457200">
              <a:lnSpc>
                <a:spcPct val="150000"/>
              </a:lnSpc>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transmit data using electrical currents.</a:t>
            </a:r>
          </a:p>
          <a:p>
            <a:pPr marL="603250" lvl="0" indent="-457200">
              <a:lnSpc>
                <a:spcPct val="150000"/>
              </a:lnSpc>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can transmit data up to a speed of 10 </a:t>
            </a:r>
            <a:r>
              <a:rPr lang="en-US" sz="2000" dirty="0" err="1">
                <a:latin typeface="Times New Roman"/>
                <a:ea typeface="Times New Roman"/>
                <a:cs typeface="Times New Roman"/>
                <a:sym typeface="Times New Roman"/>
              </a:rPr>
              <a:t>Gbps</a:t>
            </a:r>
            <a:r>
              <a:rPr lang="en-US" sz="2000" dirty="0">
                <a:latin typeface="Times New Roman"/>
                <a:ea typeface="Times New Roman"/>
                <a:cs typeface="Times New Roman"/>
                <a:sym typeface="Times New Roman"/>
              </a:rPr>
              <a:t>.</a:t>
            </a:r>
          </a:p>
          <a:p>
            <a:pPr marL="603250" lvl="0" indent="-457200">
              <a:lnSpc>
                <a:spcPct val="150000"/>
              </a:lnSpc>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are cheap to manufacture.</a:t>
            </a:r>
          </a:p>
          <a:p>
            <a:pPr marL="603250" lvl="0" indent="-457200">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can suffer from electromagnetic interference, so are only used to carry data over short distances.</a:t>
            </a:r>
          </a:p>
          <a:p>
            <a:pPr marL="603250" lvl="0" indent="-457200">
              <a:lnSpc>
                <a:spcPct val="150000"/>
              </a:lnSpc>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are easy to install.</a:t>
            </a:r>
          </a:p>
          <a:p>
            <a:pPr marL="603250" lvl="0" indent="-457200">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are mainly used for telephone communications and for </a:t>
            </a:r>
            <a:r>
              <a:rPr lang="en-US" sz="2000" dirty="0" smtClean="0">
                <a:latin typeface="Times New Roman"/>
                <a:ea typeface="Times New Roman"/>
                <a:cs typeface="Times New Roman"/>
                <a:sym typeface="Times New Roman"/>
              </a:rPr>
              <a:t>Ethernet </a:t>
            </a:r>
            <a:r>
              <a:rPr lang="en-US" sz="2000" dirty="0">
                <a:latin typeface="Times New Roman"/>
                <a:ea typeface="Times New Roman"/>
                <a:cs typeface="Times New Roman"/>
                <a:sym typeface="Times New Roman"/>
              </a:rPr>
              <a:t>connections in a local area network within one building.</a:t>
            </a:r>
          </a:p>
          <a:p>
            <a:pPr marL="146050" lvl="0">
              <a:buClr>
                <a:srgbClr val="CC9A00"/>
              </a:buClr>
              <a:buSzPts val="1300"/>
            </a:pPr>
            <a:endParaRPr sz="2800" dirty="0">
              <a:latin typeface="Times New Roman"/>
              <a:ea typeface="Times New Roman"/>
              <a:cs typeface="Times New Roman"/>
              <a:sym typeface="Times New Roman"/>
            </a:endParaRP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2265390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smtClean="0"/>
              <a:t>Coaxial cable</a:t>
            </a:r>
            <a:endParaRPr sz="3600" dirty="0"/>
          </a:p>
        </p:txBody>
      </p:sp>
      <p:sp>
        <p:nvSpPr>
          <p:cNvPr id="56" name="Google Shape;56;p8"/>
          <p:cNvSpPr txBox="1"/>
          <p:nvPr/>
        </p:nvSpPr>
        <p:spPr>
          <a:xfrm>
            <a:off x="883805" y="1864906"/>
            <a:ext cx="8142000" cy="4715378"/>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A </a:t>
            </a:r>
            <a:r>
              <a:rPr lang="en-US" sz="2000" dirty="0">
                <a:latin typeface="Times New Roman"/>
                <a:ea typeface="Times New Roman"/>
                <a:cs typeface="Times New Roman"/>
                <a:sym typeface="Times New Roman"/>
              </a:rPr>
              <a:t>coaxial cable is a type of copper cable. It has a central copper wire that has an insulated layer, a metal conductor layer and a protective plastic outer layer.</a:t>
            </a:r>
            <a:r>
              <a:rPr lang="en-US" sz="2000" dirty="0" smtClean="0">
                <a:latin typeface="Times New Roman"/>
                <a:ea typeface="Times New Roman"/>
                <a:cs typeface="Times New Roman"/>
                <a:sym typeface="Times New Roman"/>
              </a:rPr>
              <a:t/>
            </a:r>
            <a:br>
              <a:rPr lang="en-US" sz="2000" dirty="0" smtClean="0">
                <a:latin typeface="Times New Roman"/>
                <a:ea typeface="Times New Roman"/>
                <a:cs typeface="Times New Roman"/>
                <a:sym typeface="Times New Roman"/>
              </a:rPr>
            </a:br>
            <a:endParaRPr lang="en-US" sz="2000" dirty="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C</a:t>
            </a:r>
            <a:r>
              <a:rPr lang="en-US" sz="2000" dirty="0" smtClean="0">
                <a:latin typeface="Times New Roman"/>
                <a:ea typeface="Times New Roman"/>
                <a:cs typeface="Times New Roman"/>
                <a:sym typeface="Times New Roman"/>
              </a:rPr>
              <a:t>haracteristics </a:t>
            </a:r>
            <a:r>
              <a:rPr lang="en-US" sz="2000" dirty="0">
                <a:latin typeface="Times New Roman"/>
                <a:ea typeface="Times New Roman"/>
                <a:cs typeface="Times New Roman"/>
                <a:sym typeface="Times New Roman"/>
              </a:rPr>
              <a:t>of </a:t>
            </a:r>
            <a:r>
              <a:rPr lang="en-US" sz="2000" dirty="0" smtClean="0">
                <a:latin typeface="Times New Roman"/>
                <a:ea typeface="Times New Roman"/>
                <a:cs typeface="Times New Roman"/>
                <a:sym typeface="Times New Roman"/>
              </a:rPr>
              <a:t>coaxial </a:t>
            </a:r>
            <a:r>
              <a:rPr lang="en-US" sz="2000" dirty="0">
                <a:latin typeface="Times New Roman"/>
                <a:ea typeface="Times New Roman"/>
                <a:cs typeface="Times New Roman"/>
                <a:sym typeface="Times New Roman"/>
              </a:rPr>
              <a:t>cables</a:t>
            </a:r>
            <a:r>
              <a:rPr lang="en-US" sz="2000" dirty="0" smtClean="0">
                <a:latin typeface="Times New Roman"/>
                <a:ea typeface="Times New Roman"/>
                <a:cs typeface="Times New Roman"/>
                <a:sym typeface="Times New Roman"/>
              </a:rPr>
              <a:t>.</a:t>
            </a:r>
            <a:endParaRPr lang="en-US" sz="2000" dirty="0">
              <a:latin typeface="Times New Roman"/>
              <a:ea typeface="Times New Roman"/>
              <a:cs typeface="Times New Roman"/>
              <a:sym typeface="Times New Roman"/>
            </a:endParaRPr>
          </a:p>
          <a:p>
            <a:pPr marL="603250" lvl="0" indent="-457200">
              <a:lnSpc>
                <a:spcPct val="150000"/>
              </a:lnSpc>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transmit data using radio frequency signals.</a:t>
            </a:r>
          </a:p>
          <a:p>
            <a:pPr marL="603250" lvl="0" indent="-457200">
              <a:lnSpc>
                <a:spcPct val="150000"/>
              </a:lnSpc>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can transmit data at speeds of up to 10 Mbps.</a:t>
            </a:r>
          </a:p>
          <a:p>
            <a:pPr marL="603250" lvl="0" indent="-457200">
              <a:lnSpc>
                <a:spcPct val="150000"/>
              </a:lnSpc>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are cheap to manufacture, but not as cheap as twisted pair cables.</a:t>
            </a:r>
          </a:p>
          <a:p>
            <a:pPr marL="603250" lvl="0" indent="-457200">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are less prone to electromagnetic interference because of the braided metal conductor layer.</a:t>
            </a:r>
          </a:p>
          <a:p>
            <a:pPr marL="603250" lvl="0" indent="-457200">
              <a:lnSpc>
                <a:spcPct val="150000"/>
              </a:lnSpc>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are difficult to install, as they can be stiff and difficult to bend.</a:t>
            </a:r>
          </a:p>
          <a:p>
            <a:pPr marL="603250" lvl="0" indent="-457200">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are mainly used in cable TV connections and sometimes in internet connections.</a:t>
            </a:r>
            <a:endParaRPr sz="2800" dirty="0">
              <a:latin typeface="Times New Roman"/>
              <a:ea typeface="Times New Roman"/>
              <a:cs typeface="Times New Roman"/>
              <a:sym typeface="Times New Roman"/>
            </a:endParaRP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17</a:t>
            </a:fld>
            <a:endParaRPr/>
          </a:p>
        </p:txBody>
      </p:sp>
      <p:pic>
        <p:nvPicPr>
          <p:cNvPr id="3" name="Picture 2"/>
          <p:cNvPicPr>
            <a:picLocks noChangeAspect="1"/>
          </p:cNvPicPr>
          <p:nvPr/>
        </p:nvPicPr>
        <p:blipFill>
          <a:blip r:embed="rId3"/>
          <a:stretch>
            <a:fillRect/>
          </a:stretch>
        </p:blipFill>
        <p:spPr>
          <a:xfrm>
            <a:off x="5869858" y="810459"/>
            <a:ext cx="3790954" cy="1112730"/>
          </a:xfrm>
          <a:prstGeom prst="rect">
            <a:avLst/>
          </a:prstGeom>
        </p:spPr>
      </p:pic>
      <p:pic>
        <p:nvPicPr>
          <p:cNvPr id="5122" name="Picture 2" descr="COAXIAL CABLE RF-7 50 Ω - 50 Ω Coaxial Cables - Delta"/>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96361" y="2771305"/>
            <a:ext cx="2901839" cy="15805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4372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smtClean="0"/>
              <a:t>Fiber optic cable</a:t>
            </a:r>
            <a:endParaRPr sz="3600" dirty="0"/>
          </a:p>
        </p:txBody>
      </p:sp>
      <p:sp>
        <p:nvSpPr>
          <p:cNvPr id="56" name="Google Shape;56;p8"/>
          <p:cNvSpPr txBox="1"/>
          <p:nvPr/>
        </p:nvSpPr>
        <p:spPr>
          <a:xfrm>
            <a:off x="883805" y="1686902"/>
            <a:ext cx="8142000" cy="4869267"/>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A </a:t>
            </a:r>
            <a:r>
              <a:rPr lang="en-US" sz="2000" dirty="0" smtClean="0">
                <a:latin typeface="Times New Roman"/>
                <a:ea typeface="Times New Roman"/>
                <a:cs typeface="Times New Roman"/>
                <a:sym typeface="Times New Roman"/>
              </a:rPr>
              <a:t>fiber </a:t>
            </a:r>
            <a:r>
              <a:rPr lang="en-US" sz="2000" dirty="0">
                <a:latin typeface="Times New Roman"/>
                <a:ea typeface="Times New Roman"/>
                <a:cs typeface="Times New Roman"/>
                <a:sym typeface="Times New Roman"/>
              </a:rPr>
              <a:t>optic cable has many very thin strands of glass or plastic that make up the core of the cable. The core is covered by a cladding, which is covered by a plastic coating. This plastic coating is covered by strengthening </a:t>
            </a:r>
            <a:r>
              <a:rPr lang="en-US" sz="2000" dirty="0" smtClean="0">
                <a:latin typeface="Times New Roman"/>
                <a:ea typeface="Times New Roman"/>
                <a:cs typeface="Times New Roman"/>
                <a:sym typeface="Times New Roman"/>
              </a:rPr>
              <a:t>fibers </a:t>
            </a:r>
            <a:r>
              <a:rPr lang="en-US" sz="2000" dirty="0">
                <a:latin typeface="Times New Roman"/>
                <a:ea typeface="Times New Roman"/>
                <a:cs typeface="Times New Roman"/>
                <a:sym typeface="Times New Roman"/>
              </a:rPr>
              <a:t>and then an outer coating.</a:t>
            </a:r>
            <a:r>
              <a:rPr lang="en-US" sz="2000" dirty="0" smtClean="0">
                <a:latin typeface="Times New Roman"/>
                <a:ea typeface="Times New Roman"/>
                <a:cs typeface="Times New Roman"/>
                <a:sym typeface="Times New Roman"/>
              </a:rPr>
              <a:t/>
            </a:r>
            <a:br>
              <a:rPr lang="en-US" sz="2000" dirty="0" smtClean="0">
                <a:latin typeface="Times New Roman"/>
                <a:ea typeface="Times New Roman"/>
                <a:cs typeface="Times New Roman"/>
                <a:sym typeface="Times New Roman"/>
              </a:rPr>
            </a:br>
            <a:endParaRPr lang="en-US" sz="2000" dirty="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C</a:t>
            </a:r>
            <a:r>
              <a:rPr lang="en-US" sz="2000" dirty="0" smtClean="0">
                <a:latin typeface="Times New Roman"/>
                <a:ea typeface="Times New Roman"/>
                <a:cs typeface="Times New Roman"/>
                <a:sym typeface="Times New Roman"/>
              </a:rPr>
              <a:t>haracteristics </a:t>
            </a:r>
            <a:r>
              <a:rPr lang="en-US" sz="2000" dirty="0">
                <a:latin typeface="Times New Roman"/>
                <a:ea typeface="Times New Roman"/>
                <a:cs typeface="Times New Roman"/>
                <a:sym typeface="Times New Roman"/>
              </a:rPr>
              <a:t>of fiber optic </a:t>
            </a:r>
            <a:r>
              <a:rPr lang="en-US" sz="2000" dirty="0" smtClean="0">
                <a:latin typeface="Times New Roman"/>
                <a:ea typeface="Times New Roman"/>
                <a:cs typeface="Times New Roman"/>
                <a:sym typeface="Times New Roman"/>
              </a:rPr>
              <a:t>cables.</a:t>
            </a:r>
            <a:endParaRPr lang="en-US" sz="2000" dirty="0">
              <a:latin typeface="Times New Roman"/>
              <a:ea typeface="Times New Roman"/>
              <a:cs typeface="Times New Roman"/>
              <a:sym typeface="Times New Roman"/>
            </a:endParaRPr>
          </a:p>
          <a:p>
            <a:pPr marL="603250" lvl="0" indent="-457200">
              <a:lnSpc>
                <a:spcPct val="150000"/>
              </a:lnSpc>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transmit data using light.</a:t>
            </a:r>
          </a:p>
          <a:p>
            <a:pPr marL="603250" lvl="0" indent="-457200">
              <a:lnSpc>
                <a:spcPct val="150000"/>
              </a:lnSpc>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can transmit data up to speeds of 1 </a:t>
            </a:r>
            <a:r>
              <a:rPr lang="en-US" sz="2000" dirty="0" err="1">
                <a:latin typeface="Times New Roman"/>
                <a:ea typeface="Times New Roman"/>
                <a:cs typeface="Times New Roman"/>
                <a:sym typeface="Times New Roman"/>
              </a:rPr>
              <a:t>Gbps</a:t>
            </a:r>
            <a:r>
              <a:rPr lang="en-US" sz="2000" dirty="0">
                <a:latin typeface="Times New Roman"/>
                <a:ea typeface="Times New Roman"/>
                <a:cs typeface="Times New Roman"/>
                <a:sym typeface="Times New Roman"/>
              </a:rPr>
              <a:t>.</a:t>
            </a:r>
          </a:p>
          <a:p>
            <a:pPr marL="603250" lvl="0" indent="-457200">
              <a:lnSpc>
                <a:spcPct val="150000"/>
              </a:lnSpc>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are expensive to manufacture.</a:t>
            </a:r>
          </a:p>
          <a:p>
            <a:pPr marL="603250" lvl="0" indent="-457200">
              <a:lnSpc>
                <a:spcPct val="150000"/>
              </a:lnSpc>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are not prone to electromagnetic interference.</a:t>
            </a:r>
          </a:p>
          <a:p>
            <a:pPr marL="603250" lvl="0" indent="-457200">
              <a:lnSpc>
                <a:spcPct val="150000"/>
              </a:lnSpc>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are difficult to install, as the cables can be fragile.</a:t>
            </a:r>
          </a:p>
          <a:p>
            <a:pPr marL="603250" lvl="0" indent="-457200">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are often used for internet connection and transmitting data over long distances.</a:t>
            </a:r>
            <a:endParaRPr sz="2800" dirty="0">
              <a:latin typeface="Times New Roman"/>
              <a:ea typeface="Times New Roman"/>
              <a:cs typeface="Times New Roman"/>
              <a:sym typeface="Times New Roman"/>
            </a:endParaRP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18</a:t>
            </a:fld>
            <a:endParaRPr/>
          </a:p>
        </p:txBody>
      </p:sp>
      <p:pic>
        <p:nvPicPr>
          <p:cNvPr id="4098" name="Picture 2" descr="Fiber Optic Cable - Elevating Your Project Profits with Superior Fiber Optic  Patch Cord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6530" y="3004317"/>
            <a:ext cx="3109342" cy="2069127"/>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p:cNvPicPr>
            <a:picLocks noChangeAspect="1"/>
          </p:cNvPicPr>
          <p:nvPr/>
        </p:nvPicPr>
        <p:blipFill>
          <a:blip r:embed="rId4"/>
          <a:stretch>
            <a:fillRect/>
          </a:stretch>
        </p:blipFill>
        <p:spPr>
          <a:xfrm>
            <a:off x="6120581" y="686092"/>
            <a:ext cx="3550784" cy="1101193"/>
          </a:xfrm>
          <a:prstGeom prst="rect">
            <a:avLst/>
          </a:prstGeom>
        </p:spPr>
      </p:pic>
    </p:spTree>
    <p:extLst>
      <p:ext uri="{BB962C8B-B14F-4D97-AF65-F5344CB8AC3E}">
        <p14:creationId xmlns:p14="http://schemas.microsoft.com/office/powerpoint/2010/main" val="4114925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a:t>Unguided Media (Wireless)</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19</a:t>
            </a:fld>
            <a:endParaRPr/>
          </a:p>
        </p:txBody>
      </p:sp>
      <p:sp>
        <p:nvSpPr>
          <p:cNvPr id="4" name="Google Shape;56;p8"/>
          <p:cNvSpPr txBox="1"/>
          <p:nvPr/>
        </p:nvSpPr>
        <p:spPr>
          <a:xfrm>
            <a:off x="993900" y="1833375"/>
            <a:ext cx="8142000" cy="714283"/>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Data travels through the air (no physical connection) using electromagnetic waves.</a:t>
            </a: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3408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smtClean="0"/>
              <a:t>Microwaves</a:t>
            </a:r>
            <a:endParaRPr sz="3600" dirty="0"/>
          </a:p>
        </p:txBody>
      </p:sp>
      <p:sp>
        <p:nvSpPr>
          <p:cNvPr id="56" name="Google Shape;56;p8"/>
          <p:cNvSpPr txBox="1"/>
          <p:nvPr/>
        </p:nvSpPr>
        <p:spPr>
          <a:xfrm>
            <a:off x="993900" y="1618577"/>
            <a:ext cx="8142000" cy="5023155"/>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1600" dirty="0">
                <a:latin typeface="Times New Roman"/>
                <a:ea typeface="Times New Roman"/>
                <a:cs typeface="Times New Roman"/>
                <a:sym typeface="Times New Roman"/>
              </a:rPr>
              <a:t>A wireless communication method using high-frequency radio waves</a:t>
            </a:r>
            <a:r>
              <a:rPr lang="en-US" sz="1600" dirty="0" smtClean="0">
                <a:latin typeface="Times New Roman"/>
                <a:ea typeface="Times New Roman"/>
                <a:cs typeface="Times New Roman"/>
                <a:sym typeface="Times New Roman"/>
              </a:rPr>
              <a:t>.</a:t>
            </a:r>
          </a:p>
          <a:p>
            <a:pPr marL="146050" lvl="0">
              <a:buClr>
                <a:srgbClr val="CC9A00"/>
              </a:buClr>
              <a:buSzPts val="1300"/>
            </a:pPr>
            <a:endParaRPr lang="en-US" sz="16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1600" dirty="0">
                <a:latin typeface="Times New Roman"/>
                <a:ea typeface="Times New Roman"/>
                <a:cs typeface="Times New Roman"/>
                <a:sym typeface="Times New Roman"/>
              </a:rPr>
              <a:t>Transmits data through the air using antennas</a:t>
            </a:r>
            <a:r>
              <a:rPr lang="en-US" sz="1600" dirty="0" smtClean="0">
                <a:latin typeface="Times New Roman"/>
                <a:ea typeface="Times New Roman"/>
                <a:cs typeface="Times New Roman"/>
                <a:sym typeface="Times New Roman"/>
              </a:rPr>
              <a:t>.</a:t>
            </a:r>
          </a:p>
          <a:p>
            <a:pPr marL="457200" lvl="0" indent="-311150">
              <a:buClr>
                <a:srgbClr val="CC9A00"/>
              </a:buClr>
              <a:buSzPts val="1300"/>
              <a:buFont typeface="Noto Sans Symbols"/>
              <a:buChar char="❑"/>
            </a:pPr>
            <a:endParaRPr lang="en-US" sz="16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1600" dirty="0" smtClean="0">
                <a:latin typeface="Times New Roman"/>
                <a:ea typeface="Times New Roman"/>
                <a:cs typeface="Times New Roman"/>
                <a:sym typeface="Times New Roman"/>
              </a:rPr>
              <a:t>Can </a:t>
            </a:r>
            <a:r>
              <a:rPr lang="en-US" sz="1600" dirty="0">
                <a:latin typeface="Times New Roman"/>
                <a:ea typeface="Times New Roman"/>
                <a:cs typeface="Times New Roman"/>
                <a:sym typeface="Times New Roman"/>
              </a:rPr>
              <a:t>support very high speeds (</a:t>
            </a:r>
            <a:r>
              <a:rPr lang="en-US" sz="1600" dirty="0" err="1">
                <a:latin typeface="Times New Roman"/>
                <a:ea typeface="Times New Roman"/>
                <a:cs typeface="Times New Roman"/>
                <a:sym typeface="Times New Roman"/>
              </a:rPr>
              <a:t>Gbps</a:t>
            </a:r>
            <a:r>
              <a:rPr lang="en-US" sz="1600" dirty="0">
                <a:latin typeface="Times New Roman"/>
                <a:ea typeface="Times New Roman"/>
                <a:cs typeface="Times New Roman"/>
                <a:sym typeface="Times New Roman"/>
              </a:rPr>
              <a:t> range</a:t>
            </a:r>
            <a:r>
              <a:rPr lang="en-US" sz="1600" dirty="0" smtClean="0">
                <a:latin typeface="Times New Roman"/>
                <a:ea typeface="Times New Roman"/>
                <a:cs typeface="Times New Roman"/>
                <a:sym typeface="Times New Roman"/>
              </a:rPr>
              <a:t>).</a:t>
            </a:r>
          </a:p>
          <a:p>
            <a:pPr marL="146050" lvl="0">
              <a:buClr>
                <a:srgbClr val="CC9A00"/>
              </a:buClr>
              <a:buSzPts val="1300"/>
            </a:pPr>
            <a:endParaRPr lang="en-US" sz="16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1600" dirty="0">
                <a:latin typeface="Times New Roman"/>
                <a:ea typeface="Times New Roman"/>
                <a:cs typeface="Times New Roman"/>
                <a:sym typeface="Times New Roman"/>
              </a:rPr>
              <a:t>Requires line-of-sight between transmitter and receiver</a:t>
            </a:r>
            <a:r>
              <a:rPr lang="en-US" sz="1600" dirty="0" smtClean="0">
                <a:latin typeface="Times New Roman"/>
                <a:ea typeface="Times New Roman"/>
                <a:cs typeface="Times New Roman"/>
                <a:sym typeface="Times New Roman"/>
              </a:rPr>
              <a:t>.</a:t>
            </a:r>
          </a:p>
          <a:p>
            <a:pPr marL="146050" lvl="0">
              <a:buClr>
                <a:srgbClr val="CC9A00"/>
              </a:buClr>
              <a:buSzPts val="1300"/>
            </a:pPr>
            <a:endParaRPr lang="en-US" sz="16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1600" dirty="0">
                <a:latin typeface="Times New Roman"/>
                <a:ea typeface="Times New Roman"/>
                <a:cs typeface="Times New Roman"/>
                <a:sym typeface="Times New Roman"/>
              </a:rPr>
              <a:t>Can cover long distances</a:t>
            </a:r>
            <a:r>
              <a:rPr lang="en-US" sz="1600" dirty="0" smtClean="0">
                <a:latin typeface="Times New Roman"/>
                <a:ea typeface="Times New Roman"/>
                <a:cs typeface="Times New Roman"/>
                <a:sym typeface="Times New Roman"/>
              </a:rPr>
              <a:t>.</a:t>
            </a:r>
          </a:p>
          <a:p>
            <a:pPr marL="146050" lvl="0">
              <a:buClr>
                <a:srgbClr val="CC9A00"/>
              </a:buClr>
              <a:buSzPts val="1300"/>
            </a:pPr>
            <a:endParaRPr lang="en-US" sz="16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1600" dirty="0">
                <a:latin typeface="Times New Roman"/>
                <a:ea typeface="Times New Roman"/>
                <a:cs typeface="Times New Roman"/>
                <a:sym typeface="Times New Roman"/>
              </a:rPr>
              <a:t>More expensive due to towers and equipment</a:t>
            </a:r>
            <a:r>
              <a:rPr lang="en-US" sz="1600" dirty="0" smtClean="0">
                <a:latin typeface="Times New Roman"/>
                <a:ea typeface="Times New Roman"/>
                <a:cs typeface="Times New Roman"/>
                <a:sym typeface="Times New Roman"/>
              </a:rPr>
              <a:t>.</a:t>
            </a:r>
          </a:p>
          <a:p>
            <a:pPr marL="146050" lvl="0">
              <a:buClr>
                <a:srgbClr val="CC9A00"/>
              </a:buClr>
              <a:buSzPts val="1300"/>
            </a:pPr>
            <a:endParaRPr lang="en-US" sz="16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1600" dirty="0" smtClean="0">
                <a:latin typeface="Times New Roman"/>
                <a:ea typeface="Times New Roman"/>
                <a:cs typeface="Times New Roman"/>
                <a:sym typeface="Times New Roman"/>
              </a:rPr>
              <a:t>Affected </a:t>
            </a:r>
            <a:r>
              <a:rPr lang="en-US" sz="1600" dirty="0">
                <a:latin typeface="Times New Roman"/>
                <a:ea typeface="Times New Roman"/>
                <a:cs typeface="Times New Roman"/>
                <a:sym typeface="Times New Roman"/>
              </a:rPr>
              <a:t>by weather conditions (rain, fog</a:t>
            </a:r>
            <a:r>
              <a:rPr lang="en-US" sz="1600" dirty="0" smtClean="0">
                <a:latin typeface="Times New Roman"/>
                <a:ea typeface="Times New Roman"/>
                <a:cs typeface="Times New Roman"/>
                <a:sym typeface="Times New Roman"/>
              </a:rPr>
              <a:t>).</a:t>
            </a:r>
          </a:p>
          <a:p>
            <a:pPr marL="457200" lvl="0" indent="-311150">
              <a:buClr>
                <a:srgbClr val="CC9A00"/>
              </a:buClr>
              <a:buSzPts val="1300"/>
              <a:buFont typeface="Noto Sans Symbols"/>
              <a:buChar char="❑"/>
            </a:pPr>
            <a:endParaRPr lang="en-US" sz="16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1600" dirty="0">
                <a:latin typeface="Times New Roman"/>
                <a:ea typeface="Times New Roman"/>
                <a:cs typeface="Times New Roman"/>
                <a:sym typeface="Times New Roman"/>
              </a:rPr>
              <a:t>Commonly used in</a:t>
            </a:r>
            <a:r>
              <a:rPr lang="en-US" sz="1600" dirty="0" smtClean="0">
                <a:latin typeface="Times New Roman"/>
                <a:ea typeface="Times New Roman"/>
                <a:cs typeface="Times New Roman"/>
                <a:sym typeface="Times New Roman"/>
              </a:rPr>
              <a:t>:</a:t>
            </a:r>
          </a:p>
          <a:p>
            <a:pPr marL="488950" lvl="0" indent="-342900">
              <a:buClr>
                <a:srgbClr val="CC9A00"/>
              </a:buClr>
              <a:buSzPts val="1300"/>
              <a:buFont typeface="Arial" panose="020B0604020202020204" pitchFamily="34" charset="0"/>
              <a:buChar char="•"/>
            </a:pPr>
            <a:r>
              <a:rPr lang="en-US" sz="1600" dirty="0" smtClean="0">
                <a:latin typeface="Times New Roman"/>
                <a:ea typeface="Times New Roman"/>
                <a:cs typeface="Times New Roman"/>
                <a:sym typeface="Times New Roman"/>
              </a:rPr>
              <a:t>Satellite communication</a:t>
            </a:r>
          </a:p>
          <a:p>
            <a:pPr marL="488950" lvl="0" indent="-342900">
              <a:buClr>
                <a:srgbClr val="CC9A00"/>
              </a:buClr>
              <a:buSzPts val="1300"/>
              <a:buFont typeface="Arial" panose="020B0604020202020204" pitchFamily="34" charset="0"/>
              <a:buChar char="•"/>
            </a:pPr>
            <a:r>
              <a:rPr lang="en-US" sz="1600" dirty="0" smtClean="0">
                <a:latin typeface="Times New Roman"/>
                <a:ea typeface="Times New Roman"/>
                <a:cs typeface="Times New Roman"/>
                <a:sym typeface="Times New Roman"/>
              </a:rPr>
              <a:t>Mobile networks</a:t>
            </a:r>
          </a:p>
          <a:p>
            <a:pPr marL="488950" lvl="0" indent="-342900">
              <a:buClr>
                <a:srgbClr val="CC9A00"/>
              </a:buClr>
              <a:buSzPts val="1300"/>
              <a:buFont typeface="Arial" panose="020B0604020202020204" pitchFamily="34" charset="0"/>
              <a:buChar char="•"/>
            </a:pPr>
            <a:r>
              <a:rPr lang="en-US" sz="1600" dirty="0" smtClean="0">
                <a:latin typeface="Times New Roman"/>
                <a:ea typeface="Times New Roman"/>
                <a:cs typeface="Times New Roman"/>
                <a:sym typeface="Times New Roman"/>
              </a:rPr>
              <a:t>TV broadcasting</a:t>
            </a:r>
          </a:p>
          <a:p>
            <a:pPr marL="488950" lvl="0" indent="-342900">
              <a:buClr>
                <a:srgbClr val="CC9A00"/>
              </a:buClr>
              <a:buSzPts val="1300"/>
              <a:buFont typeface="Arial" panose="020B0604020202020204" pitchFamily="34" charset="0"/>
              <a:buChar char="•"/>
            </a:pPr>
            <a:r>
              <a:rPr lang="en-US" sz="1600" dirty="0" smtClean="0">
                <a:latin typeface="Times New Roman"/>
                <a:ea typeface="Times New Roman"/>
                <a:cs typeface="Times New Roman"/>
                <a:sym typeface="Times New Roman"/>
              </a:rPr>
              <a:t>Point-to-point </a:t>
            </a:r>
            <a:r>
              <a:rPr lang="en-US" sz="1600" dirty="0">
                <a:latin typeface="Times New Roman"/>
                <a:ea typeface="Times New Roman"/>
                <a:cs typeface="Times New Roman"/>
                <a:sym typeface="Times New Roman"/>
              </a:rPr>
              <a:t>communication</a:t>
            </a:r>
          </a:p>
          <a:p>
            <a:pPr marL="146050" lvl="0">
              <a:buClr>
                <a:srgbClr val="CC9A00"/>
              </a:buClr>
              <a:buSzPts val="1300"/>
            </a:pPr>
            <a:endParaRPr sz="1600" dirty="0">
              <a:latin typeface="Times New Roman"/>
              <a:ea typeface="Times New Roman"/>
              <a:cs typeface="Times New Roman"/>
              <a:sym typeface="Times New Roman"/>
            </a:endParaRP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2496628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smtClean="0"/>
              <a:t>Radio waves</a:t>
            </a: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21</a:t>
            </a:fld>
            <a:endParaRPr/>
          </a:p>
        </p:txBody>
      </p:sp>
      <p:sp>
        <p:nvSpPr>
          <p:cNvPr id="6" name="Rectangle 4"/>
          <p:cNvSpPr>
            <a:spLocks noChangeArrowheads="1"/>
          </p:cNvSpPr>
          <p:nvPr/>
        </p:nvSpPr>
        <p:spPr bwMode="auto">
          <a:xfrm>
            <a:off x="993900" y="1449738"/>
            <a:ext cx="9988839" cy="5216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They transmit data using </a:t>
            </a:r>
            <a:r>
              <a:rPr kumimoji="0" lang="en-US" altLang="en-US" sz="1800" b="1" i="0" u="none" strike="noStrike" cap="none" normalizeH="0" baseline="0" dirty="0" smtClean="0">
                <a:ln>
                  <a:noFill/>
                </a:ln>
                <a:solidFill>
                  <a:schemeClr val="tx1"/>
                </a:solidFill>
                <a:effectLst/>
                <a:latin typeface="Arial" panose="020B0604020202020204" pitchFamily="34" charset="0"/>
              </a:rPr>
              <a:t>electromagnetic waves</a:t>
            </a:r>
            <a:r>
              <a:rPr kumimoji="0" lang="en-US" altLang="en-US" sz="1800" b="0" i="0" u="none" strike="noStrike" cap="none" normalizeH="0" baseline="0" dirty="0" smtClean="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They can travel </a:t>
            </a:r>
            <a:r>
              <a:rPr kumimoji="0" lang="en-US" altLang="en-US" sz="1800" b="1" i="0" u="none" strike="noStrike" cap="none" normalizeH="0" baseline="0" dirty="0" smtClean="0">
                <a:ln>
                  <a:noFill/>
                </a:ln>
                <a:solidFill>
                  <a:schemeClr val="tx1"/>
                </a:solidFill>
                <a:effectLst/>
                <a:latin typeface="Arial" panose="020B0604020202020204" pitchFamily="34" charset="0"/>
              </a:rPr>
              <a:t>long distances</a:t>
            </a:r>
            <a:r>
              <a:rPr kumimoji="0" lang="en-US" altLang="en-US" sz="1800" b="0" i="0" u="none" strike="noStrike" cap="none" normalizeH="0" baseline="0" dirty="0" smtClean="0">
                <a:ln>
                  <a:noFill/>
                </a:ln>
                <a:solidFill>
                  <a:schemeClr val="tx1"/>
                </a:solidFill>
                <a:effectLst/>
                <a:latin typeface="Arial" panose="020B0604020202020204" pitchFamily="34" charset="0"/>
              </a:rPr>
              <a:t>, even without line-of-sight.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They can </a:t>
            </a:r>
            <a:r>
              <a:rPr kumimoji="0" lang="en-US" altLang="en-US" sz="1800" b="1" i="0" u="none" strike="noStrike" cap="none" normalizeH="0" baseline="0" dirty="0" smtClean="0">
                <a:ln>
                  <a:noFill/>
                </a:ln>
                <a:solidFill>
                  <a:schemeClr val="tx1"/>
                </a:solidFill>
                <a:effectLst/>
                <a:latin typeface="Arial" panose="020B0604020202020204" pitchFamily="34" charset="0"/>
              </a:rPr>
              <a:t>penetrate walls and obstacles</a:t>
            </a:r>
            <a:r>
              <a:rPr kumimoji="0" lang="en-US" altLang="en-US" sz="1800" b="0" i="0" u="none" strike="noStrike" cap="none" normalizeH="0" baseline="0" dirty="0" smtClean="0">
                <a:ln>
                  <a:noFill/>
                </a:ln>
                <a:solidFill>
                  <a:schemeClr val="tx1"/>
                </a:solidFill>
                <a:effectLst/>
                <a:latin typeface="Arial" panose="020B0604020202020204" pitchFamily="34" charset="0"/>
              </a:rPr>
              <a:t>, unlike microwaves.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They support </a:t>
            </a:r>
            <a:r>
              <a:rPr kumimoji="0" lang="en-US" altLang="en-US" sz="1800" b="1" i="0" u="none" strike="noStrike" cap="none" normalizeH="0" baseline="0" dirty="0" smtClean="0">
                <a:ln>
                  <a:noFill/>
                </a:ln>
                <a:solidFill>
                  <a:schemeClr val="tx1"/>
                </a:solidFill>
                <a:effectLst/>
                <a:latin typeface="Arial" panose="020B0604020202020204" pitchFamily="34" charset="0"/>
              </a:rPr>
              <a:t>lower data rates</a:t>
            </a:r>
            <a:r>
              <a:rPr kumimoji="0" lang="en-US" altLang="en-US" sz="1800" b="0" i="0" u="none" strike="noStrike" cap="none" normalizeH="0" baseline="0" dirty="0" smtClean="0">
                <a:ln>
                  <a:noFill/>
                </a:ln>
                <a:solidFill>
                  <a:schemeClr val="tx1"/>
                </a:solidFill>
                <a:effectLst/>
                <a:latin typeface="Arial" panose="020B0604020202020204" pitchFamily="34" charset="0"/>
              </a:rPr>
              <a:t> compared to microwaves and fiber optics.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They are susceptible to </a:t>
            </a:r>
            <a:r>
              <a:rPr kumimoji="0" lang="en-US" altLang="en-US" sz="1800" b="1" i="0" u="none" strike="noStrike" cap="none" normalizeH="0" baseline="0" dirty="0" smtClean="0">
                <a:ln>
                  <a:noFill/>
                </a:ln>
                <a:solidFill>
                  <a:schemeClr val="tx1"/>
                </a:solidFill>
                <a:effectLst/>
                <a:latin typeface="Arial" panose="020B0604020202020204" pitchFamily="34" charset="0"/>
              </a:rPr>
              <a:t>interference</a:t>
            </a:r>
            <a:r>
              <a:rPr kumimoji="0" lang="en-US" altLang="en-US" sz="1800" b="0" i="0" u="none" strike="noStrike" cap="none" normalizeH="0" baseline="0" dirty="0" smtClean="0">
                <a:ln>
                  <a:noFill/>
                </a:ln>
                <a:solidFill>
                  <a:schemeClr val="tx1"/>
                </a:solidFill>
                <a:effectLst/>
                <a:latin typeface="Arial" panose="020B0604020202020204" pitchFamily="34" charset="0"/>
              </a:rPr>
              <a:t> from other devices and signals.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They are relatively </a:t>
            </a:r>
            <a:r>
              <a:rPr kumimoji="0" lang="en-US" altLang="en-US" sz="1800" b="1" i="0" u="none" strike="noStrike" cap="none" normalizeH="0" baseline="0" dirty="0" smtClean="0">
                <a:ln>
                  <a:noFill/>
                </a:ln>
                <a:solidFill>
                  <a:schemeClr val="tx1"/>
                </a:solidFill>
                <a:effectLst/>
                <a:latin typeface="Arial" panose="020B0604020202020204" pitchFamily="34" charset="0"/>
              </a:rPr>
              <a:t>low cost</a:t>
            </a:r>
            <a:r>
              <a:rPr kumimoji="0" lang="en-US" altLang="en-US" sz="1800" b="0" i="0" u="none" strike="noStrike" cap="none" normalizeH="0" baseline="0" dirty="0" smtClean="0">
                <a:ln>
                  <a:noFill/>
                </a:ln>
                <a:solidFill>
                  <a:schemeClr val="tx1"/>
                </a:solidFill>
                <a:effectLst/>
                <a:latin typeface="Arial" panose="020B0604020202020204" pitchFamily="34" charset="0"/>
              </a:rPr>
              <a:t> and easy to deploy.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They provide </a:t>
            </a:r>
            <a:r>
              <a:rPr kumimoji="0" lang="en-US" altLang="en-US" sz="1800" b="1" i="0" u="none" strike="noStrike" cap="none" normalizeH="0" baseline="0" dirty="0" smtClean="0">
                <a:ln>
                  <a:noFill/>
                </a:ln>
                <a:solidFill>
                  <a:schemeClr val="tx1"/>
                </a:solidFill>
                <a:effectLst/>
                <a:latin typeface="Arial" panose="020B0604020202020204" pitchFamily="34" charset="0"/>
              </a:rPr>
              <a:t>wide coverage areas</a:t>
            </a:r>
            <a:r>
              <a:rPr kumimoji="0" lang="en-US" altLang="en-US" sz="1800" b="0" i="0" u="none" strike="noStrike" cap="none" normalizeH="0" baseline="0" dirty="0" smtClean="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They are mainly used in: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Radio broadcasting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Television broadcasting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Wireless communication (Wi-Fi, mobile networks)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677016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smtClean="0"/>
              <a:t>Ethernet</a:t>
            </a:r>
            <a:endParaRPr sz="3600" dirty="0"/>
          </a:p>
        </p:txBody>
      </p:sp>
      <p:sp>
        <p:nvSpPr>
          <p:cNvPr id="56" name="Google Shape;56;p8"/>
          <p:cNvSpPr txBox="1"/>
          <p:nvPr/>
        </p:nvSpPr>
        <p:spPr>
          <a:xfrm>
            <a:off x="883805" y="1864906"/>
            <a:ext cx="8142000" cy="2560942"/>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Ethernet </a:t>
            </a:r>
            <a:r>
              <a:rPr lang="en-US" sz="2000" dirty="0">
                <a:latin typeface="Times New Roman"/>
                <a:ea typeface="Times New Roman"/>
                <a:cs typeface="Times New Roman"/>
                <a:sym typeface="Times New Roman"/>
              </a:rPr>
              <a:t>is a wired networking technology used to connect computers, printers, routers, and other devices in a local area network (LAN). </a:t>
            </a:r>
            <a:r>
              <a:rPr lang="en-US" sz="2000" dirty="0" smtClean="0">
                <a:latin typeface="Times New Roman"/>
                <a:ea typeface="Times New Roman"/>
                <a:cs typeface="Times New Roman"/>
                <a:sym typeface="Times New Roman"/>
              </a:rPr>
              <a:t>It (Ethernet protocol) </a:t>
            </a:r>
            <a:r>
              <a:rPr lang="en-US" sz="2000" dirty="0">
                <a:latin typeface="Times New Roman"/>
                <a:ea typeface="Times New Roman"/>
                <a:cs typeface="Times New Roman"/>
                <a:sym typeface="Times New Roman"/>
              </a:rPr>
              <a:t>defines how data is formatted, transmitted, and received over physical cables like Cat5e, Cat6, or fiber optic..</a:t>
            </a:r>
            <a:endParaRPr lang="en-US" sz="2000" dirty="0" smtClean="0">
              <a:latin typeface="Times New Roman"/>
              <a:ea typeface="Times New Roman"/>
              <a:cs typeface="Times New Roman"/>
              <a:sym typeface="Times New Roman"/>
            </a:endParaRPr>
          </a:p>
          <a:p>
            <a:pPr marL="146050" lvl="0">
              <a:buClr>
                <a:srgbClr val="CC9A00"/>
              </a:buClr>
              <a:buSzPts val="1300"/>
            </a:pPr>
            <a:r>
              <a:rPr lang="en-US" sz="2000" dirty="0" smtClean="0">
                <a:latin typeface="Times New Roman"/>
                <a:ea typeface="Times New Roman"/>
                <a:cs typeface="Times New Roman"/>
                <a:sym typeface="Times New Roman"/>
              </a:rPr>
              <a:t> </a:t>
            </a:r>
          </a:p>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Ethernet </a:t>
            </a:r>
            <a:r>
              <a:rPr lang="en-US" sz="2000" dirty="0">
                <a:latin typeface="Times New Roman"/>
                <a:ea typeface="Times New Roman"/>
                <a:cs typeface="Times New Roman"/>
                <a:sym typeface="Times New Roman"/>
              </a:rPr>
              <a:t>cables can be coaxial, twisted pair or </a:t>
            </a:r>
            <a:r>
              <a:rPr lang="en-US" sz="2000" dirty="0" smtClean="0">
                <a:latin typeface="Times New Roman"/>
                <a:ea typeface="Times New Roman"/>
                <a:cs typeface="Times New Roman"/>
                <a:sym typeface="Times New Roman"/>
              </a:rPr>
              <a:t>fiber </a:t>
            </a:r>
            <a:r>
              <a:rPr lang="en-US" sz="2000" dirty="0">
                <a:latin typeface="Times New Roman"/>
                <a:ea typeface="Times New Roman"/>
                <a:cs typeface="Times New Roman"/>
                <a:sym typeface="Times New Roman"/>
              </a:rPr>
              <a:t>optic.</a:t>
            </a:r>
            <a:r>
              <a:rPr lang="en-US" sz="2000" dirty="0" smtClean="0">
                <a:latin typeface="Times New Roman"/>
                <a:ea typeface="Times New Roman"/>
                <a:cs typeface="Times New Roman"/>
                <a:sym typeface="Times New Roman"/>
              </a:rPr>
              <a:t/>
            </a:r>
            <a:br>
              <a:rPr lang="en-US" sz="2000" dirty="0" smtClean="0">
                <a:latin typeface="Times New Roman"/>
                <a:ea typeface="Times New Roman"/>
                <a:cs typeface="Times New Roman"/>
                <a:sym typeface="Times New Roman"/>
              </a:rPr>
            </a:b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LAN – N</a:t>
            </a:r>
            <a:r>
              <a:rPr lang="en-US" sz="2000" dirty="0" smtClean="0">
                <a:latin typeface="Times New Roman"/>
                <a:ea typeface="Times New Roman"/>
                <a:cs typeface="Times New Roman"/>
                <a:sym typeface="Times New Roman"/>
              </a:rPr>
              <a:t>etwork </a:t>
            </a:r>
            <a:r>
              <a:rPr lang="en-US" sz="2000" dirty="0">
                <a:latin typeface="Times New Roman"/>
                <a:ea typeface="Times New Roman"/>
                <a:cs typeface="Times New Roman"/>
                <a:sym typeface="Times New Roman"/>
              </a:rPr>
              <a:t>that is located within a single building or site</a:t>
            </a:r>
            <a:endParaRPr sz="2800" dirty="0">
              <a:latin typeface="Times New Roman"/>
              <a:ea typeface="Times New Roman"/>
              <a:cs typeface="Times New Roman"/>
              <a:sym typeface="Times New Roman"/>
            </a:endParaRP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22</a:t>
            </a:fld>
            <a:endParaRPr/>
          </a:p>
        </p:txBody>
      </p:sp>
      <p:pic>
        <p:nvPicPr>
          <p:cNvPr id="7" name="Picture 6" descr="ETHERNET CABLE 10Gbps CAT6 10M"/>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64135" y="4464215"/>
            <a:ext cx="2836665" cy="2316278"/>
          </a:xfrm>
          <a:prstGeom prst="rect">
            <a:avLst/>
          </a:prstGeom>
          <a:noFill/>
          <a:ln>
            <a:noFill/>
          </a:ln>
        </p:spPr>
      </p:pic>
    </p:spTree>
    <p:extLst>
      <p:ext uri="{BB962C8B-B14F-4D97-AF65-F5344CB8AC3E}">
        <p14:creationId xmlns:p14="http://schemas.microsoft.com/office/powerpoint/2010/main" val="812778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smtClean="0"/>
              <a:t>USB</a:t>
            </a:r>
            <a:endParaRPr sz="3600" dirty="0"/>
          </a:p>
        </p:txBody>
      </p:sp>
      <p:sp>
        <p:nvSpPr>
          <p:cNvPr id="56" name="Google Shape;56;p8"/>
          <p:cNvSpPr txBox="1"/>
          <p:nvPr/>
        </p:nvSpPr>
        <p:spPr>
          <a:xfrm>
            <a:off x="883805" y="1864906"/>
            <a:ext cx="8142000" cy="1637613"/>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A USB (Universal Serial Bus) is a standardized technology for connecting computers and electronic devices to transfer data and power. </a:t>
            </a:r>
            <a:endParaRPr lang="en-US" sz="2000" dirty="0" smtClean="0">
              <a:latin typeface="Times New Roman"/>
              <a:ea typeface="Times New Roman"/>
              <a:cs typeface="Times New Roman"/>
              <a:sym typeface="Times New Roman"/>
            </a:endParaRPr>
          </a:p>
          <a:p>
            <a:pPr marL="146050" lvl="0">
              <a:buClr>
                <a:srgbClr val="CC9A00"/>
              </a:buClr>
              <a:buSzPts val="1300"/>
            </a:pPr>
            <a:r>
              <a:rPr lang="en-US" sz="2000" dirty="0" smtClean="0">
                <a:latin typeface="Times New Roman"/>
                <a:ea typeface="Times New Roman"/>
                <a:cs typeface="Times New Roman"/>
                <a:sym typeface="Times New Roman"/>
              </a:rPr>
              <a:t> </a:t>
            </a:r>
            <a:endParaRPr lang="en-US" sz="2000" dirty="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 USB has evolved through generations, from USB 1.0 to USB 3.0 and the latest USB4, offering faster transfer speeds and higher power capacity.</a:t>
            </a:r>
            <a:endParaRPr sz="2800" dirty="0">
              <a:latin typeface="Times New Roman"/>
              <a:ea typeface="Times New Roman"/>
              <a:cs typeface="Times New Roman"/>
              <a:sym typeface="Times New Roman"/>
            </a:endParaRP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23</a:t>
            </a:fld>
            <a:endParaRPr/>
          </a:p>
        </p:txBody>
      </p:sp>
      <p:pic>
        <p:nvPicPr>
          <p:cNvPr id="6" name="Picture 5"/>
          <p:cNvPicPr/>
          <p:nvPr/>
        </p:nvPicPr>
        <p:blipFill>
          <a:blip r:embed="rId3"/>
          <a:stretch>
            <a:fillRect/>
          </a:stretch>
        </p:blipFill>
        <p:spPr>
          <a:xfrm>
            <a:off x="2961861" y="3937691"/>
            <a:ext cx="4005470" cy="2681769"/>
          </a:xfrm>
          <a:prstGeom prst="rect">
            <a:avLst/>
          </a:prstGeom>
        </p:spPr>
      </p:pic>
    </p:spTree>
    <p:extLst>
      <p:ext uri="{BB962C8B-B14F-4D97-AF65-F5344CB8AC3E}">
        <p14:creationId xmlns:p14="http://schemas.microsoft.com/office/powerpoint/2010/main" val="3982198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Question</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24</a:t>
            </a:fld>
            <a:endParaRPr/>
          </a:p>
        </p:txBody>
      </p:sp>
      <p:sp>
        <p:nvSpPr>
          <p:cNvPr id="4" name="Google Shape;56;p8"/>
          <p:cNvSpPr txBox="1"/>
          <p:nvPr/>
        </p:nvSpPr>
        <p:spPr>
          <a:xfrm>
            <a:off x="993900" y="1833375"/>
            <a:ext cx="8142000" cy="714283"/>
          </a:xfrm>
          <a:prstGeom prst="rect">
            <a:avLst/>
          </a:prstGeom>
          <a:noFill/>
          <a:ln>
            <a:noFill/>
          </a:ln>
        </p:spPr>
        <p:txBody>
          <a:bodyPr spcFirstLastPara="1" wrap="square" lIns="0" tIns="97775" rIns="0" bIns="0" anchor="t" anchorCtr="0">
            <a:spAutoFit/>
          </a:bodyPr>
          <a:lstStyle/>
          <a:p>
            <a:pPr marL="457200" indent="-311150">
              <a:lnSpc>
                <a:spcPct val="200000"/>
              </a:lnSpc>
              <a:buClr>
                <a:srgbClr val="CC9A00"/>
              </a:buClr>
              <a:buSzPts val="1300"/>
              <a:buFont typeface="Noto Sans Symbols"/>
              <a:buChar char="❑"/>
            </a:pPr>
            <a:r>
              <a:rPr lang="en-US" sz="2000" dirty="0">
                <a:latin typeface="Times New Roman"/>
                <a:ea typeface="Times New Roman"/>
                <a:cs typeface="Times New Roman"/>
                <a:sym typeface="Times New Roman"/>
              </a:rPr>
              <a:t>What is NIC?</a:t>
            </a: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47609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2413481"/>
          </a:xfrm>
          <a:prstGeom prst="rect">
            <a:avLst/>
          </a:prstGeom>
          <a:noFill/>
          <a:ln>
            <a:noFill/>
          </a:ln>
        </p:spPr>
        <p:txBody>
          <a:bodyPr spcFirstLastPara="1" wrap="square" lIns="0" tIns="12700" rIns="0" bIns="0" anchor="t" anchorCtr="0">
            <a:spAutoFit/>
          </a:bodyPr>
          <a:lstStyle/>
          <a:p>
            <a:r>
              <a:rPr lang="en-US" dirty="0"/>
              <a:t>NIC?</a:t>
            </a:r>
            <a:br>
              <a:rPr lang="en-US" dirty="0"/>
            </a:b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25</a:t>
            </a:fld>
            <a:endParaRPr/>
          </a:p>
        </p:txBody>
      </p:sp>
      <p:sp>
        <p:nvSpPr>
          <p:cNvPr id="4" name="Google Shape;56;p8"/>
          <p:cNvSpPr txBox="1"/>
          <p:nvPr/>
        </p:nvSpPr>
        <p:spPr>
          <a:xfrm>
            <a:off x="993900" y="1833375"/>
            <a:ext cx="8142000" cy="4099825"/>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NIC (Network Interface Card) is the hardware component that allows a device to connect to a network</a:t>
            </a:r>
            <a:r>
              <a:rPr lang="en-US" sz="2000" dirty="0" smtClean="0">
                <a:latin typeface="Times New Roman"/>
                <a:ea typeface="Times New Roman"/>
                <a:cs typeface="Times New Roman"/>
                <a:sym typeface="Times New Roman"/>
              </a:rPr>
              <a:t>.</a:t>
            </a:r>
          </a:p>
          <a:p>
            <a:pPr marL="146050">
              <a:buClr>
                <a:srgbClr val="CC9A00"/>
              </a:buClr>
              <a:buSzPts val="1300"/>
            </a:pPr>
            <a:endParaRPr lang="en-US" sz="2000" dirty="0">
              <a:latin typeface="Times New Roman"/>
              <a:ea typeface="Times New Roman"/>
              <a:cs typeface="Times New Roman"/>
              <a:sym typeface="Times New Roman"/>
            </a:endParaRPr>
          </a:p>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It acts as an interface between the device and the network, enabling the device to send and receive data</a:t>
            </a:r>
            <a:r>
              <a:rPr lang="en-US" sz="2000" dirty="0" smtClean="0">
                <a:latin typeface="Times New Roman"/>
                <a:ea typeface="Times New Roman"/>
                <a:cs typeface="Times New Roman"/>
                <a:sym typeface="Times New Roman"/>
              </a:rPr>
              <a:t>.</a:t>
            </a:r>
          </a:p>
          <a:p>
            <a:pPr marL="146050">
              <a:buClr>
                <a:srgbClr val="CC9A00"/>
              </a:buClr>
              <a:buSzPts val="1300"/>
            </a:pPr>
            <a:endParaRPr lang="en-US" sz="2000" dirty="0">
              <a:latin typeface="Times New Roman"/>
              <a:ea typeface="Times New Roman"/>
              <a:cs typeface="Times New Roman"/>
              <a:sym typeface="Times New Roman"/>
            </a:endParaRPr>
          </a:p>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NIC can be wired (Ethernet) or wireless (WNIC</a:t>
            </a:r>
            <a:r>
              <a:rPr lang="en-US" sz="2000" dirty="0" smtClean="0">
                <a:latin typeface="Times New Roman"/>
                <a:ea typeface="Times New Roman"/>
                <a:cs typeface="Times New Roman"/>
                <a:sym typeface="Times New Roman"/>
              </a:rPr>
              <a:t>).</a:t>
            </a:r>
          </a:p>
          <a:p>
            <a:pPr marL="146050">
              <a:buClr>
                <a:srgbClr val="CC9A00"/>
              </a:buClr>
              <a:buSzPts val="1300"/>
            </a:pPr>
            <a:endParaRPr lang="en-US" sz="2000" dirty="0" smtClean="0">
              <a:latin typeface="Times New Roman"/>
              <a:ea typeface="Times New Roman"/>
              <a:cs typeface="Times New Roman"/>
              <a:sym typeface="Times New Roman"/>
            </a:endParaRPr>
          </a:p>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Modern computers usually have NICs built into the motherboard, Can add one if needed</a:t>
            </a:r>
            <a:r>
              <a:rPr lang="en-US" sz="2000" dirty="0" smtClean="0">
                <a:latin typeface="Times New Roman"/>
                <a:ea typeface="Times New Roman"/>
                <a:cs typeface="Times New Roman"/>
                <a:sym typeface="Times New Roman"/>
              </a:rPr>
              <a:t>.</a:t>
            </a:r>
          </a:p>
          <a:p>
            <a:pPr marL="146050">
              <a:buClr>
                <a:srgbClr val="CC9A00"/>
              </a:buClr>
              <a:buSzPts val="1300"/>
            </a:pPr>
            <a:endParaRPr lang="en-US" sz="2000" dirty="0">
              <a:latin typeface="Times New Roman"/>
              <a:ea typeface="Times New Roman"/>
              <a:cs typeface="Times New Roman"/>
              <a:sym typeface="Times New Roman"/>
            </a:endParaRPr>
          </a:p>
          <a:p>
            <a:pPr marL="457200" indent="-311150">
              <a:buClr>
                <a:srgbClr val="CC9A00"/>
              </a:buClr>
              <a:buSzPts val="1300"/>
              <a:buFont typeface="Noto Sans Symbols"/>
              <a:buChar char="❑"/>
            </a:pPr>
            <a:r>
              <a:rPr lang="en-US" sz="2000" b="1" dirty="0">
                <a:latin typeface="Times New Roman"/>
                <a:ea typeface="Times New Roman"/>
                <a:cs typeface="Times New Roman"/>
                <a:sym typeface="Times New Roman"/>
              </a:rPr>
              <a:t>Every NIC has a unique identifier (MAC Address).</a:t>
            </a:r>
          </a:p>
          <a:p>
            <a:pPr marL="457200" indent="-311150">
              <a:buClr>
                <a:srgbClr val="CC9A00"/>
              </a:buClr>
              <a:buSzPts val="1300"/>
              <a:buFont typeface="Noto Sans Symbols"/>
              <a:buChar char="❑"/>
            </a:pPr>
            <a:endParaRPr lang="en-US" sz="2000" dirty="0">
              <a:latin typeface="Times New Roman"/>
              <a:ea typeface="Times New Roman"/>
              <a:cs typeface="Times New Roman"/>
              <a:sym typeface="Times New Roman"/>
            </a:endParaRP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25805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rotWithShape="1">
          <a:blip r:embed="rId2"/>
          <a:srcRect l="56489" t="2641" r="1434" b="4285"/>
          <a:stretch/>
        </p:blipFill>
        <p:spPr bwMode="auto">
          <a:xfrm>
            <a:off x="2385280" y="2103478"/>
            <a:ext cx="2902337" cy="2110712"/>
          </a:xfrm>
          <a:prstGeom prst="rect">
            <a:avLst/>
          </a:prstGeom>
          <a:ln>
            <a:noFill/>
          </a:ln>
          <a:extLst>
            <a:ext uri="{53640926-AAD7-44D8-BBD7-CCE9431645EC}">
              <a14:shadowObscured xmlns:a14="http://schemas.microsoft.com/office/drawing/2010/main"/>
            </a:ext>
          </a:extLst>
        </p:spPr>
      </p:pic>
      <p:pic>
        <p:nvPicPr>
          <p:cNvPr id="5" name="Picture 4" descr="Everything You Need to Know About Ethernet Ports and Their Uses – Infinity  Cable Products"/>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89852" y="3541242"/>
            <a:ext cx="4353339" cy="2352662"/>
          </a:xfrm>
          <a:prstGeom prst="rect">
            <a:avLst/>
          </a:prstGeom>
          <a:noFill/>
          <a:ln>
            <a:noFill/>
          </a:ln>
        </p:spPr>
      </p:pic>
    </p:spTree>
    <p:extLst>
      <p:ext uri="{BB962C8B-B14F-4D97-AF65-F5344CB8AC3E}">
        <p14:creationId xmlns:p14="http://schemas.microsoft.com/office/powerpoint/2010/main" val="386698941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Question</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27</a:t>
            </a:fld>
            <a:endParaRPr/>
          </a:p>
        </p:txBody>
      </p:sp>
      <p:sp>
        <p:nvSpPr>
          <p:cNvPr id="4" name="Google Shape;56;p8"/>
          <p:cNvSpPr txBox="1"/>
          <p:nvPr/>
        </p:nvSpPr>
        <p:spPr>
          <a:xfrm>
            <a:off x="993900" y="1833375"/>
            <a:ext cx="8142000" cy="714283"/>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Since MAC addresses must be globally unique, how do different vendors coordinate to make sure the same address is not assigned more than once?</a:t>
            </a: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73717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Answer</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28</a:t>
            </a:fld>
            <a:endParaRPr/>
          </a:p>
        </p:txBody>
      </p:sp>
      <p:sp>
        <p:nvSpPr>
          <p:cNvPr id="4" name="Google Shape;56;p8"/>
          <p:cNvSpPr txBox="1"/>
          <p:nvPr/>
        </p:nvSpPr>
        <p:spPr>
          <a:xfrm>
            <a:off x="993900" y="1833375"/>
            <a:ext cx="8142000" cy="714283"/>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Vendors don’t randomly generate MAC addresses. They are assigned in a structured way by a central authority called the IEEE.</a:t>
            </a: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66390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a:t>How MAC addresses stay unique</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29</a:t>
            </a:fld>
            <a:endParaRPr/>
          </a:p>
        </p:txBody>
      </p:sp>
      <p:sp>
        <p:nvSpPr>
          <p:cNvPr id="4" name="Google Shape;56;p8"/>
          <p:cNvSpPr txBox="1"/>
          <p:nvPr/>
        </p:nvSpPr>
        <p:spPr>
          <a:xfrm>
            <a:off x="993900" y="1833375"/>
            <a:ext cx="8142000" cy="4715378"/>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A MAC address is 48 bits (like: 00:1A:2B:XX:XX:XX) and is divided into two parts</a:t>
            </a:r>
            <a:r>
              <a:rPr lang="en-US" sz="2000" dirty="0" smtClean="0">
                <a:latin typeface="Times New Roman"/>
                <a:ea typeface="Times New Roman"/>
                <a:cs typeface="Times New Roman"/>
                <a:sym typeface="Times New Roman"/>
              </a:rPr>
              <a:t>:</a:t>
            </a:r>
          </a:p>
          <a:p>
            <a:pPr marL="457200" indent="-311150">
              <a:buClr>
                <a:srgbClr val="CC9A00"/>
              </a:buClr>
              <a:buSzPts val="1300"/>
              <a:buFont typeface="Noto Sans Symbols"/>
              <a:buChar char="❑"/>
            </a:pPr>
            <a:endParaRPr lang="en-US" sz="2000" dirty="0">
              <a:latin typeface="Times New Roman"/>
              <a:ea typeface="Times New Roman"/>
              <a:cs typeface="Times New Roman"/>
              <a:sym typeface="Times New Roman"/>
            </a:endParaRPr>
          </a:p>
          <a:p>
            <a:pPr marL="45720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1</a:t>
            </a:r>
            <a:r>
              <a:rPr lang="en-US" sz="2000" dirty="0">
                <a:latin typeface="Times New Roman"/>
                <a:ea typeface="Times New Roman"/>
                <a:cs typeface="Times New Roman"/>
                <a:sym typeface="Times New Roman"/>
              </a:rPr>
              <a:t>. OUI (Organizationally Unique Identifier) – first 24 </a:t>
            </a:r>
            <a:r>
              <a:rPr lang="en-US" sz="2000" dirty="0" smtClean="0">
                <a:latin typeface="Times New Roman"/>
                <a:ea typeface="Times New Roman"/>
                <a:cs typeface="Times New Roman"/>
                <a:sym typeface="Times New Roman"/>
              </a:rPr>
              <a:t>bits</a:t>
            </a:r>
          </a:p>
          <a:p>
            <a:pPr marL="146050">
              <a:buClr>
                <a:srgbClr val="CC9A00"/>
              </a:buClr>
              <a:buSzPts val="1300"/>
            </a:pPr>
            <a:endParaRPr lang="en-US" sz="2000" dirty="0">
              <a:latin typeface="Times New Roman"/>
              <a:ea typeface="Times New Roman"/>
              <a:cs typeface="Times New Roman"/>
              <a:sym typeface="Times New Roman"/>
            </a:endParaRPr>
          </a:p>
          <a:p>
            <a:pPr marL="488950" indent="-342900">
              <a:buClr>
                <a:srgbClr val="CC9A00"/>
              </a:buClr>
              <a:buSzPts val="1300"/>
              <a:buFont typeface="Arial" panose="020B0604020202020204" pitchFamily="34" charset="0"/>
              <a:buChar char="•"/>
            </a:pPr>
            <a:r>
              <a:rPr lang="en-US" sz="2000" dirty="0" smtClean="0">
                <a:latin typeface="Times New Roman"/>
                <a:ea typeface="Times New Roman"/>
                <a:cs typeface="Times New Roman"/>
                <a:sym typeface="Times New Roman"/>
              </a:rPr>
              <a:t>This </a:t>
            </a:r>
            <a:r>
              <a:rPr lang="en-US" sz="2000" dirty="0">
                <a:latin typeface="Times New Roman"/>
                <a:ea typeface="Times New Roman"/>
                <a:cs typeface="Times New Roman"/>
                <a:sym typeface="Times New Roman"/>
              </a:rPr>
              <a:t>part is assigned by IEEE</a:t>
            </a:r>
            <a:r>
              <a:rPr lang="en-US" sz="2000" dirty="0" smtClean="0">
                <a:latin typeface="Times New Roman"/>
                <a:ea typeface="Times New Roman"/>
                <a:cs typeface="Times New Roman"/>
                <a:sym typeface="Times New Roman"/>
              </a:rPr>
              <a:t>.</a:t>
            </a:r>
          </a:p>
          <a:p>
            <a:pPr marL="488950" indent="-342900">
              <a:buClr>
                <a:srgbClr val="CC9A00"/>
              </a:buClr>
              <a:buSzPts val="1300"/>
              <a:buFont typeface="Arial" panose="020B0604020202020204" pitchFamily="34" charset="0"/>
              <a:buChar char="•"/>
            </a:pPr>
            <a:r>
              <a:rPr lang="en-US" sz="2000" dirty="0" smtClean="0">
                <a:latin typeface="Times New Roman"/>
                <a:ea typeface="Times New Roman"/>
                <a:cs typeface="Times New Roman"/>
                <a:sym typeface="Times New Roman"/>
              </a:rPr>
              <a:t>Each </a:t>
            </a:r>
            <a:r>
              <a:rPr lang="en-US" sz="2000" dirty="0">
                <a:latin typeface="Times New Roman"/>
                <a:ea typeface="Times New Roman"/>
                <a:cs typeface="Times New Roman"/>
                <a:sym typeface="Times New Roman"/>
              </a:rPr>
              <a:t>vendor (like Intel, Cisco, Apple) buys/registers an OUI block</a:t>
            </a:r>
            <a:r>
              <a:rPr lang="en-US" sz="2000" dirty="0" smtClean="0">
                <a:latin typeface="Times New Roman"/>
                <a:ea typeface="Times New Roman"/>
                <a:cs typeface="Times New Roman"/>
                <a:sym typeface="Times New Roman"/>
              </a:rPr>
              <a:t>. Example:00:1A:2B </a:t>
            </a:r>
            <a:r>
              <a:rPr lang="en-US" sz="2000" dirty="0">
                <a:latin typeface="Times New Roman"/>
                <a:ea typeface="Times New Roman"/>
                <a:cs typeface="Times New Roman"/>
                <a:sym typeface="Times New Roman"/>
              </a:rPr>
              <a:t>→ belongs to one specific </a:t>
            </a:r>
            <a:r>
              <a:rPr lang="en-US" sz="2000" dirty="0" smtClean="0">
                <a:latin typeface="Times New Roman"/>
                <a:ea typeface="Times New Roman"/>
                <a:cs typeface="Times New Roman"/>
                <a:sym typeface="Times New Roman"/>
              </a:rPr>
              <a:t>company</a:t>
            </a:r>
          </a:p>
          <a:p>
            <a:pPr marL="488950" indent="-342900">
              <a:buClr>
                <a:srgbClr val="CC9A00"/>
              </a:buClr>
              <a:buSzPts val="1300"/>
              <a:buFont typeface="Arial" panose="020B0604020202020204" pitchFamily="34" charset="0"/>
              <a:buChar char="•"/>
            </a:pPr>
            <a:r>
              <a:rPr lang="en-US" sz="2000" dirty="0" smtClean="0">
                <a:latin typeface="Times New Roman"/>
                <a:ea typeface="Times New Roman"/>
                <a:cs typeface="Times New Roman"/>
                <a:sym typeface="Times New Roman"/>
              </a:rPr>
              <a:t>This </a:t>
            </a:r>
            <a:r>
              <a:rPr lang="en-US" sz="2000" dirty="0" err="1">
                <a:latin typeface="Times New Roman"/>
                <a:ea typeface="Times New Roman"/>
                <a:cs typeface="Times New Roman"/>
                <a:sym typeface="Times New Roman"/>
              </a:rPr>
              <a:t>means:No</a:t>
            </a:r>
            <a:r>
              <a:rPr lang="en-US" sz="2000" dirty="0">
                <a:latin typeface="Times New Roman"/>
                <a:ea typeface="Times New Roman"/>
                <a:cs typeface="Times New Roman"/>
                <a:sym typeface="Times New Roman"/>
              </a:rPr>
              <a:t> two vendors will have the same </a:t>
            </a:r>
            <a:r>
              <a:rPr lang="en-US" sz="2000" dirty="0" smtClean="0">
                <a:latin typeface="Times New Roman"/>
                <a:ea typeface="Times New Roman"/>
                <a:cs typeface="Times New Roman"/>
                <a:sym typeface="Times New Roman"/>
              </a:rPr>
              <a:t>prefix</a:t>
            </a:r>
          </a:p>
          <a:p>
            <a:pPr marL="488950" indent="-342900">
              <a:buClr>
                <a:srgbClr val="CC9A00"/>
              </a:buClr>
              <a:buSzPts val="1300"/>
              <a:buFont typeface="Arial" panose="020B0604020202020204" pitchFamily="34" charset="0"/>
              <a:buChar char="•"/>
            </a:pPr>
            <a:r>
              <a:rPr lang="en-US" sz="2000" dirty="0" smtClean="0">
                <a:latin typeface="Times New Roman"/>
                <a:ea typeface="Times New Roman"/>
                <a:cs typeface="Times New Roman"/>
                <a:sym typeface="Times New Roman"/>
              </a:rPr>
              <a:t>IEEE </a:t>
            </a:r>
            <a:r>
              <a:rPr lang="en-US" sz="2000" dirty="0">
                <a:latin typeface="Times New Roman"/>
                <a:ea typeface="Times New Roman"/>
                <a:cs typeface="Times New Roman"/>
                <a:sym typeface="Times New Roman"/>
              </a:rPr>
              <a:t>keeps a global registry of all assigned </a:t>
            </a:r>
            <a:r>
              <a:rPr lang="en-US" sz="2000" dirty="0" smtClean="0">
                <a:latin typeface="Times New Roman"/>
                <a:ea typeface="Times New Roman"/>
                <a:cs typeface="Times New Roman"/>
                <a:sym typeface="Times New Roman"/>
              </a:rPr>
              <a:t>OUIs</a:t>
            </a:r>
          </a:p>
          <a:p>
            <a:pPr marL="488950" indent="-342900">
              <a:buClr>
                <a:srgbClr val="CC9A00"/>
              </a:buClr>
              <a:buSzPts val="1300"/>
              <a:buFont typeface="Arial" panose="020B0604020202020204" pitchFamily="34" charset="0"/>
              <a:buChar char="•"/>
            </a:pPr>
            <a:endParaRPr lang="en-US" sz="2000" dirty="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2. Device-specific part – last 24 </a:t>
            </a:r>
            <a:r>
              <a:rPr lang="en-US" sz="2000" dirty="0" smtClean="0">
                <a:latin typeface="Times New Roman"/>
                <a:ea typeface="Times New Roman"/>
                <a:cs typeface="Times New Roman"/>
                <a:sym typeface="Times New Roman"/>
              </a:rPr>
              <a:t>bits</a:t>
            </a:r>
          </a:p>
          <a:p>
            <a:pPr marL="457200" lvl="0" indent="-311150">
              <a:buClr>
                <a:srgbClr val="CC9A00"/>
              </a:buClr>
              <a:buSzPts val="1300"/>
              <a:buFont typeface="Noto Sans Symbols"/>
              <a:buChar char="❑"/>
            </a:pPr>
            <a:endParaRPr lang="en-US" sz="2000" dirty="0">
              <a:latin typeface="Times New Roman"/>
              <a:ea typeface="Times New Roman"/>
              <a:cs typeface="Times New Roman"/>
              <a:sym typeface="Times New Roman"/>
            </a:endParaRPr>
          </a:p>
          <a:p>
            <a:pPr marL="488950" lvl="0" indent="-342900">
              <a:buClr>
                <a:srgbClr val="CC9A00"/>
              </a:buClr>
              <a:buSzPts val="1300"/>
              <a:buFont typeface="Arial" panose="020B0604020202020204" pitchFamily="34" charset="0"/>
              <a:buChar char="•"/>
            </a:pPr>
            <a:r>
              <a:rPr lang="en-US" sz="2000" dirty="0" smtClean="0">
                <a:latin typeface="Times New Roman"/>
                <a:ea typeface="Times New Roman"/>
                <a:cs typeface="Times New Roman"/>
                <a:sym typeface="Times New Roman"/>
              </a:rPr>
              <a:t>This part </a:t>
            </a:r>
            <a:r>
              <a:rPr lang="en-US" sz="2000" dirty="0">
                <a:latin typeface="Times New Roman"/>
                <a:ea typeface="Times New Roman"/>
                <a:cs typeface="Times New Roman"/>
                <a:sym typeface="Times New Roman"/>
              </a:rPr>
              <a:t>is generated by the </a:t>
            </a:r>
            <a:r>
              <a:rPr lang="en-US" sz="2000" dirty="0" smtClean="0">
                <a:latin typeface="Times New Roman"/>
                <a:ea typeface="Times New Roman"/>
                <a:cs typeface="Times New Roman"/>
                <a:sym typeface="Times New Roman"/>
              </a:rPr>
              <a:t>vendor</a:t>
            </a:r>
          </a:p>
          <a:p>
            <a:pPr marL="488950" lvl="0" indent="-342900">
              <a:buClr>
                <a:srgbClr val="CC9A00"/>
              </a:buClr>
              <a:buSzPts val="1300"/>
              <a:buFont typeface="Arial" panose="020B0604020202020204" pitchFamily="34" charset="0"/>
              <a:buChar char="•"/>
            </a:pPr>
            <a:r>
              <a:rPr lang="en-US" sz="2000" dirty="0" smtClean="0">
                <a:latin typeface="Times New Roman"/>
                <a:ea typeface="Times New Roman"/>
                <a:cs typeface="Times New Roman"/>
                <a:sym typeface="Times New Roman"/>
              </a:rPr>
              <a:t>The </a:t>
            </a:r>
            <a:r>
              <a:rPr lang="en-US" sz="2000" dirty="0">
                <a:latin typeface="Times New Roman"/>
                <a:ea typeface="Times New Roman"/>
                <a:cs typeface="Times New Roman"/>
                <a:sym typeface="Times New Roman"/>
              </a:rPr>
              <a:t>vendor ensures no duplicates within their own devices</a:t>
            </a:r>
          </a:p>
        </p:txBody>
      </p:sp>
    </p:spTree>
    <p:extLst>
      <p:ext uri="{BB962C8B-B14F-4D97-AF65-F5344CB8AC3E}">
        <p14:creationId xmlns:p14="http://schemas.microsoft.com/office/powerpoint/2010/main" val="3290642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smtClean="0"/>
              <a:t>MAC Address</a:t>
            </a:r>
            <a:endParaRPr sz="3600" dirty="0"/>
          </a:p>
        </p:txBody>
      </p:sp>
      <p:sp>
        <p:nvSpPr>
          <p:cNvPr id="56" name="Google Shape;56;p8"/>
          <p:cNvSpPr txBox="1"/>
          <p:nvPr/>
        </p:nvSpPr>
        <p:spPr>
          <a:xfrm>
            <a:off x="883805" y="1541962"/>
            <a:ext cx="8528552" cy="4407602"/>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A MAC address can be used to identify a device in a network. The MAC address is assigned by the manufacturer of the device when it is being made. The MAC address is </a:t>
            </a:r>
            <a:r>
              <a:rPr lang="en-US" sz="2000" dirty="0" smtClean="0">
                <a:latin typeface="Times New Roman"/>
                <a:ea typeface="Times New Roman"/>
                <a:cs typeface="Times New Roman"/>
                <a:sym typeface="Times New Roman"/>
              </a:rPr>
              <a:t>given </a:t>
            </a:r>
            <a:r>
              <a:rPr lang="en-US" sz="2000" dirty="0">
                <a:latin typeface="Times New Roman"/>
                <a:ea typeface="Times New Roman"/>
                <a:cs typeface="Times New Roman"/>
                <a:sym typeface="Times New Roman"/>
              </a:rPr>
              <a:t>to the NIC that is built into the </a:t>
            </a:r>
            <a:r>
              <a:rPr lang="en-US" sz="2000" dirty="0" smtClean="0">
                <a:latin typeface="Times New Roman"/>
                <a:ea typeface="Times New Roman"/>
                <a:cs typeface="Times New Roman"/>
                <a:sym typeface="Times New Roman"/>
              </a:rPr>
              <a:t>device</a:t>
            </a:r>
          </a:p>
          <a:p>
            <a:pPr marL="146050" lvl="0">
              <a:buClr>
                <a:srgbClr val="CC9A00"/>
              </a:buClr>
              <a:buSzPts val="1300"/>
            </a:pP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Features of a MAC address:</a:t>
            </a:r>
          </a:p>
          <a:p>
            <a:pPr marL="146050" lvl="0">
              <a:buClr>
                <a:srgbClr val="CC9A00"/>
              </a:buClr>
              <a:buSzPts val="1300"/>
            </a:pPr>
            <a:endParaRPr lang="en-US" sz="2000" dirty="0">
              <a:latin typeface="Times New Roman"/>
              <a:ea typeface="Times New Roman"/>
              <a:cs typeface="Times New Roman"/>
              <a:sym typeface="Times New Roman"/>
            </a:endParaRPr>
          </a:p>
          <a:p>
            <a:pPr marL="488950" lvl="0" indent="-342900">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Each address is unique.</a:t>
            </a:r>
          </a:p>
          <a:p>
            <a:pPr marL="488950" lvl="0" indent="-342900">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It is written in hexadecimal.</a:t>
            </a:r>
          </a:p>
          <a:p>
            <a:pPr marL="488950" lvl="0" indent="-342900">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It has 12 digits and the digits are grouped in pairs.</a:t>
            </a:r>
          </a:p>
          <a:p>
            <a:pPr marL="488950" lvl="0" indent="-342900">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Each pair of digits is separated by a colon.</a:t>
            </a:r>
          </a:p>
          <a:p>
            <a:pPr marL="488950" lvl="0" indent="-342900">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 first three pairs of digits are the manufacturer's ID.</a:t>
            </a:r>
          </a:p>
          <a:p>
            <a:pPr marL="488950" lvl="0" indent="-342900">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 second three pairs are the serial number of the device</a:t>
            </a:r>
            <a:r>
              <a:rPr lang="en-US" sz="2000" dirty="0" smtClean="0">
                <a:latin typeface="Times New Roman"/>
                <a:ea typeface="Times New Roman"/>
                <a:cs typeface="Times New Roman"/>
                <a:sym typeface="Times New Roman"/>
              </a:rPr>
              <a:t>.</a:t>
            </a:r>
          </a:p>
          <a:p>
            <a:pPr marL="146050" lvl="0">
              <a:buClr>
                <a:srgbClr val="CC9A00"/>
              </a:buClr>
              <a:buSzPts val="1300"/>
            </a:pP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Example - 3C:5A:B4:01:63:D2</a:t>
            </a: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30</a:t>
            </a:fld>
            <a:endParaRPr/>
          </a:p>
        </p:txBody>
      </p:sp>
      <p:sp>
        <p:nvSpPr>
          <p:cNvPr id="2" name="AutoShape 2" descr="Network Switches | Juniper Networks U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70428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182375"/>
          </a:xfrm>
          <a:prstGeom prst="rect">
            <a:avLst/>
          </a:prstGeom>
          <a:noFill/>
          <a:ln>
            <a:noFill/>
          </a:ln>
        </p:spPr>
        <p:txBody>
          <a:bodyPr spcFirstLastPara="1" wrap="square" lIns="0" tIns="12700" rIns="0" bIns="0" anchor="t" anchorCtr="0">
            <a:spAutoFit/>
          </a:bodyPr>
          <a:lstStyle/>
          <a:p>
            <a:pPr lvl="0"/>
            <a:r>
              <a:rPr lang="en-US" dirty="0"/>
              <a:t>4</a:t>
            </a:r>
            <a:r>
              <a:rPr lang="en-US" dirty="0" smtClean="0"/>
              <a:t>. </a:t>
            </a:r>
            <a:r>
              <a:rPr lang="en-US" dirty="0"/>
              <a:t>Message</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31</a:t>
            </a:fld>
            <a:endParaRPr/>
          </a:p>
        </p:txBody>
      </p:sp>
      <p:sp>
        <p:nvSpPr>
          <p:cNvPr id="4" name="Google Shape;56;p8"/>
          <p:cNvSpPr txBox="1"/>
          <p:nvPr/>
        </p:nvSpPr>
        <p:spPr>
          <a:xfrm>
            <a:off x="993900" y="1833375"/>
            <a:ext cx="8142000" cy="1022060"/>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The actual data or information that is being communicated between the sender and the receiver. It can be in a text, images, audio, video files, depending on the type of communication.</a:t>
            </a: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26431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Question</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32</a:t>
            </a:fld>
            <a:endParaRPr/>
          </a:p>
        </p:txBody>
      </p:sp>
      <p:sp>
        <p:nvSpPr>
          <p:cNvPr id="4" name="Google Shape;56;p8"/>
          <p:cNvSpPr txBox="1"/>
          <p:nvPr/>
        </p:nvSpPr>
        <p:spPr>
          <a:xfrm>
            <a:off x="993900" y="1833375"/>
            <a:ext cx="8142000" cy="406506"/>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How data like text, images, or videos are send over a network?</a:t>
            </a: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81519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smtClean="0"/>
              <a:t>The Bit</a:t>
            </a:r>
            <a:endParaRPr sz="3600" dirty="0"/>
          </a:p>
        </p:txBody>
      </p:sp>
      <p:sp>
        <p:nvSpPr>
          <p:cNvPr id="56" name="Google Shape;56;p8"/>
          <p:cNvSpPr txBox="1"/>
          <p:nvPr/>
        </p:nvSpPr>
        <p:spPr>
          <a:xfrm>
            <a:off x="883805" y="1864906"/>
            <a:ext cx="8142000" cy="3484272"/>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Computers and networks only work with binary digits.</a:t>
            </a:r>
          </a:p>
          <a:p>
            <a:pPr marL="457200" lvl="0" indent="-311150">
              <a:buClr>
                <a:srgbClr val="CC9A00"/>
              </a:buClr>
              <a:buSzPts val="1300"/>
              <a:buFont typeface="Noto Sans Symbols"/>
              <a:buChar char="❑"/>
            </a:pPr>
            <a:endParaRPr lang="en-US" sz="2000" dirty="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Computers use binary codes to represent and interpret letters, numbers and special characters with bits</a:t>
            </a:r>
            <a:r>
              <a:rPr lang="en-US" sz="2000" dirty="0" smtClean="0">
                <a:latin typeface="Times New Roman"/>
                <a:ea typeface="Times New Roman"/>
                <a:cs typeface="Times New Roman"/>
                <a:sym typeface="Times New Roman"/>
              </a:rPr>
              <a:t>.</a:t>
            </a:r>
          </a:p>
          <a:p>
            <a:pPr marL="146050" lvl="8" algn="just">
              <a:buClr>
                <a:srgbClr val="CC9A00"/>
              </a:buClr>
              <a:buSzPts val="1300"/>
            </a:pPr>
            <a:endParaRPr lang="en-US" sz="2000" dirty="0" smtClean="0">
              <a:latin typeface="Times New Roman"/>
              <a:ea typeface="Times New Roman"/>
              <a:cs typeface="Times New Roman"/>
              <a:sym typeface="Times New Roman"/>
            </a:endParaRPr>
          </a:p>
          <a:p>
            <a:pPr marL="146050" lvl="8" algn="just">
              <a:buClr>
                <a:srgbClr val="CC9A00"/>
              </a:buClr>
              <a:buSzPts val="1300"/>
            </a:pPr>
            <a:r>
              <a:rPr lang="en-US" sz="2000" dirty="0" smtClean="0">
                <a:latin typeface="Times New Roman"/>
                <a:ea typeface="Times New Roman"/>
                <a:cs typeface="Times New Roman"/>
                <a:sym typeface="Times New Roman"/>
              </a:rPr>
              <a:t>Capital </a:t>
            </a:r>
            <a:r>
              <a:rPr lang="en-US" sz="2000" dirty="0">
                <a:latin typeface="Times New Roman"/>
                <a:ea typeface="Times New Roman"/>
                <a:cs typeface="Times New Roman"/>
                <a:sym typeface="Times New Roman"/>
              </a:rPr>
              <a:t>letter: A = </a:t>
            </a:r>
            <a:r>
              <a:rPr lang="en-US" sz="2000" dirty="0" smtClean="0">
                <a:latin typeface="Times New Roman"/>
                <a:ea typeface="Times New Roman"/>
                <a:cs typeface="Times New Roman"/>
                <a:sym typeface="Times New Roman"/>
              </a:rPr>
              <a:t>01000001                                                                                 </a:t>
            </a:r>
          </a:p>
          <a:p>
            <a:pPr marL="146050" lvl="8" algn="just">
              <a:buClr>
                <a:srgbClr val="CC9A00"/>
              </a:buClr>
              <a:buSzPts val="1300"/>
            </a:pPr>
            <a:r>
              <a:rPr lang="en-US" sz="2000" dirty="0" smtClean="0">
                <a:latin typeface="Times New Roman"/>
                <a:ea typeface="Times New Roman"/>
                <a:cs typeface="Times New Roman"/>
                <a:sym typeface="Times New Roman"/>
              </a:rPr>
              <a:t>Number</a:t>
            </a:r>
            <a:r>
              <a:rPr lang="en-US" sz="2000" dirty="0">
                <a:latin typeface="Times New Roman"/>
                <a:ea typeface="Times New Roman"/>
                <a:cs typeface="Times New Roman"/>
                <a:sym typeface="Times New Roman"/>
              </a:rPr>
              <a:t>: 9 = </a:t>
            </a:r>
            <a:r>
              <a:rPr lang="en-US" sz="2000" dirty="0" smtClean="0">
                <a:latin typeface="Times New Roman"/>
                <a:ea typeface="Times New Roman"/>
                <a:cs typeface="Times New Roman"/>
                <a:sym typeface="Times New Roman"/>
              </a:rPr>
              <a:t>00111001                                            </a:t>
            </a:r>
            <a:endParaRPr lang="en-US" sz="2000" dirty="0">
              <a:latin typeface="Times New Roman"/>
              <a:ea typeface="Times New Roman"/>
              <a:cs typeface="Times New Roman"/>
              <a:sym typeface="Times New Roman"/>
            </a:endParaRPr>
          </a:p>
          <a:p>
            <a:pPr marL="146050" lvl="7" algn="just">
              <a:buClr>
                <a:srgbClr val="CC9A00"/>
              </a:buClr>
              <a:buSzPts val="1300"/>
            </a:pPr>
            <a:r>
              <a:rPr lang="en-US" sz="2000" dirty="0" smtClean="0">
                <a:latin typeface="Times New Roman"/>
                <a:ea typeface="Times New Roman"/>
                <a:cs typeface="Times New Roman"/>
                <a:sym typeface="Times New Roman"/>
              </a:rPr>
              <a:t>Special </a:t>
            </a:r>
            <a:r>
              <a:rPr lang="en-US" sz="2000" dirty="0">
                <a:latin typeface="Times New Roman"/>
                <a:ea typeface="Times New Roman"/>
                <a:cs typeface="Times New Roman"/>
                <a:sym typeface="Times New Roman"/>
              </a:rPr>
              <a:t>character: # = </a:t>
            </a:r>
            <a:r>
              <a:rPr lang="en-US" sz="2000" dirty="0" smtClean="0">
                <a:latin typeface="Times New Roman"/>
                <a:ea typeface="Times New Roman"/>
                <a:cs typeface="Times New Roman"/>
                <a:sym typeface="Times New Roman"/>
              </a:rPr>
              <a:t>00100011                                    </a:t>
            </a:r>
            <a:endParaRPr lang="en-US" sz="2000" dirty="0">
              <a:latin typeface="Times New Roman"/>
              <a:ea typeface="Times New Roman"/>
              <a:cs typeface="Times New Roman"/>
              <a:sym typeface="Times New Roman"/>
            </a:endParaRPr>
          </a:p>
          <a:p>
            <a:pPr marL="457200" lvl="0" indent="-311150">
              <a:buClr>
                <a:srgbClr val="CC9A00"/>
              </a:buClr>
              <a:buSzPts val="1300"/>
              <a:buFont typeface="Noto Sans Symbols"/>
              <a:buChar char="❑"/>
            </a:pPr>
            <a:endParaRPr lang="en-US" sz="2000" dirty="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Each group of eight bits, such as the representations of letters and numbers, is known as a byte</a:t>
            </a:r>
            <a:r>
              <a:rPr lang="en-US" sz="2000" dirty="0" smtClean="0">
                <a:latin typeface="Times New Roman"/>
                <a:ea typeface="Times New Roman"/>
                <a:cs typeface="Times New Roman"/>
                <a:sym typeface="Times New Roman"/>
              </a:rPr>
              <a:t>.</a:t>
            </a:r>
            <a:endParaRPr lang="en-US" sz="2000" dirty="0">
              <a:latin typeface="Times New Roman"/>
              <a:ea typeface="Times New Roman"/>
              <a:cs typeface="Times New Roman"/>
              <a:sym typeface="Times New Roman"/>
            </a:endParaRP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33</a:t>
            </a:fld>
            <a:endParaRPr/>
          </a:p>
        </p:txBody>
      </p:sp>
      <p:sp>
        <p:nvSpPr>
          <p:cNvPr id="2" name="AutoShape 2" descr="Network Switches | Juniper Networks U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857313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smtClean="0"/>
              <a:t>Signals</a:t>
            </a:r>
            <a:endParaRPr sz="3600" dirty="0"/>
          </a:p>
        </p:txBody>
      </p:sp>
      <p:sp>
        <p:nvSpPr>
          <p:cNvPr id="56" name="Google Shape;56;p8"/>
          <p:cNvSpPr txBox="1"/>
          <p:nvPr/>
        </p:nvSpPr>
        <p:spPr>
          <a:xfrm>
            <a:off x="883805" y="1864906"/>
            <a:ext cx="8142000" cy="2868719"/>
          </a:xfrm>
          <a:prstGeom prst="rect">
            <a:avLst/>
          </a:prstGeom>
          <a:noFill/>
          <a:ln>
            <a:noFill/>
          </a:ln>
        </p:spPr>
        <p:txBody>
          <a:bodyPr spcFirstLastPara="1" wrap="square" lIns="0" tIns="97775" rIns="0" bIns="0" anchor="t" anchorCtr="0">
            <a:spAutoFit/>
          </a:bodyPr>
          <a:lstStyle/>
          <a:p>
            <a:pPr marL="146050" lvl="0">
              <a:buClr>
                <a:srgbClr val="CC9A00"/>
              </a:buClr>
              <a:buSzPts val="1300"/>
            </a:pPr>
            <a:endParaRPr lang="en-US" sz="2000" dirty="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Bits </a:t>
            </a:r>
            <a:r>
              <a:rPr lang="en-US" sz="2000" dirty="0">
                <a:latin typeface="Times New Roman"/>
                <a:ea typeface="Times New Roman"/>
                <a:cs typeface="Times New Roman"/>
                <a:sym typeface="Times New Roman"/>
              </a:rPr>
              <a:t>are just abstract values. To send them from one device to another, we need to turn them into something that can physically </a:t>
            </a:r>
            <a:r>
              <a:rPr lang="en-US" sz="2000" dirty="0" smtClean="0">
                <a:latin typeface="Times New Roman"/>
                <a:ea typeface="Times New Roman"/>
                <a:cs typeface="Times New Roman"/>
                <a:sym typeface="Times New Roman"/>
              </a:rPr>
              <a:t>travel.</a:t>
            </a:r>
          </a:p>
          <a:p>
            <a:pPr marL="457200" lvl="0" indent="-311150">
              <a:buClr>
                <a:srgbClr val="CC9A00"/>
              </a:buClr>
              <a:buSzPts val="1300"/>
              <a:buFont typeface="Noto Sans Symbols"/>
              <a:buChar char="❑"/>
            </a:pPr>
            <a:endParaRPr lang="en-US" sz="2000" dirty="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A signal is a physical representation of a bit that can travel through a medium (like a wire or air). </a:t>
            </a:r>
            <a:endParaRPr lang="en-US" sz="2000" dirty="0" smtClean="0">
              <a:latin typeface="Times New Roman"/>
              <a:ea typeface="Times New Roman"/>
              <a:cs typeface="Times New Roman"/>
              <a:sym typeface="Times New Roman"/>
            </a:endParaRPr>
          </a:p>
          <a:p>
            <a:pPr marL="146050" lvl="0">
              <a:buClr>
                <a:srgbClr val="CC9A00"/>
              </a:buClr>
              <a:buSzPts val="1300"/>
            </a:pPr>
            <a:endParaRPr lang="en-US" sz="2000" dirty="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At the receiver’s end:</a:t>
            </a:r>
          </a:p>
          <a:p>
            <a:pPr marL="146050" lvl="0">
              <a:buClr>
                <a:srgbClr val="CC9A00"/>
              </a:buClr>
              <a:buSzPts val="1300"/>
            </a:pPr>
            <a:r>
              <a:rPr lang="en-US" sz="2000" dirty="0" smtClean="0">
                <a:latin typeface="Times New Roman"/>
                <a:ea typeface="Times New Roman"/>
                <a:cs typeface="Times New Roman"/>
                <a:sym typeface="Times New Roman"/>
              </a:rPr>
              <a:t>Signals </a:t>
            </a:r>
            <a:r>
              <a:rPr lang="en-US" sz="2000" dirty="0">
                <a:latin typeface="Times New Roman"/>
                <a:ea typeface="Times New Roman"/>
                <a:cs typeface="Times New Roman"/>
                <a:sym typeface="Times New Roman"/>
              </a:rPr>
              <a:t>are converted back into bits, then interpreted as data</a:t>
            </a:r>
            <a:r>
              <a:rPr lang="en-US" sz="2000" dirty="0" smtClean="0">
                <a:latin typeface="Times New Roman"/>
                <a:ea typeface="Times New Roman"/>
                <a:cs typeface="Times New Roman"/>
                <a:sym typeface="Times New Roman"/>
              </a:rPr>
              <a:t>.</a:t>
            </a:r>
            <a:endParaRPr lang="en-US" sz="2000" dirty="0">
              <a:latin typeface="Times New Roman"/>
              <a:ea typeface="Times New Roman"/>
              <a:cs typeface="Times New Roman"/>
              <a:sym typeface="Times New Roman"/>
            </a:endParaRP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34</a:t>
            </a:fld>
            <a:endParaRPr/>
          </a:p>
        </p:txBody>
      </p:sp>
      <p:sp>
        <p:nvSpPr>
          <p:cNvPr id="2" name="AutoShape 2" descr="Network Switches | Juniper Networks U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50" name="Picture 2" descr="How Analog and Digital Signals Work"/>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29972" y="909980"/>
            <a:ext cx="2405933" cy="14171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569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smtClean="0"/>
              <a:t>Digital Signals</a:t>
            </a:r>
            <a:endParaRPr sz="3600" dirty="0"/>
          </a:p>
        </p:txBody>
      </p:sp>
      <p:sp>
        <p:nvSpPr>
          <p:cNvPr id="56" name="Google Shape;56;p8"/>
          <p:cNvSpPr txBox="1"/>
          <p:nvPr/>
        </p:nvSpPr>
        <p:spPr>
          <a:xfrm>
            <a:off x="883805" y="1864906"/>
            <a:ext cx="8142000" cy="1945389"/>
          </a:xfrm>
          <a:prstGeom prst="rect">
            <a:avLst/>
          </a:prstGeom>
          <a:noFill/>
          <a:ln>
            <a:noFill/>
          </a:ln>
        </p:spPr>
        <p:txBody>
          <a:bodyPr spcFirstLastPara="1" wrap="square" lIns="0" tIns="97775" rIns="0" bIns="0" anchor="t" anchorCtr="0">
            <a:spAutoFit/>
          </a:bodyPr>
          <a:lstStyle/>
          <a:p>
            <a:pPr marL="146050" lvl="0">
              <a:buClr>
                <a:srgbClr val="CC9A00"/>
              </a:buClr>
              <a:buSzPts val="1300"/>
            </a:pPr>
            <a:endParaRPr lang="en-US" sz="2000" dirty="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Digital </a:t>
            </a:r>
            <a:r>
              <a:rPr lang="en-US" sz="2000" dirty="0">
                <a:latin typeface="Times New Roman"/>
                <a:ea typeface="Times New Roman"/>
                <a:cs typeface="Times New Roman"/>
                <a:sym typeface="Times New Roman"/>
              </a:rPr>
              <a:t>signals are discrete in value and time. These signals are represented by binary numbers and consist of different voltage values</a:t>
            </a:r>
            <a:r>
              <a:rPr lang="en-US" sz="2000" dirty="0" smtClean="0">
                <a:latin typeface="Times New Roman"/>
                <a:ea typeface="Times New Roman"/>
                <a:cs typeface="Times New Roman"/>
                <a:sym typeface="Times New Roman"/>
              </a:rPr>
              <a:t>.</a:t>
            </a:r>
          </a:p>
          <a:p>
            <a:pPr marL="146050" lvl="0">
              <a:buClr>
                <a:srgbClr val="CC9A00"/>
              </a:buClr>
              <a:buSzPts val="1300"/>
            </a:pP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Digital signals are used in all digital electronics, including computing equipment and data transmission devices.</a:t>
            </a:r>
            <a:endParaRPr lang="en-US" sz="2000" dirty="0" smtClean="0">
              <a:latin typeface="Times New Roman"/>
              <a:ea typeface="Times New Roman"/>
              <a:cs typeface="Times New Roman"/>
              <a:sym typeface="Times New Roman"/>
            </a:endParaRP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35</a:t>
            </a:fld>
            <a:endParaRPr/>
          </a:p>
        </p:txBody>
      </p:sp>
      <p:sp>
        <p:nvSpPr>
          <p:cNvPr id="2" name="AutoShape 2" descr="Network Switches | Juniper Networks U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074" name="Picture 2" descr="https://media.monolithicpower.com/wysiwyg/2_28.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2801" y="4388200"/>
            <a:ext cx="4903122" cy="18143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24068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smtClean="0"/>
              <a:t>Digital Signals</a:t>
            </a:r>
            <a:endParaRPr sz="3600" dirty="0"/>
          </a:p>
        </p:txBody>
      </p:sp>
      <p:sp>
        <p:nvSpPr>
          <p:cNvPr id="56" name="Google Shape;56;p8"/>
          <p:cNvSpPr txBox="1"/>
          <p:nvPr/>
        </p:nvSpPr>
        <p:spPr>
          <a:xfrm>
            <a:off x="883805" y="1864906"/>
            <a:ext cx="8142000" cy="2560942"/>
          </a:xfrm>
          <a:prstGeom prst="rect">
            <a:avLst/>
          </a:prstGeom>
          <a:noFill/>
          <a:ln>
            <a:noFill/>
          </a:ln>
        </p:spPr>
        <p:txBody>
          <a:bodyPr spcFirstLastPara="1" wrap="square" lIns="0" tIns="97775" rIns="0" bIns="0" anchor="t" anchorCtr="0">
            <a:spAutoFit/>
          </a:bodyPr>
          <a:lstStyle/>
          <a:p>
            <a:pPr marL="146050" lvl="0">
              <a:buClr>
                <a:srgbClr val="CC9A00"/>
              </a:buClr>
              <a:buSzPts val="1300"/>
            </a:pPr>
            <a:endParaRPr lang="en-US" sz="2000" dirty="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Digital </a:t>
            </a:r>
            <a:r>
              <a:rPr lang="en-US" sz="2000" dirty="0" smtClean="0">
                <a:latin typeface="Times New Roman"/>
                <a:ea typeface="Times New Roman"/>
                <a:cs typeface="Times New Roman"/>
                <a:sym typeface="Times New Roman"/>
              </a:rPr>
              <a:t>signals </a:t>
            </a:r>
            <a:r>
              <a:rPr lang="en-US" sz="2000" dirty="0">
                <a:latin typeface="Times New Roman"/>
                <a:ea typeface="Times New Roman"/>
                <a:cs typeface="Times New Roman"/>
                <a:sym typeface="Times New Roman"/>
              </a:rPr>
              <a:t>are transmitted </a:t>
            </a:r>
            <a:r>
              <a:rPr lang="en-US" sz="2000" dirty="0" smtClean="0">
                <a:latin typeface="Times New Roman"/>
                <a:ea typeface="Times New Roman"/>
                <a:cs typeface="Times New Roman"/>
                <a:sym typeface="Times New Roman"/>
              </a:rPr>
              <a:t>as,</a:t>
            </a:r>
            <a:br>
              <a:rPr lang="en-US" sz="2000" dirty="0" smtClean="0">
                <a:latin typeface="Times New Roman"/>
                <a:ea typeface="Times New Roman"/>
                <a:cs typeface="Times New Roman"/>
                <a:sym typeface="Times New Roman"/>
              </a:rPr>
            </a:br>
            <a:endParaRPr lang="en-US" sz="2000" dirty="0" smtClean="0">
              <a:latin typeface="Times New Roman"/>
              <a:ea typeface="Times New Roman"/>
              <a:cs typeface="Times New Roman"/>
              <a:sym typeface="Times New Roman"/>
            </a:endParaRPr>
          </a:p>
          <a:p>
            <a:pPr marL="603250" lvl="0" indent="-457200">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Electrical pulses in copper wires (like Ethernet cables), where voltage levels represent 0 and </a:t>
            </a:r>
            <a:r>
              <a:rPr lang="en-US" sz="2000" dirty="0" smtClean="0">
                <a:latin typeface="Times New Roman"/>
                <a:ea typeface="Times New Roman"/>
                <a:cs typeface="Times New Roman"/>
                <a:sym typeface="Times New Roman"/>
              </a:rPr>
              <a:t>1.</a:t>
            </a:r>
          </a:p>
          <a:p>
            <a:pPr marL="603250" lvl="0" indent="-457200">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Light pulses in fiber optic cables, where light being ON or OFF represents 1 or </a:t>
            </a:r>
            <a:r>
              <a:rPr lang="en-US" sz="2000" dirty="0" smtClean="0">
                <a:latin typeface="Times New Roman"/>
                <a:ea typeface="Times New Roman"/>
                <a:cs typeface="Times New Roman"/>
                <a:sym typeface="Times New Roman"/>
              </a:rPr>
              <a:t>0.</a:t>
            </a:r>
          </a:p>
          <a:p>
            <a:pPr marL="146050" lvl="0">
              <a:buClr>
                <a:srgbClr val="CC9A00"/>
              </a:buClr>
              <a:buSzPts val="1300"/>
            </a:pPr>
            <a:endParaRPr lang="en-US" sz="2000" dirty="0" smtClean="0">
              <a:latin typeface="Times New Roman"/>
              <a:ea typeface="Times New Roman"/>
              <a:cs typeface="Times New Roman"/>
              <a:sym typeface="Times New Roman"/>
            </a:endParaRP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36</a:t>
            </a:fld>
            <a:endParaRPr/>
          </a:p>
        </p:txBody>
      </p:sp>
      <p:sp>
        <p:nvSpPr>
          <p:cNvPr id="2" name="AutoShape 2" descr="Network Switches | Juniper Networks U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074" name="Picture 2" descr="https://media.monolithicpower.com/wysiwyg/2_28.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2801" y="4388200"/>
            <a:ext cx="4903122" cy="18143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2878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smtClean="0"/>
              <a:t>Analog Signals</a:t>
            </a:r>
            <a:endParaRPr sz="3600" dirty="0"/>
          </a:p>
        </p:txBody>
      </p:sp>
      <p:sp>
        <p:nvSpPr>
          <p:cNvPr id="56" name="Google Shape;56;p8"/>
          <p:cNvSpPr txBox="1"/>
          <p:nvPr/>
        </p:nvSpPr>
        <p:spPr>
          <a:xfrm>
            <a:off x="883805" y="1864906"/>
            <a:ext cx="8142000" cy="2868719"/>
          </a:xfrm>
          <a:prstGeom prst="rect">
            <a:avLst/>
          </a:prstGeom>
          <a:noFill/>
          <a:ln>
            <a:noFill/>
          </a:ln>
        </p:spPr>
        <p:txBody>
          <a:bodyPr spcFirstLastPara="1" wrap="square" lIns="0" tIns="97775" rIns="0" bIns="0" anchor="t" anchorCtr="0">
            <a:spAutoFit/>
          </a:bodyPr>
          <a:lstStyle/>
          <a:p>
            <a:pPr marL="146050" lvl="0">
              <a:buClr>
                <a:srgbClr val="CC9A00"/>
              </a:buClr>
              <a:buSzPts val="1300"/>
            </a:pPr>
            <a:endParaRPr lang="en-US" sz="2000" dirty="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An analog signal is a continuous electrical signal that varies in strength and frequency over time. </a:t>
            </a:r>
            <a:endParaRPr lang="en-US" sz="2000" dirty="0" smtClean="0">
              <a:latin typeface="Times New Roman"/>
              <a:ea typeface="Times New Roman"/>
              <a:cs typeface="Times New Roman"/>
              <a:sym typeface="Times New Roman"/>
            </a:endParaRPr>
          </a:p>
          <a:p>
            <a:pPr marL="146050" lvl="0">
              <a:buClr>
                <a:srgbClr val="CC9A00"/>
              </a:buClr>
              <a:buSzPts val="1300"/>
            </a:pP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Unlike </a:t>
            </a:r>
            <a:r>
              <a:rPr lang="en-US" sz="2000" dirty="0">
                <a:latin typeface="Times New Roman"/>
                <a:ea typeface="Times New Roman"/>
                <a:cs typeface="Times New Roman"/>
                <a:sym typeface="Times New Roman"/>
              </a:rPr>
              <a:t>digital </a:t>
            </a:r>
            <a:r>
              <a:rPr lang="en-US" sz="2000" dirty="0" smtClean="0">
                <a:latin typeface="Times New Roman"/>
                <a:ea typeface="Times New Roman"/>
                <a:cs typeface="Times New Roman"/>
                <a:sym typeface="Times New Roman"/>
              </a:rPr>
              <a:t>signals, analog </a:t>
            </a:r>
            <a:r>
              <a:rPr lang="en-US" sz="2000" dirty="0">
                <a:latin typeface="Times New Roman"/>
                <a:ea typeface="Times New Roman"/>
                <a:cs typeface="Times New Roman"/>
                <a:sym typeface="Times New Roman"/>
              </a:rPr>
              <a:t>signals can take on any value within a range</a:t>
            </a:r>
            <a:r>
              <a:rPr lang="en-US" sz="2000" dirty="0" smtClean="0">
                <a:latin typeface="Times New Roman"/>
                <a:ea typeface="Times New Roman"/>
                <a:cs typeface="Times New Roman"/>
                <a:sym typeface="Times New Roman"/>
              </a:rPr>
              <a:t>.</a:t>
            </a:r>
          </a:p>
          <a:p>
            <a:pPr marL="146050" lvl="0">
              <a:buClr>
                <a:srgbClr val="CC9A00"/>
              </a:buClr>
              <a:buSzPts val="1300"/>
            </a:pP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Examples - sound </a:t>
            </a:r>
            <a:r>
              <a:rPr lang="en-US" sz="2000" dirty="0">
                <a:latin typeface="Times New Roman"/>
                <a:ea typeface="Times New Roman"/>
                <a:cs typeface="Times New Roman"/>
                <a:sym typeface="Times New Roman"/>
              </a:rPr>
              <a:t>waves, voltage fluctuations, and radio waves.</a:t>
            </a:r>
            <a:r>
              <a:rPr lang="en-US" sz="2000" dirty="0" smtClean="0">
                <a:latin typeface="Times New Roman"/>
                <a:ea typeface="Times New Roman"/>
                <a:cs typeface="Times New Roman"/>
                <a:sym typeface="Times New Roman"/>
              </a:rPr>
              <a:t/>
            </a:r>
            <a:br>
              <a:rPr lang="en-US" sz="2000" dirty="0" smtClean="0">
                <a:latin typeface="Times New Roman"/>
                <a:ea typeface="Times New Roman"/>
                <a:cs typeface="Times New Roman"/>
                <a:sym typeface="Times New Roman"/>
              </a:rPr>
            </a:br>
            <a:endParaRPr lang="en-US" sz="2000" dirty="0" smtClean="0">
              <a:latin typeface="Times New Roman"/>
              <a:ea typeface="Times New Roman"/>
              <a:cs typeface="Times New Roman"/>
              <a:sym typeface="Times New Roman"/>
            </a:endParaRPr>
          </a:p>
          <a:p>
            <a:pPr marL="146050" lvl="0">
              <a:buClr>
                <a:srgbClr val="CC9A00"/>
              </a:buClr>
              <a:buSzPts val="1300"/>
            </a:pPr>
            <a:endParaRPr lang="en-US" sz="2000" dirty="0" smtClean="0">
              <a:latin typeface="Times New Roman"/>
              <a:ea typeface="Times New Roman"/>
              <a:cs typeface="Times New Roman"/>
              <a:sym typeface="Times New Roman"/>
            </a:endParaRP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37</a:t>
            </a:fld>
            <a:endParaRPr/>
          </a:p>
        </p:txBody>
      </p:sp>
      <p:sp>
        <p:nvSpPr>
          <p:cNvPr id="2" name="AutoShape 2" descr="Network Switches | Juniper Networks U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098" name="Picture 2" descr="Digital signal characteristics | Electromagnetic Interference Class Notes |  Fiveable | Fiveab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1734" y="4543169"/>
            <a:ext cx="4726142" cy="18478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2862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smtClean="0"/>
              <a:t>Characteristics of an Analog system</a:t>
            </a: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38</a:t>
            </a:fld>
            <a:endParaRPr/>
          </a:p>
        </p:txBody>
      </p:sp>
      <p:sp>
        <p:nvSpPr>
          <p:cNvPr id="2" name="AutoShape 2" descr="Network Switches | Juniper Networks U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146" name="Picture 2" descr="waves - What is considered a wavelength? - Physics Stack Exchang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2865" y="1882913"/>
            <a:ext cx="6525444" cy="46332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640236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566822"/>
          </a:xfrm>
          <a:prstGeom prst="rect">
            <a:avLst/>
          </a:prstGeom>
          <a:noFill/>
          <a:ln>
            <a:noFill/>
          </a:ln>
        </p:spPr>
        <p:txBody>
          <a:bodyPr spcFirstLastPara="1" wrap="square" lIns="0" tIns="12700" rIns="0" bIns="0" anchor="t" anchorCtr="0">
            <a:spAutoFit/>
          </a:bodyPr>
          <a:lstStyle/>
          <a:p>
            <a:r>
              <a:rPr lang="en-US" sz="3600" dirty="0" smtClean="0"/>
              <a:t>Modulation</a:t>
            </a:r>
            <a:endParaRPr sz="3600" dirty="0"/>
          </a:p>
        </p:txBody>
      </p:sp>
      <p:sp>
        <p:nvSpPr>
          <p:cNvPr id="56" name="Google Shape;56;p8"/>
          <p:cNvSpPr txBox="1"/>
          <p:nvPr/>
        </p:nvSpPr>
        <p:spPr>
          <a:xfrm>
            <a:off x="883805" y="1864906"/>
            <a:ext cx="8142000" cy="1022060"/>
          </a:xfrm>
          <a:prstGeom prst="rect">
            <a:avLst/>
          </a:prstGeom>
          <a:noFill/>
          <a:ln>
            <a:noFill/>
          </a:ln>
        </p:spPr>
        <p:txBody>
          <a:bodyPr spcFirstLastPara="1" wrap="square" lIns="0" tIns="97775" rIns="0" bIns="0" anchor="t" anchorCtr="0">
            <a:spAutoFit/>
          </a:bodyPr>
          <a:lstStyle/>
          <a:p>
            <a:pPr marL="146050" lvl="0">
              <a:buClr>
                <a:srgbClr val="CC9A00"/>
              </a:buClr>
              <a:buSzPts val="1300"/>
            </a:pPr>
            <a:endParaRPr lang="en-US" sz="2000" dirty="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Modulation </a:t>
            </a:r>
            <a:r>
              <a:rPr lang="en-US" sz="2000" dirty="0">
                <a:latin typeface="Times New Roman"/>
                <a:ea typeface="Times New Roman"/>
                <a:cs typeface="Times New Roman"/>
                <a:sym typeface="Times New Roman"/>
              </a:rPr>
              <a:t>lets us send digital data using analog waves.</a:t>
            </a:r>
          </a:p>
          <a:p>
            <a:pPr marL="146050" lvl="0">
              <a:buClr>
                <a:srgbClr val="CC9A00"/>
              </a:buClr>
              <a:buSzPts val="1300"/>
            </a:pPr>
            <a:endParaRPr lang="en-US" sz="2000" dirty="0" smtClean="0">
              <a:latin typeface="Times New Roman"/>
              <a:ea typeface="Times New Roman"/>
              <a:cs typeface="Times New Roman"/>
              <a:sym typeface="Times New Roman"/>
            </a:endParaRP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39</a:t>
            </a:fld>
            <a:endParaRPr/>
          </a:p>
        </p:txBody>
      </p:sp>
      <p:sp>
        <p:nvSpPr>
          <p:cNvPr id="2" name="AutoShape 2" descr="Network Switches | Juniper Networks U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 name="Picture 2"/>
          <p:cNvPicPr>
            <a:picLocks noChangeAspect="1"/>
          </p:cNvPicPr>
          <p:nvPr/>
        </p:nvPicPr>
        <p:blipFill>
          <a:blip r:embed="rId3"/>
          <a:stretch>
            <a:fillRect/>
          </a:stretch>
        </p:blipFill>
        <p:spPr>
          <a:xfrm>
            <a:off x="2212258" y="2886966"/>
            <a:ext cx="5194016" cy="3617576"/>
          </a:xfrm>
          <a:prstGeom prst="rect">
            <a:avLst/>
          </a:prstGeom>
        </p:spPr>
      </p:pic>
      <p:pic>
        <p:nvPicPr>
          <p:cNvPr id="8194" name="Picture 2" descr="The magic of Morse Code: A retrospective look at the pioneer of radio  communication - Barrett Communication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58873" y="848964"/>
            <a:ext cx="2125003" cy="14161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0178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smtClean="0"/>
              <a:t>Modem</a:t>
            </a:r>
            <a:endParaRPr sz="3600" dirty="0"/>
          </a:p>
        </p:txBody>
      </p:sp>
      <p:sp>
        <p:nvSpPr>
          <p:cNvPr id="56" name="Google Shape;56;p8"/>
          <p:cNvSpPr txBox="1"/>
          <p:nvPr/>
        </p:nvSpPr>
        <p:spPr>
          <a:xfrm>
            <a:off x="883805" y="1864906"/>
            <a:ext cx="8142000" cy="1329836"/>
          </a:xfrm>
          <a:prstGeom prst="rect">
            <a:avLst/>
          </a:prstGeom>
          <a:noFill/>
          <a:ln>
            <a:noFill/>
          </a:ln>
        </p:spPr>
        <p:txBody>
          <a:bodyPr spcFirstLastPara="1" wrap="square" lIns="0" tIns="97775" rIns="0" bIns="0" anchor="t" anchorCtr="0">
            <a:spAutoFit/>
          </a:bodyPr>
          <a:lstStyle/>
          <a:p>
            <a:pPr marL="146050" lvl="0">
              <a:buClr>
                <a:srgbClr val="CC9A00"/>
              </a:buClr>
              <a:buSzPts val="1300"/>
            </a:pPr>
            <a:endParaRPr lang="en-US" sz="2000" dirty="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A </a:t>
            </a:r>
            <a:r>
              <a:rPr lang="en-US" sz="2000" dirty="0">
                <a:latin typeface="Times New Roman"/>
                <a:ea typeface="Times New Roman"/>
                <a:cs typeface="Times New Roman"/>
                <a:sym typeface="Times New Roman"/>
              </a:rPr>
              <a:t>modem is a device that connects your home to the internet by translating digital signals from your devices into analog signals that can travel over a network, and vice versa. </a:t>
            </a:r>
            <a:endParaRPr lang="en-US" sz="2000" dirty="0" smtClean="0">
              <a:latin typeface="Times New Roman"/>
              <a:ea typeface="Times New Roman"/>
              <a:cs typeface="Times New Roman"/>
              <a:sym typeface="Times New Roman"/>
            </a:endParaRP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40</a:t>
            </a:fld>
            <a:endParaRPr/>
          </a:p>
        </p:txBody>
      </p:sp>
      <p:sp>
        <p:nvSpPr>
          <p:cNvPr id="2" name="AutoShape 2" descr="Network Switches | Juniper Networks U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218" name="Picture 2" descr="Working of Mode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3900" y="3827146"/>
            <a:ext cx="8206730" cy="26287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1447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Answer</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41</a:t>
            </a:fld>
            <a:endParaRPr/>
          </a:p>
        </p:txBody>
      </p:sp>
      <p:sp>
        <p:nvSpPr>
          <p:cNvPr id="4" name="Google Shape;56;p8"/>
          <p:cNvSpPr txBox="1"/>
          <p:nvPr/>
        </p:nvSpPr>
        <p:spPr>
          <a:xfrm>
            <a:off x="993900" y="1833375"/>
            <a:ext cx="8142000" cy="3484272"/>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All types of data whether text, images, audio, or video are represented and stored as binary (1s and 0s) inside a computer. When this data is transmitted over a network, the binary bits are encoded into physical signals. In wired networks, they travel as electrical or light signals, and in wireless networks, they travel as radio waves. Every message we send is a stream of binary data transmitted as signals</a:t>
            </a:r>
            <a:r>
              <a:rPr lang="en-US" sz="2000" dirty="0" smtClean="0">
                <a:latin typeface="Times New Roman"/>
                <a:ea typeface="Times New Roman"/>
                <a:cs typeface="Times New Roman"/>
                <a:sym typeface="Times New Roman"/>
              </a:rPr>
              <a:t>.</a:t>
            </a:r>
          </a:p>
          <a:p>
            <a:pPr marL="146050">
              <a:buClr>
                <a:srgbClr val="CC9A00"/>
              </a:buClr>
              <a:buSzPts val="1300"/>
            </a:pPr>
            <a:endParaRPr lang="en-US" sz="2000" dirty="0">
              <a:latin typeface="Times New Roman"/>
              <a:ea typeface="Times New Roman"/>
              <a:cs typeface="Times New Roman"/>
              <a:sym typeface="Times New Roman"/>
            </a:endParaRPr>
          </a:p>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Cables: Data is encoded into electrical impulses.</a:t>
            </a:r>
          </a:p>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Fiber-Optic: Data is encoded into pulses of light.</a:t>
            </a:r>
          </a:p>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Wireless transmission: Data is encoded via modulation of specific frequencies of electromagnetic waves.</a:t>
            </a: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9225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Question</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42</a:t>
            </a:fld>
            <a:endParaRPr/>
          </a:p>
        </p:txBody>
      </p:sp>
      <p:sp>
        <p:nvSpPr>
          <p:cNvPr id="4" name="Google Shape;56;p8"/>
          <p:cNvSpPr txBox="1"/>
          <p:nvPr/>
        </p:nvSpPr>
        <p:spPr>
          <a:xfrm>
            <a:off x="993900" y="1833375"/>
            <a:ext cx="8142000" cy="406506"/>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How </a:t>
            </a:r>
            <a:r>
              <a:rPr lang="en-US" sz="2000" dirty="0">
                <a:latin typeface="Times New Roman"/>
                <a:ea typeface="Times New Roman"/>
                <a:cs typeface="Times New Roman"/>
                <a:sym typeface="Times New Roman"/>
              </a:rPr>
              <a:t>signals are generated?</a:t>
            </a:r>
            <a:endParaRPr lang="en-US" sz="2000" dirty="0">
              <a:latin typeface="Times New Roman"/>
              <a:ea typeface="Times New Roman"/>
              <a:cs typeface="Times New Roman"/>
              <a:sym typeface="Times New Roman"/>
            </a:endParaRP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78387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Answer</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43</a:t>
            </a:fld>
            <a:endParaRPr/>
          </a:p>
        </p:txBody>
      </p:sp>
      <p:sp>
        <p:nvSpPr>
          <p:cNvPr id="4" name="Google Shape;56;p8"/>
          <p:cNvSpPr txBox="1"/>
          <p:nvPr/>
        </p:nvSpPr>
        <p:spPr>
          <a:xfrm>
            <a:off x="993900" y="1833375"/>
            <a:ext cx="8142000" cy="1329836"/>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A signal is generated by changing the strength (or any other property) of a particular form of energy with respect to time on a suitable medium</a:t>
            </a:r>
            <a:r>
              <a:rPr lang="en-US" sz="2000" dirty="0" smtClean="0">
                <a:latin typeface="Times New Roman"/>
                <a:ea typeface="Times New Roman"/>
                <a:cs typeface="Times New Roman"/>
                <a:sym typeface="Times New Roman"/>
              </a:rPr>
              <a:t>.</a:t>
            </a:r>
            <a:br>
              <a:rPr lang="en-US" sz="2000" dirty="0" smtClean="0">
                <a:latin typeface="Times New Roman"/>
                <a:ea typeface="Times New Roman"/>
                <a:cs typeface="Times New Roman"/>
                <a:sym typeface="Times New Roman"/>
              </a:rPr>
            </a:br>
            <a:endParaRPr lang="en-US" sz="2000" dirty="0">
              <a:latin typeface="Times New Roman"/>
              <a:ea typeface="Times New Roman"/>
              <a:cs typeface="Times New Roman"/>
              <a:sym typeface="Times New Roman"/>
            </a:endParaRPr>
          </a:p>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Form of energy used can be Electrical, Light or Electromagnetic.</a:t>
            </a: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68435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Bandwidth</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44</a:t>
            </a:fld>
            <a:endParaRPr/>
          </a:p>
        </p:txBody>
      </p:sp>
      <p:sp>
        <p:nvSpPr>
          <p:cNvPr id="4" name="Google Shape;56;p8"/>
          <p:cNvSpPr txBox="1"/>
          <p:nvPr/>
        </p:nvSpPr>
        <p:spPr>
          <a:xfrm>
            <a:off x="993900" y="1833375"/>
            <a:ext cx="8142000" cy="1022060"/>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Bandwidth is the maximum capacity of a channel</a:t>
            </a:r>
            <a:r>
              <a:rPr lang="en-US" sz="2000" dirty="0" smtClean="0">
                <a:latin typeface="Times New Roman"/>
                <a:ea typeface="Times New Roman"/>
                <a:cs typeface="Times New Roman"/>
                <a:sym typeface="Times New Roman"/>
              </a:rPr>
              <a:t>.</a:t>
            </a:r>
          </a:p>
          <a:p>
            <a:pPr marL="146050">
              <a:buClr>
                <a:srgbClr val="CC9A00"/>
              </a:buClr>
              <a:buSzPts val="1300"/>
            </a:pPr>
            <a:endParaRPr lang="en-US" sz="2000" dirty="0">
              <a:latin typeface="Times New Roman"/>
              <a:ea typeface="Times New Roman"/>
              <a:cs typeface="Times New Roman"/>
              <a:sym typeface="Times New Roman"/>
            </a:endParaRPr>
          </a:p>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Maximum amount of data that can be transmitted per second.</a:t>
            </a: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42633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a:t>Throughput</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45</a:t>
            </a:fld>
            <a:endParaRPr/>
          </a:p>
        </p:txBody>
      </p:sp>
      <p:sp>
        <p:nvSpPr>
          <p:cNvPr id="4" name="Google Shape;56;p8"/>
          <p:cNvSpPr txBox="1"/>
          <p:nvPr/>
        </p:nvSpPr>
        <p:spPr>
          <a:xfrm>
            <a:off x="993900" y="1833375"/>
            <a:ext cx="8142000" cy="1022060"/>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Bandwidth is the maximum capacity of a channel</a:t>
            </a:r>
            <a:r>
              <a:rPr lang="en-US" sz="2000" dirty="0" smtClean="0">
                <a:latin typeface="Times New Roman"/>
                <a:ea typeface="Times New Roman"/>
                <a:cs typeface="Times New Roman"/>
                <a:sym typeface="Times New Roman"/>
              </a:rPr>
              <a:t>.</a:t>
            </a:r>
          </a:p>
          <a:p>
            <a:pPr marL="146050">
              <a:buClr>
                <a:srgbClr val="CC9A00"/>
              </a:buClr>
              <a:buSzPts val="1300"/>
            </a:pPr>
            <a:endParaRPr lang="en-US" sz="2000" dirty="0">
              <a:latin typeface="Times New Roman"/>
              <a:ea typeface="Times New Roman"/>
              <a:cs typeface="Times New Roman"/>
              <a:sym typeface="Times New Roman"/>
            </a:endParaRPr>
          </a:p>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Maximum amount of data that can be transmitted per second.</a:t>
            </a: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13210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Question</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46</a:t>
            </a:fld>
            <a:endParaRPr/>
          </a:p>
        </p:txBody>
      </p:sp>
      <p:sp>
        <p:nvSpPr>
          <p:cNvPr id="4" name="Google Shape;56;p8"/>
          <p:cNvSpPr txBox="1"/>
          <p:nvPr/>
        </p:nvSpPr>
        <p:spPr>
          <a:xfrm>
            <a:off x="993900" y="1833375"/>
            <a:ext cx="8142000" cy="406506"/>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Why Throughput &lt; Bandwidth?</a:t>
            </a: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52392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Answer</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47</a:t>
            </a:fld>
            <a:endParaRPr/>
          </a:p>
        </p:txBody>
      </p:sp>
      <p:sp>
        <p:nvSpPr>
          <p:cNvPr id="4" name="Google Shape;56;p8"/>
          <p:cNvSpPr txBox="1"/>
          <p:nvPr/>
        </p:nvSpPr>
        <p:spPr>
          <a:xfrm>
            <a:off x="993900" y="1833375"/>
            <a:ext cx="8142000" cy="2868719"/>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In real networks, we never achieve full bandwidth due to</a:t>
            </a:r>
            <a:r>
              <a:rPr lang="en-US" sz="2000" dirty="0" smtClean="0">
                <a:latin typeface="Times New Roman"/>
                <a:ea typeface="Times New Roman"/>
                <a:cs typeface="Times New Roman"/>
                <a:sym typeface="Times New Roman"/>
              </a:rPr>
              <a:t>:</a:t>
            </a:r>
          </a:p>
          <a:p>
            <a:pPr marL="146050">
              <a:buClr>
                <a:srgbClr val="CC9A00"/>
              </a:buClr>
              <a:buSzPts val="1300"/>
            </a:pPr>
            <a:endParaRPr lang="en-US" sz="2000" dirty="0">
              <a:latin typeface="Times New Roman"/>
              <a:ea typeface="Times New Roman"/>
              <a:cs typeface="Times New Roman"/>
              <a:sym typeface="Times New Roman"/>
            </a:endParaRPr>
          </a:p>
          <a:p>
            <a:pPr marL="488950" indent="-342900">
              <a:buClr>
                <a:srgbClr val="CC9A00"/>
              </a:buClr>
              <a:buSzPts val="1300"/>
              <a:buFont typeface="Arial" panose="020B0604020202020204" pitchFamily="34" charset="0"/>
              <a:buChar char="•"/>
            </a:pPr>
            <a:r>
              <a:rPr lang="en-US" sz="2000" dirty="0" smtClean="0">
                <a:latin typeface="Times New Roman"/>
                <a:ea typeface="Times New Roman"/>
                <a:cs typeface="Times New Roman"/>
                <a:sym typeface="Times New Roman"/>
              </a:rPr>
              <a:t>Network </a:t>
            </a:r>
            <a:r>
              <a:rPr lang="en-US" sz="2000" dirty="0">
                <a:latin typeface="Times New Roman"/>
                <a:ea typeface="Times New Roman"/>
                <a:cs typeface="Times New Roman"/>
                <a:sym typeface="Times New Roman"/>
              </a:rPr>
              <a:t>congestion (too many devices)</a:t>
            </a:r>
          </a:p>
          <a:p>
            <a:pPr marL="488950" indent="-342900">
              <a:buClr>
                <a:srgbClr val="CC9A00"/>
              </a:buClr>
              <a:buSzPts val="1300"/>
              <a:buFont typeface="Arial" panose="020B0604020202020204" pitchFamily="34" charset="0"/>
              <a:buChar char="•"/>
            </a:pPr>
            <a:r>
              <a:rPr lang="en-US" sz="2000" dirty="0" smtClean="0">
                <a:latin typeface="Times New Roman"/>
                <a:ea typeface="Times New Roman"/>
                <a:cs typeface="Times New Roman"/>
                <a:sym typeface="Times New Roman"/>
              </a:rPr>
              <a:t>Packet </a:t>
            </a:r>
            <a:r>
              <a:rPr lang="en-US" sz="2000" dirty="0">
                <a:latin typeface="Times New Roman"/>
                <a:ea typeface="Times New Roman"/>
                <a:cs typeface="Times New Roman"/>
                <a:sym typeface="Times New Roman"/>
              </a:rPr>
              <a:t>loss &amp; retransmissions</a:t>
            </a:r>
          </a:p>
          <a:p>
            <a:pPr marL="488950" indent="-342900">
              <a:buClr>
                <a:srgbClr val="CC9A00"/>
              </a:buClr>
              <a:buSzPts val="1300"/>
              <a:buFont typeface="Arial" panose="020B0604020202020204" pitchFamily="34" charset="0"/>
              <a:buChar char="•"/>
            </a:pPr>
            <a:r>
              <a:rPr lang="en-US" sz="2000" dirty="0" smtClean="0">
                <a:latin typeface="Times New Roman"/>
                <a:ea typeface="Times New Roman"/>
                <a:cs typeface="Times New Roman"/>
                <a:sym typeface="Times New Roman"/>
              </a:rPr>
              <a:t>Protocol </a:t>
            </a:r>
            <a:r>
              <a:rPr lang="en-US" sz="2000" dirty="0">
                <a:latin typeface="Times New Roman"/>
                <a:ea typeface="Times New Roman"/>
                <a:cs typeface="Times New Roman"/>
                <a:sym typeface="Times New Roman"/>
              </a:rPr>
              <a:t>overhead (headers, control data)</a:t>
            </a:r>
          </a:p>
          <a:p>
            <a:pPr marL="488950" indent="-342900">
              <a:buClr>
                <a:srgbClr val="CC9A00"/>
              </a:buClr>
              <a:buSzPts val="1300"/>
              <a:buFont typeface="Arial" panose="020B0604020202020204" pitchFamily="34" charset="0"/>
              <a:buChar char="•"/>
            </a:pPr>
            <a:r>
              <a:rPr lang="en-US" sz="2000" dirty="0" smtClean="0">
                <a:latin typeface="Times New Roman"/>
                <a:ea typeface="Times New Roman"/>
                <a:cs typeface="Times New Roman"/>
                <a:sym typeface="Times New Roman"/>
              </a:rPr>
              <a:t>Delays </a:t>
            </a:r>
            <a:r>
              <a:rPr lang="en-US" sz="2000" dirty="0">
                <a:latin typeface="Times New Roman"/>
                <a:ea typeface="Times New Roman"/>
                <a:cs typeface="Times New Roman"/>
                <a:sym typeface="Times New Roman"/>
              </a:rPr>
              <a:t>and </a:t>
            </a:r>
            <a:r>
              <a:rPr lang="en-US" sz="2000" dirty="0" smtClean="0">
                <a:latin typeface="Times New Roman"/>
                <a:ea typeface="Times New Roman"/>
                <a:cs typeface="Times New Roman"/>
                <a:sym typeface="Times New Roman"/>
              </a:rPr>
              <a:t>interference</a:t>
            </a:r>
          </a:p>
          <a:p>
            <a:pPr marL="146050">
              <a:buClr>
                <a:srgbClr val="CC9A00"/>
              </a:buClr>
              <a:buSzPts val="1300"/>
            </a:pPr>
            <a:endParaRPr lang="en-US" sz="2000" dirty="0">
              <a:latin typeface="Times New Roman"/>
              <a:ea typeface="Times New Roman"/>
              <a:cs typeface="Times New Roman"/>
              <a:sym typeface="Times New Roman"/>
            </a:endParaRPr>
          </a:p>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Actual data transfer (throughput) is always less than theoretical maximum (bandwidth).</a:t>
            </a: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83247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Question</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48</a:t>
            </a:fld>
            <a:endParaRPr/>
          </a:p>
        </p:txBody>
      </p:sp>
      <p:sp>
        <p:nvSpPr>
          <p:cNvPr id="4" name="Google Shape;56;p8"/>
          <p:cNvSpPr txBox="1"/>
          <p:nvPr/>
        </p:nvSpPr>
        <p:spPr>
          <a:xfrm>
            <a:off x="993900" y="1833375"/>
            <a:ext cx="8142000" cy="406506"/>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In wireless networks, throughput is much lower. Why?</a:t>
            </a: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73247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Answer</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49</a:t>
            </a:fld>
            <a:endParaRPr/>
          </a:p>
        </p:txBody>
      </p:sp>
      <p:sp>
        <p:nvSpPr>
          <p:cNvPr id="4" name="Google Shape;56;p8"/>
          <p:cNvSpPr txBox="1"/>
          <p:nvPr/>
        </p:nvSpPr>
        <p:spPr>
          <a:xfrm>
            <a:off x="993900" y="1833375"/>
            <a:ext cx="8142000" cy="1329836"/>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Throughput in wireless networks is lower because multiple devices share the same medium, and signals are affected by interference, distance, and obstacles. This leads to errors and retransmissions, reducing the actual data transfer rate.</a:t>
            </a: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41145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a:t>Data Transmission Rate (Bit Rate)</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50</a:t>
            </a:fld>
            <a:endParaRPr/>
          </a:p>
        </p:txBody>
      </p:sp>
      <p:sp>
        <p:nvSpPr>
          <p:cNvPr id="4" name="Google Shape;56;p8"/>
          <p:cNvSpPr txBox="1"/>
          <p:nvPr/>
        </p:nvSpPr>
        <p:spPr>
          <a:xfrm>
            <a:off x="993900" y="1833375"/>
            <a:ext cx="8142000" cy="1022060"/>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Number of bits send per </a:t>
            </a:r>
            <a:r>
              <a:rPr lang="en-US" sz="2000" dirty="0" smtClean="0">
                <a:latin typeface="Times New Roman"/>
                <a:ea typeface="Times New Roman"/>
                <a:cs typeface="Times New Roman"/>
                <a:sym typeface="Times New Roman"/>
              </a:rPr>
              <a:t>second</a:t>
            </a:r>
            <a:br>
              <a:rPr lang="en-US" sz="2000" dirty="0" smtClean="0">
                <a:latin typeface="Times New Roman"/>
                <a:ea typeface="Times New Roman"/>
                <a:cs typeface="Times New Roman"/>
                <a:sym typeface="Times New Roman"/>
              </a:rPr>
            </a:br>
            <a:endParaRPr lang="en-US" sz="2000" dirty="0">
              <a:latin typeface="Times New Roman"/>
              <a:ea typeface="Times New Roman"/>
              <a:cs typeface="Times New Roman"/>
              <a:sym typeface="Times New Roman"/>
            </a:endParaRPr>
          </a:p>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Unit: bps </a:t>
            </a: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31619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a:t>Baud Rate (Signaling Rate)</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51</a:t>
            </a:fld>
            <a:endParaRPr/>
          </a:p>
        </p:txBody>
      </p:sp>
      <p:sp>
        <p:nvSpPr>
          <p:cNvPr id="4" name="Google Shape;56;p8"/>
          <p:cNvSpPr txBox="1"/>
          <p:nvPr/>
        </p:nvSpPr>
        <p:spPr>
          <a:xfrm>
            <a:off x="993900" y="1833375"/>
            <a:ext cx="8142000" cy="1022060"/>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The number of signal changes/symbols per second.</a:t>
            </a:r>
            <a:br>
              <a:rPr lang="en-US" sz="2000" dirty="0">
                <a:latin typeface="Times New Roman"/>
                <a:ea typeface="Times New Roman"/>
                <a:cs typeface="Times New Roman"/>
                <a:sym typeface="Times New Roman"/>
              </a:rPr>
            </a:br>
            <a:endParaRPr lang="en-US" sz="2000" dirty="0">
              <a:latin typeface="Times New Roman"/>
              <a:ea typeface="Times New Roman"/>
              <a:cs typeface="Times New Roman"/>
              <a:sym typeface="Times New Roman"/>
            </a:endParaRPr>
          </a:p>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Unit: baud</a:t>
            </a: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02929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Question</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52</a:t>
            </a:fld>
            <a:endParaRPr/>
          </a:p>
        </p:txBody>
      </p:sp>
      <p:sp>
        <p:nvSpPr>
          <p:cNvPr id="4" name="Google Shape;56;p8"/>
          <p:cNvSpPr txBox="1"/>
          <p:nvPr/>
        </p:nvSpPr>
        <p:spPr>
          <a:xfrm>
            <a:off x="993900" y="1833375"/>
            <a:ext cx="8142000" cy="406506"/>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Why Bit rate ≠ Baud rate (always)?</a:t>
            </a:r>
            <a:endParaRPr lang="en-US" sz="2000" dirty="0">
              <a:latin typeface="Times New Roman"/>
              <a:ea typeface="Times New Roman"/>
              <a:cs typeface="Times New Roman"/>
              <a:sym typeface="Times New Roman"/>
            </a:endParaRP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7416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Answer</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53</a:t>
            </a:fld>
            <a:endParaRPr/>
          </a:p>
        </p:txBody>
      </p:sp>
      <p:sp>
        <p:nvSpPr>
          <p:cNvPr id="4" name="Google Shape;56;p8"/>
          <p:cNvSpPr txBox="1"/>
          <p:nvPr/>
        </p:nvSpPr>
        <p:spPr>
          <a:xfrm>
            <a:off x="993900" y="1833375"/>
            <a:ext cx="8142000" cy="406506"/>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Because one signal (symbol) can represent more than one bit</a:t>
            </a:r>
            <a:endParaRPr lang="en-US" sz="2000" dirty="0">
              <a:latin typeface="Times New Roman"/>
              <a:ea typeface="Times New Roman"/>
              <a:cs typeface="Times New Roman"/>
              <a:sym typeface="Times New Roman"/>
            </a:endParaRP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18841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Question</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54</a:t>
            </a:fld>
            <a:endParaRPr/>
          </a:p>
        </p:txBody>
      </p:sp>
      <p:sp>
        <p:nvSpPr>
          <p:cNvPr id="4" name="Google Shape;56;p8"/>
          <p:cNvSpPr txBox="1"/>
          <p:nvPr/>
        </p:nvSpPr>
        <p:spPr>
          <a:xfrm>
            <a:off x="993900" y="1833375"/>
            <a:ext cx="8142000" cy="1637613"/>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Calculate Data Transmission Rate</a:t>
            </a:r>
            <a:r>
              <a:rPr lang="en-US" sz="2000" dirty="0" smtClean="0">
                <a:latin typeface="Times New Roman"/>
                <a:ea typeface="Times New Roman"/>
                <a:cs typeface="Times New Roman"/>
                <a:sym typeface="Times New Roman"/>
              </a:rPr>
              <a:t>?</a:t>
            </a:r>
          </a:p>
          <a:p>
            <a:pPr marL="146050">
              <a:buClr>
                <a:srgbClr val="CC9A00"/>
              </a:buClr>
              <a:buSzPts val="1300"/>
            </a:pPr>
            <a:endParaRPr lang="en-US" sz="2000" dirty="0">
              <a:latin typeface="Times New Roman"/>
              <a:ea typeface="Times New Roman"/>
              <a:cs typeface="Times New Roman"/>
              <a:sym typeface="Times New Roman"/>
            </a:endParaRPr>
          </a:p>
          <a:p>
            <a:pPr marL="146050">
              <a:buClr>
                <a:srgbClr val="CC9A00"/>
              </a:buClr>
              <a:buSzPts val="1300"/>
            </a:pPr>
            <a:r>
              <a:rPr lang="en-US" sz="2000" dirty="0">
                <a:latin typeface="Times New Roman"/>
                <a:ea typeface="Times New Roman"/>
                <a:cs typeface="Times New Roman"/>
                <a:sym typeface="Times New Roman"/>
              </a:rPr>
              <a:t>Given:</a:t>
            </a:r>
          </a:p>
          <a:p>
            <a:pPr marL="488950" indent="-342900">
              <a:buClr>
                <a:srgbClr val="CC9A00"/>
              </a:buClr>
              <a:buSzPts val="1300"/>
              <a:buFont typeface="Arial" panose="020B0604020202020204" pitchFamily="34" charset="0"/>
              <a:buChar char="•"/>
            </a:pPr>
            <a:r>
              <a:rPr lang="en-US" sz="2000" dirty="0" smtClean="0">
                <a:latin typeface="Times New Roman"/>
                <a:ea typeface="Times New Roman"/>
                <a:cs typeface="Times New Roman"/>
                <a:sym typeface="Times New Roman"/>
              </a:rPr>
              <a:t>Baud </a:t>
            </a:r>
            <a:r>
              <a:rPr lang="en-US" sz="2000" dirty="0">
                <a:latin typeface="Times New Roman"/>
                <a:ea typeface="Times New Roman"/>
                <a:cs typeface="Times New Roman"/>
                <a:sym typeface="Times New Roman"/>
              </a:rPr>
              <a:t>rate = 2400 symbols/sec</a:t>
            </a:r>
          </a:p>
          <a:p>
            <a:pPr marL="488950" indent="-342900">
              <a:buClr>
                <a:srgbClr val="CC9A00"/>
              </a:buClr>
              <a:buSzPts val="1300"/>
              <a:buFont typeface="Arial" panose="020B0604020202020204" pitchFamily="34" charset="0"/>
              <a:buChar char="•"/>
            </a:pPr>
            <a:r>
              <a:rPr lang="en-US" sz="2000" dirty="0" smtClean="0">
                <a:latin typeface="Times New Roman"/>
                <a:ea typeface="Times New Roman"/>
                <a:cs typeface="Times New Roman"/>
                <a:sym typeface="Times New Roman"/>
              </a:rPr>
              <a:t>Each </a:t>
            </a:r>
            <a:r>
              <a:rPr lang="en-US" sz="2000" dirty="0">
                <a:latin typeface="Times New Roman"/>
                <a:ea typeface="Times New Roman"/>
                <a:cs typeface="Times New Roman"/>
                <a:sym typeface="Times New Roman"/>
              </a:rPr>
              <a:t>symbol = 2 bits</a:t>
            </a: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02650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Answer</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55</a:t>
            </a:fld>
            <a:endParaRPr/>
          </a:p>
        </p:txBody>
      </p:sp>
      <p:sp>
        <p:nvSpPr>
          <p:cNvPr id="4" name="Google Shape;56;p8"/>
          <p:cNvSpPr txBox="1"/>
          <p:nvPr/>
        </p:nvSpPr>
        <p:spPr>
          <a:xfrm>
            <a:off x="993900" y="1833375"/>
            <a:ext cx="8142000" cy="1329836"/>
          </a:xfrm>
          <a:prstGeom prst="rect">
            <a:avLst/>
          </a:prstGeom>
          <a:noFill/>
          <a:ln>
            <a:noFill/>
          </a:ln>
        </p:spPr>
        <p:txBody>
          <a:bodyPr spcFirstLastPara="1" wrap="square" lIns="0" tIns="97775" rIns="0" bIns="0" anchor="t" anchorCtr="0">
            <a:spAutoFit/>
          </a:bodyPr>
          <a:lstStyle/>
          <a:p>
            <a:pPr marL="146050">
              <a:buClr>
                <a:srgbClr val="CC9A00"/>
              </a:buClr>
              <a:buSzPts val="1300"/>
            </a:pPr>
            <a:r>
              <a:rPr lang="en-US" sz="2000" dirty="0">
                <a:latin typeface="Times New Roman"/>
                <a:ea typeface="Times New Roman"/>
                <a:cs typeface="Times New Roman"/>
                <a:sym typeface="Times New Roman"/>
              </a:rPr>
              <a:t>Bit rate = Baud rate × bits per symbol</a:t>
            </a:r>
          </a:p>
          <a:p>
            <a:pPr marL="146050">
              <a:buClr>
                <a:srgbClr val="CC9A00"/>
              </a:buClr>
              <a:buSzPts val="1300"/>
            </a:pPr>
            <a:r>
              <a:rPr lang="en-US" sz="2000" dirty="0">
                <a:latin typeface="Times New Roman"/>
                <a:ea typeface="Times New Roman"/>
                <a:cs typeface="Times New Roman"/>
                <a:sym typeface="Times New Roman"/>
              </a:rPr>
              <a:t>         = 2400 × 2</a:t>
            </a:r>
          </a:p>
          <a:p>
            <a:pPr marL="146050">
              <a:buClr>
                <a:srgbClr val="CC9A00"/>
              </a:buClr>
              <a:buSzPts val="1300"/>
            </a:pPr>
            <a:r>
              <a:rPr lang="en-US" sz="2000" dirty="0">
                <a:latin typeface="Times New Roman"/>
                <a:ea typeface="Times New Roman"/>
                <a:cs typeface="Times New Roman"/>
                <a:sym typeface="Times New Roman"/>
              </a:rPr>
              <a:t>         = 4800 bps</a:t>
            </a:r>
          </a:p>
          <a:p>
            <a:pPr marL="146050">
              <a:buClr>
                <a:srgbClr val="CC9A00"/>
              </a:buClr>
              <a:buSzPts val="1300"/>
            </a:pPr>
            <a:endParaRPr lang="en-US" sz="2000" dirty="0">
              <a:latin typeface="Times New Roman"/>
              <a:ea typeface="Times New Roman"/>
              <a:cs typeface="Times New Roman"/>
              <a:sym typeface="Times New Roman"/>
            </a:endParaRP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99500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182375"/>
          </a:xfrm>
          <a:prstGeom prst="rect">
            <a:avLst/>
          </a:prstGeom>
          <a:noFill/>
          <a:ln>
            <a:noFill/>
          </a:ln>
        </p:spPr>
        <p:txBody>
          <a:bodyPr spcFirstLastPara="1" wrap="square" lIns="0" tIns="12700" rIns="0" bIns="0" anchor="t" anchorCtr="0">
            <a:spAutoFit/>
          </a:bodyPr>
          <a:lstStyle/>
          <a:p>
            <a:pPr lvl="0"/>
            <a:r>
              <a:rPr lang="en-US" dirty="0" smtClean="0"/>
              <a:t>5. Protocol</a:t>
            </a: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56</a:t>
            </a:fld>
            <a:endParaRPr/>
          </a:p>
        </p:txBody>
      </p:sp>
      <p:sp>
        <p:nvSpPr>
          <p:cNvPr id="4" name="Google Shape;56;p8"/>
          <p:cNvSpPr txBox="1"/>
          <p:nvPr/>
        </p:nvSpPr>
        <p:spPr>
          <a:xfrm>
            <a:off x="993900" y="1833375"/>
            <a:ext cx="8142000" cy="714283"/>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Set of rules both sender and receiver must follow to ensure successful communication.</a:t>
            </a: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86021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Question</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57</a:t>
            </a:fld>
            <a:endParaRPr/>
          </a:p>
        </p:txBody>
      </p:sp>
      <p:sp>
        <p:nvSpPr>
          <p:cNvPr id="4" name="Google Shape;56;p8"/>
          <p:cNvSpPr txBox="1"/>
          <p:nvPr/>
        </p:nvSpPr>
        <p:spPr>
          <a:xfrm>
            <a:off x="993900" y="1833375"/>
            <a:ext cx="8142000" cy="406506"/>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Explain HTTP protocol?</a:t>
            </a:r>
            <a:endParaRPr lang="en-US" sz="2000" dirty="0">
              <a:latin typeface="Times New Roman"/>
              <a:ea typeface="Times New Roman"/>
              <a:cs typeface="Times New Roman"/>
              <a:sym typeface="Times New Roman"/>
            </a:endParaRP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56584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Answer</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58</a:t>
            </a:fld>
            <a:endParaRPr/>
          </a:p>
        </p:txBody>
      </p:sp>
      <p:sp>
        <p:nvSpPr>
          <p:cNvPr id="4" name="Google Shape;56;p8"/>
          <p:cNvSpPr txBox="1"/>
          <p:nvPr/>
        </p:nvSpPr>
        <p:spPr>
          <a:xfrm>
            <a:off x="993900" y="1833375"/>
            <a:ext cx="8142000" cy="2560942"/>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when your browser (the sender) sends a request to a website (the receiver) using HTTP (</a:t>
            </a:r>
            <a:r>
              <a:rPr lang="en-US" sz="2000" dirty="0" err="1">
                <a:latin typeface="Times New Roman"/>
                <a:ea typeface="Times New Roman"/>
                <a:cs typeface="Times New Roman"/>
                <a:sym typeface="Times New Roman"/>
              </a:rPr>
              <a:t>HyperText</a:t>
            </a:r>
            <a:r>
              <a:rPr lang="en-US" sz="2000" dirty="0">
                <a:latin typeface="Times New Roman"/>
                <a:ea typeface="Times New Roman"/>
                <a:cs typeface="Times New Roman"/>
                <a:sym typeface="Times New Roman"/>
              </a:rPr>
              <a:t> Transfer Protocol), the website’s server must also understand and respond using the same protocol. If both ends follow HTTP correctly, the browser can successfully load the webpage. If not, the communication will fail.</a:t>
            </a:r>
          </a:p>
          <a:p>
            <a:pPr marL="457200" indent="-311150">
              <a:buClr>
                <a:srgbClr val="CC9A00"/>
              </a:buClr>
              <a:buSzPts val="1300"/>
              <a:buFont typeface="Noto Sans Symbols"/>
              <a:buChar char="❑"/>
            </a:pPr>
            <a:endParaRPr lang="en-US" sz="2000" dirty="0">
              <a:latin typeface="Times New Roman"/>
              <a:ea typeface="Times New Roman"/>
              <a:cs typeface="Times New Roman"/>
              <a:sym typeface="Times New Roman"/>
            </a:endParaRPr>
          </a:p>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It’s just like two people speaking different languages without understanding each other.</a:t>
            </a: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https://miro.medium.com/v2/resize:fit:640/0*BwJhT9XZwx6qYJc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56217" y="4738989"/>
            <a:ext cx="4217366" cy="16968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282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a:t> </a:t>
            </a:r>
            <a:r>
              <a:rPr lang="en-US" dirty="0" smtClean="0"/>
              <a:t>Rules </a:t>
            </a:r>
            <a:r>
              <a:rPr lang="en-US" dirty="0"/>
              <a:t>or </a:t>
            </a:r>
            <a:r>
              <a:rPr lang="en-US" dirty="0" smtClean="0"/>
              <a:t>Main </a:t>
            </a:r>
            <a:r>
              <a:rPr lang="en-US" dirty="0"/>
              <a:t>aspects in HTTP</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59</a:t>
            </a:fld>
            <a:endParaRPr/>
          </a:p>
        </p:txBody>
      </p:sp>
      <p:sp>
        <p:nvSpPr>
          <p:cNvPr id="4" name="Google Shape;56;p8"/>
          <p:cNvSpPr txBox="1"/>
          <p:nvPr/>
        </p:nvSpPr>
        <p:spPr>
          <a:xfrm>
            <a:off x="993900" y="1833375"/>
            <a:ext cx="8142000" cy="4161380"/>
          </a:xfrm>
          <a:prstGeom prst="rect">
            <a:avLst/>
          </a:prstGeom>
          <a:noFill/>
          <a:ln>
            <a:noFill/>
          </a:ln>
        </p:spPr>
        <p:txBody>
          <a:bodyPr spcFirstLastPara="1" wrap="square" lIns="0" tIns="97775" rIns="0" bIns="0" anchor="t" anchorCtr="0">
            <a:spAutoFit/>
          </a:bodyPr>
          <a:lstStyle/>
          <a:p>
            <a:pPr marL="228600" indent="-228600">
              <a:buAutoNum type="arabicPeriod"/>
            </a:pPr>
            <a:r>
              <a:rPr lang="en-US" sz="1200" dirty="0" smtClean="0">
                <a:solidFill>
                  <a:srgbClr val="242424"/>
                </a:solidFill>
                <a:latin typeface="Times New Roman" panose="02020603050405020304" pitchFamily="18" charset="0"/>
                <a:cs typeface="Times New Roman" panose="02020603050405020304" pitchFamily="18" charset="0"/>
              </a:rPr>
              <a:t>Request </a:t>
            </a:r>
            <a:r>
              <a:rPr lang="en-US" sz="1200" dirty="0">
                <a:solidFill>
                  <a:srgbClr val="242424"/>
                </a:solidFill>
                <a:latin typeface="Times New Roman" panose="02020603050405020304" pitchFamily="18" charset="0"/>
                <a:cs typeface="Times New Roman" panose="02020603050405020304" pitchFamily="18" charset="0"/>
              </a:rPr>
              <a:t>and Response format: Every communication in HTTP follows a specific format</a:t>
            </a:r>
            <a:r>
              <a:rPr lang="en-US" sz="1200" dirty="0" smtClean="0">
                <a:solidFill>
                  <a:srgbClr val="242424"/>
                </a:solidFill>
                <a:latin typeface="Times New Roman" panose="02020603050405020304" pitchFamily="18" charset="0"/>
                <a:cs typeface="Times New Roman" panose="02020603050405020304" pitchFamily="18" charset="0"/>
              </a:rPr>
              <a:t>.</a:t>
            </a:r>
          </a:p>
          <a:p>
            <a:endParaRPr lang="en-US" sz="1200" dirty="0">
              <a:solidFill>
                <a:srgbClr val="242424"/>
              </a:solidFill>
              <a:latin typeface="Times New Roman" panose="02020603050405020304" pitchFamily="18" charset="0"/>
              <a:cs typeface="Times New Roman" panose="02020603050405020304" pitchFamily="18" charset="0"/>
            </a:endParaRPr>
          </a:p>
          <a:p>
            <a:r>
              <a:rPr lang="en-US" sz="1200" dirty="0">
                <a:solidFill>
                  <a:srgbClr val="242424"/>
                </a:solidFill>
                <a:latin typeface="Times New Roman" panose="02020603050405020304" pitchFamily="18" charset="0"/>
                <a:cs typeface="Times New Roman" panose="02020603050405020304" pitchFamily="18" charset="0"/>
              </a:rPr>
              <a:t>A </a:t>
            </a:r>
            <a:r>
              <a:rPr lang="en-US" sz="1200" b="1" dirty="0">
                <a:solidFill>
                  <a:srgbClr val="242424"/>
                </a:solidFill>
                <a:latin typeface="Times New Roman" panose="02020603050405020304" pitchFamily="18" charset="0"/>
                <a:cs typeface="Times New Roman" panose="02020603050405020304" pitchFamily="18" charset="0"/>
              </a:rPr>
              <a:t>request</a:t>
            </a:r>
            <a:r>
              <a:rPr lang="en-US" sz="1200" dirty="0">
                <a:solidFill>
                  <a:srgbClr val="242424"/>
                </a:solidFill>
                <a:latin typeface="Times New Roman" panose="02020603050405020304" pitchFamily="18" charset="0"/>
                <a:cs typeface="Times New Roman" panose="02020603050405020304" pitchFamily="18" charset="0"/>
              </a:rPr>
              <a:t> from the client includes a method.</a:t>
            </a:r>
          </a:p>
          <a:p>
            <a:pPr>
              <a:buFont typeface="Arial" panose="020B0604020202020204" pitchFamily="34" charset="0"/>
              <a:buChar char="•"/>
            </a:pPr>
            <a:r>
              <a:rPr lang="en-US" sz="1200" b="1" dirty="0">
                <a:solidFill>
                  <a:srgbClr val="242424"/>
                </a:solidFill>
                <a:latin typeface="Times New Roman" panose="02020603050405020304" pitchFamily="18" charset="0"/>
                <a:cs typeface="Times New Roman" panose="02020603050405020304" pitchFamily="18" charset="0"/>
              </a:rPr>
              <a:t>GET:</a:t>
            </a:r>
            <a:r>
              <a:rPr lang="en-US" sz="1200" dirty="0">
                <a:solidFill>
                  <a:srgbClr val="242424"/>
                </a:solidFill>
                <a:latin typeface="Times New Roman" panose="02020603050405020304" pitchFamily="18" charset="0"/>
                <a:cs typeface="Times New Roman" panose="02020603050405020304" pitchFamily="18" charset="0"/>
              </a:rPr>
              <a:t> Retrieves data from the server.</a:t>
            </a:r>
          </a:p>
          <a:p>
            <a:pPr>
              <a:buFont typeface="Arial" panose="020B0604020202020204" pitchFamily="34" charset="0"/>
              <a:buChar char="•"/>
            </a:pPr>
            <a:r>
              <a:rPr lang="en-US" sz="1200" b="1" dirty="0">
                <a:solidFill>
                  <a:srgbClr val="242424"/>
                </a:solidFill>
                <a:latin typeface="Times New Roman" panose="02020603050405020304" pitchFamily="18" charset="0"/>
                <a:cs typeface="Times New Roman" panose="02020603050405020304" pitchFamily="18" charset="0"/>
              </a:rPr>
              <a:t>POST:</a:t>
            </a:r>
            <a:r>
              <a:rPr lang="en-US" sz="1200" dirty="0">
                <a:solidFill>
                  <a:srgbClr val="242424"/>
                </a:solidFill>
                <a:latin typeface="Times New Roman" panose="02020603050405020304" pitchFamily="18" charset="0"/>
                <a:cs typeface="Times New Roman" panose="02020603050405020304" pitchFamily="18" charset="0"/>
              </a:rPr>
              <a:t> Sends data to the server, often to create or update resources.</a:t>
            </a:r>
          </a:p>
          <a:p>
            <a:pPr>
              <a:buFont typeface="Arial" panose="020B0604020202020204" pitchFamily="34" charset="0"/>
              <a:buChar char="•"/>
            </a:pPr>
            <a:r>
              <a:rPr lang="en-US" sz="1200" b="1" dirty="0">
                <a:solidFill>
                  <a:srgbClr val="242424"/>
                </a:solidFill>
                <a:latin typeface="Times New Roman" panose="02020603050405020304" pitchFamily="18" charset="0"/>
                <a:cs typeface="Times New Roman" panose="02020603050405020304" pitchFamily="18" charset="0"/>
              </a:rPr>
              <a:t>PUT:</a:t>
            </a:r>
            <a:r>
              <a:rPr lang="en-US" sz="1200" dirty="0">
                <a:solidFill>
                  <a:srgbClr val="242424"/>
                </a:solidFill>
                <a:latin typeface="Times New Roman" panose="02020603050405020304" pitchFamily="18" charset="0"/>
                <a:cs typeface="Times New Roman" panose="02020603050405020304" pitchFamily="18" charset="0"/>
              </a:rPr>
              <a:t> Replaces a resource on the server with the data sent in the request.</a:t>
            </a:r>
          </a:p>
          <a:p>
            <a:pPr>
              <a:buFont typeface="Arial" panose="020B0604020202020204" pitchFamily="34" charset="0"/>
              <a:buChar char="•"/>
            </a:pPr>
            <a:r>
              <a:rPr lang="en-US" sz="1200" b="1" dirty="0">
                <a:solidFill>
                  <a:srgbClr val="242424"/>
                </a:solidFill>
                <a:latin typeface="Times New Roman" panose="02020603050405020304" pitchFamily="18" charset="0"/>
                <a:cs typeface="Times New Roman" panose="02020603050405020304" pitchFamily="18" charset="0"/>
              </a:rPr>
              <a:t>DELETE:</a:t>
            </a:r>
            <a:r>
              <a:rPr lang="en-US" sz="1200" dirty="0">
                <a:solidFill>
                  <a:srgbClr val="242424"/>
                </a:solidFill>
                <a:latin typeface="Times New Roman" panose="02020603050405020304" pitchFamily="18" charset="0"/>
                <a:cs typeface="Times New Roman" panose="02020603050405020304" pitchFamily="18" charset="0"/>
              </a:rPr>
              <a:t> Deletes a resource on the server</a:t>
            </a:r>
            <a:r>
              <a:rPr lang="en-US" sz="1200" dirty="0" smtClean="0">
                <a:solidFill>
                  <a:srgbClr val="242424"/>
                </a:solidFill>
                <a:latin typeface="Times New Roman" panose="02020603050405020304" pitchFamily="18" charset="0"/>
                <a:cs typeface="Times New Roman" panose="02020603050405020304" pitchFamily="18" charset="0"/>
              </a:rPr>
              <a:t>.</a:t>
            </a:r>
          </a:p>
          <a:p>
            <a:endParaRPr lang="en-US" sz="1200" dirty="0">
              <a:solidFill>
                <a:srgbClr val="242424"/>
              </a:solidFill>
              <a:latin typeface="Times New Roman" panose="02020603050405020304" pitchFamily="18" charset="0"/>
              <a:cs typeface="Times New Roman" panose="02020603050405020304" pitchFamily="18" charset="0"/>
            </a:endParaRPr>
          </a:p>
          <a:p>
            <a:r>
              <a:rPr lang="en-US" sz="1200" dirty="0">
                <a:solidFill>
                  <a:srgbClr val="242424"/>
                </a:solidFill>
                <a:latin typeface="Times New Roman" panose="02020603050405020304" pitchFamily="18" charset="0"/>
                <a:cs typeface="Times New Roman" panose="02020603050405020304" pitchFamily="18" charset="0"/>
              </a:rPr>
              <a:t>These methods guide what client wants and how the server should respond. So the client makes a “GET” request means,</a:t>
            </a:r>
          </a:p>
          <a:p>
            <a:r>
              <a:rPr lang="en-US" sz="1200" dirty="0">
                <a:solidFill>
                  <a:srgbClr val="242424"/>
                </a:solidFill>
                <a:latin typeface="Times New Roman" panose="02020603050405020304" pitchFamily="18" charset="0"/>
                <a:cs typeface="Times New Roman" panose="02020603050405020304" pitchFamily="18" charset="0"/>
              </a:rPr>
              <a:t>It is asking the server to </a:t>
            </a:r>
            <a:r>
              <a:rPr lang="en-US" sz="1200" b="1" dirty="0">
                <a:solidFill>
                  <a:srgbClr val="242424"/>
                </a:solidFill>
                <a:latin typeface="Times New Roman" panose="02020603050405020304" pitchFamily="18" charset="0"/>
                <a:cs typeface="Times New Roman" panose="02020603050405020304" pitchFamily="18" charset="0"/>
              </a:rPr>
              <a:t>send back some data</a:t>
            </a:r>
            <a:r>
              <a:rPr lang="en-US" sz="1200" dirty="0">
                <a:solidFill>
                  <a:srgbClr val="242424"/>
                </a:solidFill>
                <a:latin typeface="Times New Roman" panose="02020603050405020304" pitchFamily="18" charset="0"/>
                <a:cs typeface="Times New Roman" panose="02020603050405020304" pitchFamily="18" charset="0"/>
              </a:rPr>
              <a:t> — As an example when you type a URL in your browser and press Enter, the browser sends a GET request to the server to fetch that page. Server process it and responds with the requested data, like an HTML file, and your browser displays it</a:t>
            </a:r>
            <a:r>
              <a:rPr lang="en-US" sz="1200" dirty="0" smtClean="0">
                <a:solidFill>
                  <a:srgbClr val="242424"/>
                </a:solidFill>
                <a:latin typeface="Times New Roman" panose="02020603050405020304" pitchFamily="18" charset="0"/>
                <a:cs typeface="Times New Roman" panose="02020603050405020304" pitchFamily="18" charset="0"/>
              </a:rPr>
              <a:t>.</a:t>
            </a:r>
          </a:p>
          <a:p>
            <a:endParaRPr lang="en-US" sz="1200" dirty="0">
              <a:solidFill>
                <a:srgbClr val="242424"/>
              </a:solidFill>
              <a:latin typeface="Times New Roman" panose="02020603050405020304" pitchFamily="18" charset="0"/>
              <a:cs typeface="Times New Roman" panose="02020603050405020304" pitchFamily="18" charset="0"/>
            </a:endParaRPr>
          </a:p>
          <a:p>
            <a:r>
              <a:rPr lang="en-US" sz="1200" b="1" dirty="0">
                <a:solidFill>
                  <a:srgbClr val="242424"/>
                </a:solidFill>
                <a:latin typeface="Times New Roman" panose="02020603050405020304" pitchFamily="18" charset="0"/>
                <a:cs typeface="Times New Roman" panose="02020603050405020304" pitchFamily="18" charset="0"/>
              </a:rPr>
              <a:t>2.</a:t>
            </a:r>
            <a:r>
              <a:rPr lang="en-US" sz="1200" dirty="0">
                <a:solidFill>
                  <a:srgbClr val="242424"/>
                </a:solidFill>
                <a:latin typeface="Times New Roman" panose="02020603050405020304" pitchFamily="18" charset="0"/>
                <a:cs typeface="Times New Roman" panose="02020603050405020304" pitchFamily="18" charset="0"/>
              </a:rPr>
              <a:t> </a:t>
            </a:r>
            <a:r>
              <a:rPr lang="en-US" sz="1200" b="1" dirty="0">
                <a:solidFill>
                  <a:srgbClr val="242424"/>
                </a:solidFill>
                <a:latin typeface="Times New Roman" panose="02020603050405020304" pitchFamily="18" charset="0"/>
                <a:cs typeface="Times New Roman" panose="02020603050405020304" pitchFamily="18" charset="0"/>
              </a:rPr>
              <a:t>Status </a:t>
            </a:r>
            <a:r>
              <a:rPr lang="en-US" sz="1200" b="1" dirty="0" smtClean="0">
                <a:solidFill>
                  <a:srgbClr val="242424"/>
                </a:solidFill>
                <a:latin typeface="Times New Roman" panose="02020603050405020304" pitchFamily="18" charset="0"/>
                <a:cs typeface="Times New Roman" panose="02020603050405020304" pitchFamily="18" charset="0"/>
              </a:rPr>
              <a:t>Codes</a:t>
            </a:r>
          </a:p>
          <a:p>
            <a:endParaRPr lang="en-US" sz="1200" dirty="0">
              <a:solidFill>
                <a:srgbClr val="242424"/>
              </a:solidFill>
              <a:latin typeface="Times New Roman" panose="02020603050405020304" pitchFamily="18" charset="0"/>
              <a:cs typeface="Times New Roman" panose="02020603050405020304" pitchFamily="18" charset="0"/>
            </a:endParaRPr>
          </a:p>
          <a:p>
            <a:r>
              <a:rPr lang="en-US" sz="1200" dirty="0">
                <a:solidFill>
                  <a:srgbClr val="242424"/>
                </a:solidFill>
                <a:latin typeface="Times New Roman" panose="02020603050405020304" pitchFamily="18" charset="0"/>
                <a:cs typeface="Times New Roman" panose="02020603050405020304" pitchFamily="18" charset="0"/>
              </a:rPr>
              <a:t>When the server responds, it includes a </a:t>
            </a:r>
            <a:r>
              <a:rPr lang="en-US" sz="1200" b="1" dirty="0">
                <a:solidFill>
                  <a:srgbClr val="242424"/>
                </a:solidFill>
                <a:latin typeface="Times New Roman" panose="02020603050405020304" pitchFamily="18" charset="0"/>
                <a:cs typeface="Times New Roman" panose="02020603050405020304" pitchFamily="18" charset="0"/>
              </a:rPr>
              <a:t>status code</a:t>
            </a:r>
            <a:r>
              <a:rPr lang="en-US" sz="1200" dirty="0">
                <a:solidFill>
                  <a:srgbClr val="242424"/>
                </a:solidFill>
                <a:latin typeface="Times New Roman" panose="02020603050405020304" pitchFamily="18" charset="0"/>
                <a:cs typeface="Times New Roman" panose="02020603050405020304" pitchFamily="18" charset="0"/>
              </a:rPr>
              <a:t> to indicate the result of the request. Examples include</a:t>
            </a:r>
            <a:r>
              <a:rPr lang="en-US" sz="1200" dirty="0" smtClean="0">
                <a:solidFill>
                  <a:srgbClr val="242424"/>
                </a:solidFill>
                <a:latin typeface="Times New Roman" panose="02020603050405020304" pitchFamily="18" charset="0"/>
                <a:cs typeface="Times New Roman" panose="02020603050405020304" pitchFamily="18" charset="0"/>
              </a:rPr>
              <a:t>:</a:t>
            </a:r>
          </a:p>
          <a:p>
            <a:endParaRPr lang="en-US" sz="1200" dirty="0">
              <a:solidFill>
                <a:srgbClr val="242424"/>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200" dirty="0">
                <a:solidFill>
                  <a:srgbClr val="242424"/>
                </a:solidFill>
                <a:latin typeface="Times New Roman" panose="02020603050405020304" pitchFamily="18" charset="0"/>
                <a:cs typeface="Times New Roman" panose="02020603050405020304" pitchFamily="18" charset="0"/>
              </a:rPr>
              <a:t>200 OK: The request was successful</a:t>
            </a:r>
          </a:p>
          <a:p>
            <a:pPr>
              <a:buFont typeface="Arial" panose="020B0604020202020204" pitchFamily="34" charset="0"/>
              <a:buChar char="•"/>
            </a:pPr>
            <a:r>
              <a:rPr lang="en-US" sz="1200" dirty="0">
                <a:solidFill>
                  <a:srgbClr val="242424"/>
                </a:solidFill>
                <a:latin typeface="Times New Roman" panose="02020603050405020304" pitchFamily="18" charset="0"/>
                <a:cs typeface="Times New Roman" panose="02020603050405020304" pitchFamily="18" charset="0"/>
              </a:rPr>
              <a:t>404 Not Found: The requested resource doesn’t exist</a:t>
            </a:r>
          </a:p>
          <a:p>
            <a:pPr>
              <a:buFont typeface="Arial" panose="020B0604020202020204" pitchFamily="34" charset="0"/>
              <a:buChar char="•"/>
            </a:pPr>
            <a:r>
              <a:rPr lang="en-US" sz="1200" dirty="0">
                <a:solidFill>
                  <a:srgbClr val="242424"/>
                </a:solidFill>
                <a:latin typeface="Times New Roman" panose="02020603050405020304" pitchFamily="18" charset="0"/>
                <a:cs typeface="Times New Roman" panose="02020603050405020304" pitchFamily="18" charset="0"/>
              </a:rPr>
              <a:t>500 Internal Server Error: A problem occurred on the </a:t>
            </a:r>
            <a:r>
              <a:rPr lang="en-US" sz="1200" dirty="0" smtClean="0">
                <a:solidFill>
                  <a:srgbClr val="242424"/>
                </a:solidFill>
                <a:latin typeface="Times New Roman" panose="02020603050405020304" pitchFamily="18" charset="0"/>
                <a:cs typeface="Times New Roman" panose="02020603050405020304" pitchFamily="18" charset="0"/>
              </a:rPr>
              <a:t>server</a:t>
            </a:r>
          </a:p>
          <a:p>
            <a:endParaRPr lang="en-US" sz="1200" dirty="0">
              <a:solidFill>
                <a:srgbClr val="242424"/>
              </a:solidFill>
              <a:latin typeface="Times New Roman" panose="02020603050405020304" pitchFamily="18" charset="0"/>
              <a:cs typeface="Times New Roman" panose="02020603050405020304" pitchFamily="18" charset="0"/>
            </a:endParaRPr>
          </a:p>
          <a:p>
            <a:r>
              <a:rPr lang="en-US" sz="1200" dirty="0">
                <a:solidFill>
                  <a:srgbClr val="242424"/>
                </a:solidFill>
                <a:latin typeface="Times New Roman" panose="02020603050405020304" pitchFamily="18" charset="0"/>
                <a:cs typeface="Times New Roman" panose="02020603050405020304" pitchFamily="18" charset="0"/>
              </a:rPr>
              <a:t>These codes help the browser or client app understand what happened</a:t>
            </a:r>
            <a:r>
              <a:rPr lang="en-US" sz="1200" dirty="0" smtClean="0">
                <a:solidFill>
                  <a:srgbClr val="242424"/>
                </a:solidFill>
                <a:latin typeface="Times New Roman" panose="02020603050405020304" pitchFamily="18" charset="0"/>
                <a:cs typeface="Times New Roman" panose="02020603050405020304" pitchFamily="18" charset="0"/>
              </a:rPr>
              <a:t>.</a:t>
            </a: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80702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60</a:t>
            </a:fld>
            <a:endParaRPr/>
          </a:p>
        </p:txBody>
      </p:sp>
      <p:sp>
        <p:nvSpPr>
          <p:cNvPr id="4" name="Google Shape;56;p8"/>
          <p:cNvSpPr txBox="1"/>
          <p:nvPr/>
        </p:nvSpPr>
        <p:spPr>
          <a:xfrm>
            <a:off x="1123109" y="879219"/>
            <a:ext cx="8142000" cy="3792049"/>
          </a:xfrm>
          <a:prstGeom prst="rect">
            <a:avLst/>
          </a:prstGeom>
          <a:noFill/>
          <a:ln>
            <a:noFill/>
          </a:ln>
        </p:spPr>
        <p:txBody>
          <a:bodyPr spcFirstLastPara="1" wrap="square" lIns="0" tIns="97775" rIns="0" bIns="0" anchor="t" anchorCtr="0">
            <a:spAutoFit/>
          </a:bodyPr>
          <a:lstStyle/>
          <a:p>
            <a:r>
              <a:rPr lang="en-US" sz="1200" b="1" dirty="0" smtClean="0">
                <a:solidFill>
                  <a:srgbClr val="242424"/>
                </a:solidFill>
                <a:latin typeface="Times New Roman" panose="02020603050405020304" pitchFamily="18" charset="0"/>
                <a:cs typeface="Times New Roman" panose="02020603050405020304" pitchFamily="18" charset="0"/>
              </a:rPr>
              <a:t>3</a:t>
            </a:r>
            <a:r>
              <a:rPr lang="en-US" sz="1200" b="1" dirty="0">
                <a:solidFill>
                  <a:srgbClr val="242424"/>
                </a:solidFill>
                <a:latin typeface="Times New Roman" panose="02020603050405020304" pitchFamily="18" charset="0"/>
                <a:cs typeface="Times New Roman" panose="02020603050405020304" pitchFamily="18" charset="0"/>
              </a:rPr>
              <a:t>.</a:t>
            </a:r>
            <a:r>
              <a:rPr lang="en-US" sz="1200" dirty="0">
                <a:solidFill>
                  <a:srgbClr val="242424"/>
                </a:solidFill>
                <a:latin typeface="Times New Roman" panose="02020603050405020304" pitchFamily="18" charset="0"/>
                <a:cs typeface="Times New Roman" panose="02020603050405020304" pitchFamily="18" charset="0"/>
              </a:rPr>
              <a:t> </a:t>
            </a:r>
            <a:r>
              <a:rPr lang="en-US" sz="1200" b="1" dirty="0" smtClean="0">
                <a:solidFill>
                  <a:srgbClr val="242424"/>
                </a:solidFill>
                <a:latin typeface="Times New Roman" panose="02020603050405020304" pitchFamily="18" charset="0"/>
                <a:cs typeface="Times New Roman" panose="02020603050405020304" pitchFamily="18" charset="0"/>
              </a:rPr>
              <a:t>Headers</a:t>
            </a:r>
          </a:p>
          <a:p>
            <a:endParaRPr lang="en-US" sz="1200" dirty="0">
              <a:solidFill>
                <a:srgbClr val="242424"/>
              </a:solidFill>
              <a:latin typeface="Times New Roman" panose="02020603050405020304" pitchFamily="18" charset="0"/>
              <a:cs typeface="Times New Roman" panose="02020603050405020304" pitchFamily="18" charset="0"/>
            </a:endParaRPr>
          </a:p>
          <a:p>
            <a:r>
              <a:rPr lang="en-US" sz="1200" dirty="0">
                <a:solidFill>
                  <a:srgbClr val="242424"/>
                </a:solidFill>
                <a:latin typeface="Times New Roman" panose="02020603050405020304" pitchFamily="18" charset="0"/>
                <a:cs typeface="Times New Roman" panose="02020603050405020304" pitchFamily="18" charset="0"/>
              </a:rPr>
              <a:t>Headers provide extra information about the request or response, such as</a:t>
            </a:r>
            <a:r>
              <a:rPr lang="en-US" sz="1200" dirty="0" smtClean="0">
                <a:solidFill>
                  <a:srgbClr val="242424"/>
                </a:solidFill>
                <a:latin typeface="Times New Roman" panose="02020603050405020304" pitchFamily="18" charset="0"/>
                <a:cs typeface="Times New Roman" panose="02020603050405020304" pitchFamily="18" charset="0"/>
              </a:rPr>
              <a:t>:</a:t>
            </a:r>
          </a:p>
          <a:p>
            <a:endParaRPr lang="en-US" sz="1200" dirty="0">
              <a:solidFill>
                <a:srgbClr val="242424"/>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200" dirty="0">
                <a:solidFill>
                  <a:srgbClr val="242424"/>
                </a:solidFill>
                <a:latin typeface="Times New Roman" panose="02020603050405020304" pitchFamily="18" charset="0"/>
                <a:cs typeface="Times New Roman" panose="02020603050405020304" pitchFamily="18" charset="0"/>
              </a:rPr>
              <a:t>Content-Type: Tells what kind of data is being sent (e.g., HTML, JSON)</a:t>
            </a:r>
          </a:p>
          <a:p>
            <a:pPr>
              <a:buFont typeface="Arial" panose="020B0604020202020204" pitchFamily="34" charset="0"/>
              <a:buChar char="•"/>
            </a:pPr>
            <a:r>
              <a:rPr lang="en-US" sz="1200" dirty="0">
                <a:solidFill>
                  <a:srgbClr val="242424"/>
                </a:solidFill>
                <a:latin typeface="Times New Roman" panose="02020603050405020304" pitchFamily="18" charset="0"/>
                <a:cs typeface="Times New Roman" panose="02020603050405020304" pitchFamily="18" charset="0"/>
              </a:rPr>
              <a:t>User-Agent: Identifies the browser</a:t>
            </a:r>
          </a:p>
          <a:p>
            <a:pPr>
              <a:buFont typeface="Arial" panose="020B0604020202020204" pitchFamily="34" charset="0"/>
              <a:buChar char="•"/>
            </a:pPr>
            <a:r>
              <a:rPr lang="en-US" sz="1200" dirty="0">
                <a:solidFill>
                  <a:srgbClr val="242424"/>
                </a:solidFill>
                <a:latin typeface="Times New Roman" panose="02020603050405020304" pitchFamily="18" charset="0"/>
                <a:cs typeface="Times New Roman" panose="02020603050405020304" pitchFamily="18" charset="0"/>
              </a:rPr>
              <a:t>Authorization: Contains login credentials or </a:t>
            </a:r>
            <a:r>
              <a:rPr lang="en-US" sz="1200" dirty="0" smtClean="0">
                <a:solidFill>
                  <a:srgbClr val="242424"/>
                </a:solidFill>
                <a:latin typeface="Times New Roman" panose="02020603050405020304" pitchFamily="18" charset="0"/>
                <a:cs typeface="Times New Roman" panose="02020603050405020304" pitchFamily="18" charset="0"/>
              </a:rPr>
              <a:t>tokens</a:t>
            </a:r>
          </a:p>
          <a:p>
            <a:r>
              <a:rPr lang="en-US" sz="1200" dirty="0">
                <a:solidFill>
                  <a:srgbClr val="242424"/>
                </a:solidFill>
                <a:latin typeface="Times New Roman" panose="02020603050405020304" pitchFamily="18" charset="0"/>
                <a:cs typeface="Times New Roman" panose="02020603050405020304" pitchFamily="18" charset="0"/>
              </a:rPr>
              <a:t/>
            </a:r>
            <a:br>
              <a:rPr lang="en-US" sz="1200" dirty="0">
                <a:solidFill>
                  <a:srgbClr val="242424"/>
                </a:solidFill>
                <a:latin typeface="Times New Roman" panose="02020603050405020304" pitchFamily="18" charset="0"/>
                <a:cs typeface="Times New Roman" panose="02020603050405020304" pitchFamily="18" charset="0"/>
              </a:rPr>
            </a:br>
            <a:r>
              <a:rPr lang="en-US" sz="1200" dirty="0">
                <a:solidFill>
                  <a:srgbClr val="242424"/>
                </a:solidFill>
                <a:latin typeface="Times New Roman" panose="02020603050405020304" pitchFamily="18" charset="0"/>
                <a:cs typeface="Times New Roman" panose="02020603050405020304" pitchFamily="18" charset="0"/>
              </a:rPr>
              <a:t>Headers are key-value pairs that add context to the communication</a:t>
            </a:r>
            <a:r>
              <a:rPr lang="en-US" sz="1200" dirty="0" smtClean="0">
                <a:solidFill>
                  <a:srgbClr val="242424"/>
                </a:solidFill>
                <a:latin typeface="Times New Roman" panose="02020603050405020304" pitchFamily="18" charset="0"/>
                <a:cs typeface="Times New Roman" panose="02020603050405020304" pitchFamily="18" charset="0"/>
              </a:rPr>
              <a:t>.</a:t>
            </a:r>
          </a:p>
          <a:p>
            <a:endParaRPr lang="en-US" sz="1200" dirty="0">
              <a:solidFill>
                <a:srgbClr val="242424"/>
              </a:solidFill>
              <a:latin typeface="Times New Roman" panose="02020603050405020304" pitchFamily="18" charset="0"/>
              <a:cs typeface="Times New Roman" panose="02020603050405020304" pitchFamily="18" charset="0"/>
            </a:endParaRPr>
          </a:p>
          <a:p>
            <a:r>
              <a:rPr lang="en-US" sz="1200" b="1" dirty="0">
                <a:solidFill>
                  <a:srgbClr val="242424"/>
                </a:solidFill>
                <a:latin typeface="Times New Roman" panose="02020603050405020304" pitchFamily="18" charset="0"/>
                <a:cs typeface="Times New Roman" panose="02020603050405020304" pitchFamily="18" charset="0"/>
              </a:rPr>
              <a:t>4.</a:t>
            </a:r>
            <a:r>
              <a:rPr lang="en-US" sz="1200" dirty="0">
                <a:solidFill>
                  <a:srgbClr val="242424"/>
                </a:solidFill>
                <a:latin typeface="Times New Roman" panose="02020603050405020304" pitchFamily="18" charset="0"/>
                <a:cs typeface="Times New Roman" panose="02020603050405020304" pitchFamily="18" charset="0"/>
              </a:rPr>
              <a:t> </a:t>
            </a:r>
            <a:r>
              <a:rPr lang="en-US" sz="1200" b="1" dirty="0" smtClean="0">
                <a:solidFill>
                  <a:srgbClr val="242424"/>
                </a:solidFill>
                <a:latin typeface="Times New Roman" panose="02020603050405020304" pitchFamily="18" charset="0"/>
                <a:cs typeface="Times New Roman" panose="02020603050405020304" pitchFamily="18" charset="0"/>
              </a:rPr>
              <a:t>Statelessness</a:t>
            </a:r>
          </a:p>
          <a:p>
            <a:endParaRPr lang="en-US" sz="1200" dirty="0">
              <a:solidFill>
                <a:srgbClr val="242424"/>
              </a:solidFill>
              <a:latin typeface="Times New Roman" panose="02020603050405020304" pitchFamily="18" charset="0"/>
              <a:cs typeface="Times New Roman" panose="02020603050405020304" pitchFamily="18" charset="0"/>
            </a:endParaRPr>
          </a:p>
          <a:p>
            <a:r>
              <a:rPr lang="en-US" sz="1200" dirty="0">
                <a:solidFill>
                  <a:srgbClr val="242424"/>
                </a:solidFill>
                <a:latin typeface="Times New Roman" panose="02020603050405020304" pitchFamily="18" charset="0"/>
                <a:cs typeface="Times New Roman" panose="02020603050405020304" pitchFamily="18" charset="0"/>
              </a:rPr>
              <a:t>Also HTTP is stateless, meaning each request is treated independently. The server does not remember anything about previous requests from the same client</a:t>
            </a:r>
            <a:r>
              <a:rPr lang="en-US" sz="1200" dirty="0" smtClean="0">
                <a:solidFill>
                  <a:srgbClr val="242424"/>
                </a:solidFill>
                <a:latin typeface="Times New Roman" panose="02020603050405020304" pitchFamily="18" charset="0"/>
                <a:cs typeface="Times New Roman" panose="02020603050405020304" pitchFamily="18" charset="0"/>
              </a:rPr>
              <a:t>.</a:t>
            </a:r>
          </a:p>
          <a:p>
            <a:endParaRPr lang="en-US" sz="1200" dirty="0">
              <a:solidFill>
                <a:srgbClr val="242424"/>
              </a:solidFill>
              <a:latin typeface="Times New Roman" panose="02020603050405020304" pitchFamily="18" charset="0"/>
              <a:cs typeface="Times New Roman" panose="02020603050405020304" pitchFamily="18" charset="0"/>
            </a:endParaRPr>
          </a:p>
          <a:p>
            <a:endParaRPr lang="en-US" sz="1200" dirty="0" smtClean="0">
              <a:solidFill>
                <a:srgbClr val="242424"/>
              </a:solidFill>
              <a:latin typeface="Times New Roman" panose="02020603050405020304" pitchFamily="18" charset="0"/>
              <a:cs typeface="Times New Roman" panose="02020603050405020304" pitchFamily="18" charset="0"/>
            </a:endParaRPr>
          </a:p>
          <a:p>
            <a:r>
              <a:rPr lang="en-US" sz="1200" dirty="0">
                <a:solidFill>
                  <a:srgbClr val="242424"/>
                </a:solidFill>
                <a:latin typeface="Times New Roman" panose="02020603050405020304" pitchFamily="18" charset="0"/>
                <a:cs typeface="Times New Roman" panose="02020603050405020304" pitchFamily="18" charset="0"/>
              </a:rPr>
              <a:t>Like HTTP we have </a:t>
            </a:r>
            <a:r>
              <a:rPr lang="en-US" sz="1200" dirty="0" smtClean="0">
                <a:solidFill>
                  <a:srgbClr val="242424"/>
                </a:solidFill>
                <a:latin typeface="Times New Roman" panose="02020603050405020304" pitchFamily="18" charset="0"/>
                <a:cs typeface="Times New Roman" panose="02020603050405020304" pitchFamily="18" charset="0"/>
              </a:rPr>
              <a:t>other </a:t>
            </a:r>
            <a:r>
              <a:rPr lang="en-US" sz="1200" dirty="0">
                <a:solidFill>
                  <a:srgbClr val="242424"/>
                </a:solidFill>
                <a:latin typeface="Times New Roman" panose="02020603050405020304" pitchFamily="18" charset="0"/>
                <a:cs typeface="Times New Roman" panose="02020603050405020304" pitchFamily="18" charset="0"/>
              </a:rPr>
              <a:t>protocols.</a:t>
            </a:r>
          </a:p>
          <a:p>
            <a:endParaRPr lang="en-US" sz="1200" dirty="0">
              <a:solidFill>
                <a:srgbClr val="242424"/>
              </a:solidFill>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US" sz="1200" dirty="0">
                <a:solidFill>
                  <a:srgbClr val="242424"/>
                </a:solidFill>
                <a:latin typeface="Times New Roman" panose="02020603050405020304" pitchFamily="18" charset="0"/>
                <a:cs typeface="Times New Roman" panose="02020603050405020304" pitchFamily="18" charset="0"/>
              </a:rPr>
              <a:t>FTP (File Transfer </a:t>
            </a:r>
            <a:r>
              <a:rPr lang="en-US" sz="1200" dirty="0" smtClean="0">
                <a:solidFill>
                  <a:srgbClr val="242424"/>
                </a:solidFill>
                <a:latin typeface="Times New Roman" panose="02020603050405020304" pitchFamily="18" charset="0"/>
                <a:cs typeface="Times New Roman" panose="02020603050405020304" pitchFamily="18" charset="0"/>
              </a:rPr>
              <a:t>Protocol) - Used </a:t>
            </a:r>
            <a:r>
              <a:rPr lang="en-US" sz="1200" dirty="0">
                <a:solidFill>
                  <a:srgbClr val="242424"/>
                </a:solidFill>
                <a:latin typeface="Times New Roman" panose="02020603050405020304" pitchFamily="18" charset="0"/>
                <a:cs typeface="Times New Roman" panose="02020603050405020304" pitchFamily="18" charset="0"/>
              </a:rPr>
              <a:t>for transferring files between a client and server.</a:t>
            </a:r>
          </a:p>
          <a:p>
            <a:pPr marL="171450" indent="-171450">
              <a:buFont typeface="Arial" panose="020B0604020202020204" pitchFamily="34" charset="0"/>
              <a:buChar char="•"/>
            </a:pPr>
            <a:r>
              <a:rPr lang="en-US" sz="1200" dirty="0" smtClean="0">
                <a:solidFill>
                  <a:srgbClr val="242424"/>
                </a:solidFill>
                <a:latin typeface="Times New Roman" panose="02020603050405020304" pitchFamily="18" charset="0"/>
                <a:cs typeface="Times New Roman" panose="02020603050405020304" pitchFamily="18" charset="0"/>
              </a:rPr>
              <a:t>SMTP </a:t>
            </a:r>
            <a:r>
              <a:rPr lang="en-US" sz="1200" dirty="0">
                <a:solidFill>
                  <a:srgbClr val="242424"/>
                </a:solidFill>
                <a:latin typeface="Times New Roman" panose="02020603050405020304" pitchFamily="18" charset="0"/>
                <a:cs typeface="Times New Roman" panose="02020603050405020304" pitchFamily="18" charset="0"/>
              </a:rPr>
              <a:t>(Simple Mail Transfer </a:t>
            </a:r>
            <a:r>
              <a:rPr lang="en-US" sz="1200" dirty="0" smtClean="0">
                <a:solidFill>
                  <a:srgbClr val="242424"/>
                </a:solidFill>
                <a:latin typeface="Times New Roman" panose="02020603050405020304" pitchFamily="18" charset="0"/>
                <a:cs typeface="Times New Roman" panose="02020603050405020304" pitchFamily="18" charset="0"/>
              </a:rPr>
              <a:t>Protocol) - Used </a:t>
            </a:r>
            <a:r>
              <a:rPr lang="en-US" sz="1200" dirty="0">
                <a:solidFill>
                  <a:srgbClr val="242424"/>
                </a:solidFill>
                <a:latin typeface="Times New Roman" panose="02020603050405020304" pitchFamily="18" charset="0"/>
                <a:cs typeface="Times New Roman" panose="02020603050405020304" pitchFamily="18" charset="0"/>
              </a:rPr>
              <a:t>for sending emails from a client to a mail server.</a:t>
            </a:r>
          </a:p>
        </p:txBody>
      </p:sp>
    </p:spTree>
    <p:extLst>
      <p:ext uri="{BB962C8B-B14F-4D97-AF65-F5344CB8AC3E}">
        <p14:creationId xmlns:p14="http://schemas.microsoft.com/office/powerpoint/2010/main" val="1233620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a:t>Network Infrastructure</a:t>
            </a:r>
            <a:endParaRPr sz="3600" dirty="0"/>
          </a:p>
        </p:txBody>
      </p:sp>
      <p:sp>
        <p:nvSpPr>
          <p:cNvPr id="56" name="Google Shape;56;p8"/>
          <p:cNvSpPr txBox="1"/>
          <p:nvPr/>
        </p:nvSpPr>
        <p:spPr>
          <a:xfrm>
            <a:off x="883805" y="1864906"/>
            <a:ext cx="8142000" cy="1945389"/>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a:latin typeface="CiscoSansTT"/>
              </a:rPr>
              <a:t>The network infrastructure contains three categories of hardware </a:t>
            </a:r>
            <a:r>
              <a:rPr lang="en-US" sz="2000" dirty="0" smtClean="0">
                <a:latin typeface="CiscoSansTT"/>
              </a:rPr>
              <a:t>components.</a:t>
            </a:r>
          </a:p>
          <a:p>
            <a:pPr marL="146050" lvl="0">
              <a:buClr>
                <a:srgbClr val="CC9A00"/>
              </a:buClr>
              <a:buSzPts val="1300"/>
            </a:pPr>
            <a:r>
              <a:rPr lang="en-US" sz="2000" dirty="0" smtClean="0">
                <a:latin typeface="Times New Roman"/>
                <a:ea typeface="Times New Roman"/>
                <a:cs typeface="Times New Roman"/>
                <a:sym typeface="Times New Roman"/>
              </a:rPr>
              <a:t> </a:t>
            </a:r>
          </a:p>
          <a:p>
            <a:pPr marL="342900" lvl="2" indent="-342900">
              <a:buFont typeface="Wingdings" panose="05000000000000000000" pitchFamily="2" charset="2"/>
              <a:buChar char="q"/>
            </a:pPr>
            <a:r>
              <a:rPr lang="en-US" sz="2000" dirty="0" smtClean="0">
                <a:latin typeface="CiscoSansTT"/>
              </a:rPr>
              <a:t> End </a:t>
            </a:r>
            <a:r>
              <a:rPr lang="en-US" sz="2000" dirty="0">
                <a:latin typeface="CiscoSansTT"/>
              </a:rPr>
              <a:t>devices</a:t>
            </a:r>
          </a:p>
          <a:p>
            <a:pPr marL="342900" lvl="2" indent="-342900">
              <a:buFont typeface="Wingdings" panose="05000000000000000000" pitchFamily="2" charset="2"/>
              <a:buChar char="q"/>
            </a:pPr>
            <a:r>
              <a:rPr lang="en-US" sz="2000" dirty="0" smtClean="0">
                <a:latin typeface="CiscoSansTT"/>
              </a:rPr>
              <a:t> Intermediate </a:t>
            </a:r>
            <a:r>
              <a:rPr lang="en-US" sz="2000" dirty="0">
                <a:latin typeface="CiscoSansTT"/>
              </a:rPr>
              <a:t>devices</a:t>
            </a:r>
          </a:p>
          <a:p>
            <a:pPr marL="342900" lvl="2" indent="-342900">
              <a:buFont typeface="Wingdings" panose="05000000000000000000" pitchFamily="2" charset="2"/>
              <a:buChar char="q"/>
            </a:pPr>
            <a:r>
              <a:rPr lang="en-US" sz="2000" dirty="0" smtClean="0">
                <a:latin typeface="CiscoSansTT"/>
              </a:rPr>
              <a:t> Network </a:t>
            </a:r>
            <a:r>
              <a:rPr lang="en-US" sz="2000" dirty="0">
                <a:latin typeface="CiscoSansTT"/>
              </a:rPr>
              <a:t>media</a:t>
            </a: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61</a:t>
            </a:fld>
            <a:endParaRPr/>
          </a:p>
        </p:txBody>
      </p:sp>
      <p:pic>
        <p:nvPicPr>
          <p:cNvPr id="2" name="Picture 1"/>
          <p:cNvPicPr>
            <a:picLocks noChangeAspect="1"/>
          </p:cNvPicPr>
          <p:nvPr/>
        </p:nvPicPr>
        <p:blipFill>
          <a:blip r:embed="rId3"/>
          <a:stretch>
            <a:fillRect/>
          </a:stretch>
        </p:blipFill>
        <p:spPr>
          <a:xfrm>
            <a:off x="4257755" y="2637201"/>
            <a:ext cx="5161561" cy="1595586"/>
          </a:xfrm>
          <a:prstGeom prst="rect">
            <a:avLst/>
          </a:prstGeom>
        </p:spPr>
      </p:pic>
      <p:pic>
        <p:nvPicPr>
          <p:cNvPr id="3" name="Picture 2"/>
          <p:cNvPicPr>
            <a:picLocks noChangeAspect="1"/>
          </p:cNvPicPr>
          <p:nvPr/>
        </p:nvPicPr>
        <p:blipFill>
          <a:blip r:embed="rId4"/>
          <a:stretch>
            <a:fillRect/>
          </a:stretch>
        </p:blipFill>
        <p:spPr>
          <a:xfrm>
            <a:off x="344971" y="4692659"/>
            <a:ext cx="5435436" cy="1693393"/>
          </a:xfrm>
          <a:prstGeom prst="rect">
            <a:avLst/>
          </a:prstGeom>
        </p:spPr>
      </p:pic>
      <p:pic>
        <p:nvPicPr>
          <p:cNvPr id="4" name="Picture 3"/>
          <p:cNvPicPr>
            <a:picLocks noChangeAspect="1"/>
          </p:cNvPicPr>
          <p:nvPr/>
        </p:nvPicPr>
        <p:blipFill>
          <a:blip r:embed="rId5"/>
          <a:stretch>
            <a:fillRect/>
          </a:stretch>
        </p:blipFill>
        <p:spPr>
          <a:xfrm>
            <a:off x="5578786" y="4692659"/>
            <a:ext cx="4173028" cy="1595954"/>
          </a:xfrm>
          <a:prstGeom prst="rect">
            <a:avLst/>
          </a:prstGeom>
        </p:spPr>
      </p:pic>
    </p:spTree>
    <p:extLst>
      <p:ext uri="{BB962C8B-B14F-4D97-AF65-F5344CB8AC3E}">
        <p14:creationId xmlns:p14="http://schemas.microsoft.com/office/powerpoint/2010/main" val="3951266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pic>
        <p:nvPicPr>
          <p:cNvPr id="11268" name="Picture 4" descr="Internet Connection Hub Switch Stock Photo - Image of business, background: 12738562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7644" y="176127"/>
            <a:ext cx="3380556" cy="2256521"/>
          </a:xfrm>
          <a:prstGeom prst="rect">
            <a:avLst/>
          </a:prstGeom>
          <a:noFill/>
          <a:extLst>
            <a:ext uri="{909E8E84-426E-40DD-AFC4-6F175D3DCCD1}">
              <a14:hiddenFill xmlns:a14="http://schemas.microsoft.com/office/drawing/2010/main">
                <a:solidFill>
                  <a:srgbClr val="FFFFFF"/>
                </a:solidFill>
              </a14:hiddenFill>
            </a:ext>
          </a:extLst>
        </p:spPr>
      </p:pic>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a:t>Hub</a:t>
            </a:r>
            <a:endParaRPr sz="3600" dirty="0"/>
          </a:p>
        </p:txBody>
      </p:sp>
      <p:sp>
        <p:nvSpPr>
          <p:cNvPr id="56" name="Google Shape;56;p8"/>
          <p:cNvSpPr txBox="1"/>
          <p:nvPr/>
        </p:nvSpPr>
        <p:spPr>
          <a:xfrm>
            <a:off x="883805" y="1732170"/>
            <a:ext cx="8142000" cy="4715378"/>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A hub is the most basic way of connecting several devices in a local area network (LAN). </a:t>
            </a:r>
            <a:endParaRPr lang="en-US" sz="2000" dirty="0" smtClean="0">
              <a:latin typeface="Times New Roman"/>
              <a:ea typeface="Times New Roman"/>
              <a:cs typeface="Times New Roman"/>
              <a:sym typeface="Times New Roman"/>
            </a:endParaRPr>
          </a:p>
          <a:p>
            <a:pPr marL="146050" lvl="0">
              <a:buClr>
                <a:srgbClr val="CC9A00"/>
              </a:buClr>
              <a:buSzPts val="1300"/>
            </a:pP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A </a:t>
            </a:r>
            <a:r>
              <a:rPr lang="en-US" sz="2000" dirty="0">
                <a:latin typeface="Times New Roman"/>
                <a:ea typeface="Times New Roman"/>
                <a:cs typeface="Times New Roman"/>
                <a:sym typeface="Times New Roman"/>
              </a:rPr>
              <a:t>hub receives data packets and forwards them on to all devices that are connected to the hub. Only the intended destination device will accept the data sent; the other devices connected to the hub will just ignore it. </a:t>
            </a:r>
            <a:endParaRPr lang="en-US" sz="2000" dirty="0" smtClean="0">
              <a:latin typeface="Times New Roman"/>
              <a:ea typeface="Times New Roman"/>
              <a:cs typeface="Times New Roman"/>
              <a:sym typeface="Times New Roman"/>
            </a:endParaRPr>
          </a:p>
          <a:p>
            <a:pPr marL="146050" lvl="0">
              <a:buClr>
                <a:srgbClr val="CC9A00"/>
              </a:buClr>
              <a:buSzPts val="1300"/>
            </a:pP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Each </a:t>
            </a:r>
            <a:r>
              <a:rPr lang="en-US" sz="2000" dirty="0">
                <a:latin typeface="Times New Roman"/>
                <a:ea typeface="Times New Roman"/>
                <a:cs typeface="Times New Roman"/>
                <a:sym typeface="Times New Roman"/>
              </a:rPr>
              <a:t>device is connected to a hub using a wired connection. </a:t>
            </a:r>
            <a:endParaRPr lang="en-US" sz="2000" dirty="0" smtClean="0">
              <a:latin typeface="Times New Roman"/>
              <a:ea typeface="Times New Roman"/>
              <a:cs typeface="Times New Roman"/>
              <a:sym typeface="Times New Roman"/>
            </a:endParaRPr>
          </a:p>
          <a:p>
            <a:pPr marL="146050" lvl="0">
              <a:buClr>
                <a:srgbClr val="CC9A00"/>
              </a:buClr>
              <a:buSzPts val="1300"/>
            </a:pP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The </a:t>
            </a:r>
            <a:r>
              <a:rPr lang="en-US" sz="2000" dirty="0">
                <a:latin typeface="Times New Roman"/>
                <a:ea typeface="Times New Roman"/>
                <a:cs typeface="Times New Roman"/>
                <a:sym typeface="Times New Roman"/>
              </a:rPr>
              <a:t>type of wired connection normally used for a hub is either an </a:t>
            </a:r>
            <a:r>
              <a:rPr lang="en-US" sz="2000" dirty="0" err="1">
                <a:latin typeface="Times New Roman"/>
                <a:ea typeface="Times New Roman"/>
                <a:cs typeface="Times New Roman"/>
                <a:sym typeface="Times New Roman"/>
              </a:rPr>
              <a:t>ethernet</a:t>
            </a:r>
            <a:r>
              <a:rPr lang="en-US" sz="2000" dirty="0">
                <a:latin typeface="Times New Roman"/>
                <a:ea typeface="Times New Roman"/>
                <a:cs typeface="Times New Roman"/>
                <a:sym typeface="Times New Roman"/>
              </a:rPr>
              <a:t> connection or a USB connection. </a:t>
            </a:r>
            <a:endParaRPr lang="en-US" sz="2000" dirty="0" smtClean="0">
              <a:latin typeface="Times New Roman"/>
              <a:ea typeface="Times New Roman"/>
              <a:cs typeface="Times New Roman"/>
              <a:sym typeface="Times New Roman"/>
            </a:endParaRPr>
          </a:p>
          <a:p>
            <a:pPr marL="146050" lvl="0">
              <a:buClr>
                <a:srgbClr val="CC9A00"/>
              </a:buClr>
              <a:buSzPts val="1300"/>
            </a:pP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There </a:t>
            </a:r>
            <a:r>
              <a:rPr lang="en-US" sz="2000" dirty="0">
                <a:latin typeface="Times New Roman"/>
                <a:ea typeface="Times New Roman"/>
                <a:cs typeface="Times New Roman"/>
                <a:sym typeface="Times New Roman"/>
              </a:rPr>
              <a:t>is a lot of unnecessary traffic in a network where hubs are used. This can cause a lot of data collisions, which can cause errors to occur and reduce the performance of the network.</a:t>
            </a:r>
            <a:endParaRPr lang="en-US" sz="2000" dirty="0" smtClean="0">
              <a:latin typeface="Times New Roman"/>
              <a:ea typeface="Times New Roman"/>
              <a:cs typeface="Times New Roman"/>
              <a:sym typeface="Times New Roman"/>
            </a:endParaRP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62</a:t>
            </a:fld>
            <a:endParaRPr/>
          </a:p>
        </p:txBody>
      </p:sp>
    </p:spTree>
    <p:extLst>
      <p:ext uri="{BB962C8B-B14F-4D97-AF65-F5344CB8AC3E}">
        <p14:creationId xmlns:p14="http://schemas.microsoft.com/office/powerpoint/2010/main" val="144105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smtClean="0"/>
              <a:t>Switch</a:t>
            </a:r>
            <a:endParaRPr sz="3600" dirty="0"/>
          </a:p>
        </p:txBody>
      </p:sp>
      <p:sp>
        <p:nvSpPr>
          <p:cNvPr id="56" name="Google Shape;56;p8"/>
          <p:cNvSpPr txBox="1"/>
          <p:nvPr/>
        </p:nvSpPr>
        <p:spPr>
          <a:xfrm>
            <a:off x="883805" y="1864906"/>
            <a:ext cx="8142000" cy="4099825"/>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A switch was developed as an improvement to the inefficiency of a hub. A switch is also used to connect several devices in a LAN network. </a:t>
            </a:r>
            <a:endParaRPr lang="en-US" sz="2000" dirty="0" smtClean="0">
              <a:latin typeface="Times New Roman"/>
              <a:ea typeface="Times New Roman"/>
              <a:cs typeface="Times New Roman"/>
              <a:sym typeface="Times New Roman"/>
            </a:endParaRPr>
          </a:p>
          <a:p>
            <a:pPr marL="146050" lvl="0">
              <a:buClr>
                <a:srgbClr val="CC9A00"/>
              </a:buClr>
              <a:buSzPts val="1300"/>
            </a:pP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S</a:t>
            </a:r>
            <a:r>
              <a:rPr lang="en-US" sz="2000" dirty="0" smtClean="0">
                <a:latin typeface="Times New Roman"/>
                <a:ea typeface="Times New Roman"/>
                <a:cs typeface="Times New Roman"/>
                <a:sym typeface="Times New Roman"/>
              </a:rPr>
              <a:t>witch</a:t>
            </a:r>
            <a:r>
              <a:rPr lang="en-US" sz="2000" dirty="0">
                <a:latin typeface="Times New Roman"/>
                <a:ea typeface="Times New Roman"/>
                <a:cs typeface="Times New Roman"/>
                <a:sym typeface="Times New Roman"/>
              </a:rPr>
              <a:t>, </a:t>
            </a:r>
            <a:r>
              <a:rPr lang="en-US" sz="2000" dirty="0" smtClean="0">
                <a:latin typeface="Times New Roman"/>
                <a:ea typeface="Times New Roman"/>
                <a:cs typeface="Times New Roman"/>
                <a:sym typeface="Times New Roman"/>
              </a:rPr>
              <a:t>only </a:t>
            </a:r>
            <a:r>
              <a:rPr lang="en-US" sz="2000" dirty="0">
                <a:latin typeface="Times New Roman"/>
                <a:ea typeface="Times New Roman"/>
                <a:cs typeface="Times New Roman"/>
                <a:sym typeface="Times New Roman"/>
              </a:rPr>
              <a:t>sends the data packets to the intended destination. It does this by using a device's media access control (MAC) address. </a:t>
            </a:r>
            <a:endParaRPr lang="en-US" sz="2000" dirty="0" smtClean="0">
              <a:latin typeface="Times New Roman"/>
              <a:ea typeface="Times New Roman"/>
              <a:cs typeface="Times New Roman"/>
              <a:sym typeface="Times New Roman"/>
            </a:endParaRPr>
          </a:p>
          <a:p>
            <a:pPr marL="146050" lvl="0">
              <a:buClr>
                <a:srgbClr val="CC9A00"/>
              </a:buClr>
              <a:buSzPts val="1300"/>
            </a:pP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A </a:t>
            </a:r>
            <a:r>
              <a:rPr lang="en-US" sz="2000" dirty="0">
                <a:latin typeface="Times New Roman"/>
                <a:ea typeface="Times New Roman"/>
                <a:cs typeface="Times New Roman"/>
                <a:sym typeface="Times New Roman"/>
              </a:rPr>
              <a:t>switch records all the MAC addresses of devices that are attached to it and stores them in a table. It looks at the data packet to find the destination MAC address and forwards the data packet on to this device only. </a:t>
            </a:r>
            <a:endParaRPr lang="en-US" sz="2000" dirty="0" smtClean="0">
              <a:latin typeface="Times New Roman"/>
              <a:ea typeface="Times New Roman"/>
              <a:cs typeface="Times New Roman"/>
              <a:sym typeface="Times New Roman"/>
            </a:endParaRPr>
          </a:p>
          <a:p>
            <a:pPr marL="146050" lvl="0">
              <a:buClr>
                <a:srgbClr val="CC9A00"/>
              </a:buClr>
              <a:buSzPts val="1300"/>
            </a:pP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This </a:t>
            </a:r>
            <a:r>
              <a:rPr lang="en-US" sz="2000" dirty="0">
                <a:latin typeface="Times New Roman"/>
                <a:ea typeface="Times New Roman"/>
                <a:cs typeface="Times New Roman"/>
                <a:sym typeface="Times New Roman"/>
              </a:rPr>
              <a:t>reduces the amount of traffic in the network and as a result reduces the number of data collisions. This improves the performance of the network.</a:t>
            </a:r>
            <a:endParaRPr lang="en-US" sz="2000" dirty="0" smtClean="0">
              <a:latin typeface="Times New Roman"/>
              <a:ea typeface="Times New Roman"/>
              <a:cs typeface="Times New Roman"/>
              <a:sym typeface="Times New Roman"/>
            </a:endParaRP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63</a:t>
            </a:fld>
            <a:endParaRPr/>
          </a:p>
        </p:txBody>
      </p:sp>
      <p:sp>
        <p:nvSpPr>
          <p:cNvPr id="2" name="AutoShape 2" descr="Network Switches | Juniper Networks U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2292" name="Picture 4" descr="Network Switches | Juniper Networks U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3898" y="619599"/>
            <a:ext cx="5478309" cy="13695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7729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smtClean="0"/>
              <a:t>Router</a:t>
            </a:r>
            <a:endParaRPr sz="3600" dirty="0"/>
          </a:p>
        </p:txBody>
      </p:sp>
      <p:sp>
        <p:nvSpPr>
          <p:cNvPr id="56" name="Google Shape;56;p8"/>
          <p:cNvSpPr txBox="1"/>
          <p:nvPr/>
        </p:nvSpPr>
        <p:spPr>
          <a:xfrm>
            <a:off x="883805" y="1864906"/>
            <a:ext cx="8142000" cy="1945389"/>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A router is a device that connects different networks and forwards data based on IP </a:t>
            </a:r>
            <a:r>
              <a:rPr lang="en-US" sz="2000" dirty="0" smtClean="0">
                <a:latin typeface="Times New Roman"/>
                <a:ea typeface="Times New Roman"/>
                <a:cs typeface="Times New Roman"/>
                <a:sym typeface="Times New Roman"/>
              </a:rPr>
              <a:t>addresses. In </a:t>
            </a:r>
            <a:r>
              <a:rPr lang="en-US" sz="2000" dirty="0">
                <a:latin typeface="Times New Roman"/>
                <a:ea typeface="Times New Roman"/>
                <a:cs typeface="Times New Roman"/>
                <a:sym typeface="Times New Roman"/>
              </a:rPr>
              <a:t>homes, it acts as a gateway between your LAN and the </a:t>
            </a:r>
            <a:r>
              <a:rPr lang="en-US" sz="2000" dirty="0" smtClean="0">
                <a:latin typeface="Times New Roman"/>
                <a:ea typeface="Times New Roman"/>
                <a:cs typeface="Times New Roman"/>
                <a:sym typeface="Times New Roman"/>
              </a:rPr>
              <a:t>internet.</a:t>
            </a:r>
          </a:p>
          <a:p>
            <a:pPr marL="146050" lvl="0">
              <a:buClr>
                <a:srgbClr val="CC9A00"/>
              </a:buClr>
              <a:buSzPts val="1300"/>
            </a:pPr>
            <a:endParaRPr lang="en-US" sz="2000" dirty="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Switches and hubs are used to build and expand a LAN. A router is used to connect one LAN to another network, such as the Internet or another LAN</a:t>
            </a:r>
            <a:r>
              <a:rPr lang="en-US" sz="2000" dirty="0" smtClean="0">
                <a:latin typeface="Times New Roman"/>
                <a:ea typeface="Times New Roman"/>
                <a:cs typeface="Times New Roman"/>
                <a:sym typeface="Times New Roman"/>
              </a:rPr>
              <a:t>.</a:t>
            </a:r>
            <a:endParaRPr lang="en-US" sz="2000" dirty="0">
              <a:latin typeface="Times New Roman"/>
              <a:ea typeface="Times New Roman"/>
              <a:cs typeface="Times New Roman"/>
              <a:sym typeface="Times New Roman"/>
            </a:endParaRP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64</a:t>
            </a:fld>
            <a:endParaRPr/>
          </a:p>
        </p:txBody>
      </p:sp>
      <p:sp>
        <p:nvSpPr>
          <p:cNvPr id="2" name="AutoShape 2" descr="Network Switches | Juniper Networks U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242" name="Picture 2" descr="Understanding A Router - Certified Systems Limite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5283" y="4217046"/>
            <a:ext cx="4848893" cy="32355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7724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smtClean="0"/>
              <a:t>Activity: Install Packet </a:t>
            </a:r>
            <a:r>
              <a:rPr lang="en-US" dirty="0"/>
              <a:t>Tracer</a:t>
            </a: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65</a:t>
            </a:fld>
            <a:endParaRPr/>
          </a:p>
        </p:txBody>
      </p:sp>
      <p:pic>
        <p:nvPicPr>
          <p:cNvPr id="6146" name="Picture 2" descr="Ultimate Guide to Packet Tracer - ITPR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6752" y="1857192"/>
            <a:ext cx="7668953" cy="45173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4938943"/>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a:t>Types of Computer Networks</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66</a:t>
            </a:fld>
            <a:endParaRPr/>
          </a:p>
        </p:txBody>
      </p:sp>
      <p:sp>
        <p:nvSpPr>
          <p:cNvPr id="4" name="Google Shape;56;p8"/>
          <p:cNvSpPr txBox="1"/>
          <p:nvPr/>
        </p:nvSpPr>
        <p:spPr>
          <a:xfrm>
            <a:off x="993900" y="1833375"/>
            <a:ext cx="8142000" cy="2253166"/>
          </a:xfrm>
          <a:prstGeom prst="rect">
            <a:avLst/>
          </a:prstGeom>
          <a:noFill/>
          <a:ln>
            <a:noFill/>
          </a:ln>
        </p:spPr>
        <p:txBody>
          <a:bodyPr spcFirstLastPara="1" wrap="square" lIns="0" tIns="97775" rIns="0" bIns="0" anchor="t" anchorCtr="0">
            <a:spAutoFit/>
          </a:bodyPr>
          <a:lstStyle/>
          <a:p>
            <a:pPr marL="146050">
              <a:buClr>
                <a:srgbClr val="CC9A00"/>
              </a:buClr>
              <a:buSzPts val="1300"/>
            </a:pPr>
            <a:r>
              <a:rPr lang="en-US" sz="2000" dirty="0">
                <a:latin typeface="Times New Roman"/>
                <a:ea typeface="Times New Roman"/>
                <a:cs typeface="Times New Roman"/>
                <a:sym typeface="Times New Roman"/>
              </a:rPr>
              <a:t>Computer networks can be classified according to their size</a:t>
            </a:r>
            <a:r>
              <a:rPr lang="en-US" sz="2000" dirty="0" smtClean="0">
                <a:latin typeface="Times New Roman"/>
                <a:ea typeface="Times New Roman"/>
                <a:cs typeface="Times New Roman"/>
                <a:sym typeface="Times New Roman"/>
              </a:rPr>
              <a:t>.</a:t>
            </a:r>
          </a:p>
          <a:p>
            <a:pPr marL="146050">
              <a:buClr>
                <a:srgbClr val="CC9A00"/>
              </a:buClr>
              <a:buSzPts val="1300"/>
            </a:pPr>
            <a:endParaRPr lang="en-US" sz="2000" dirty="0">
              <a:latin typeface="Times New Roman"/>
              <a:ea typeface="Times New Roman"/>
              <a:cs typeface="Times New Roman"/>
              <a:sym typeface="Times New Roman"/>
            </a:endParaRPr>
          </a:p>
          <a:p>
            <a:pPr marL="488950" indent="-342900">
              <a:buClr>
                <a:srgbClr val="CC9A00"/>
              </a:buClr>
              <a:buSzPts val="1300"/>
              <a:buFont typeface="Arial" panose="020B0604020202020204" pitchFamily="34" charset="0"/>
              <a:buChar char="•"/>
            </a:pPr>
            <a:r>
              <a:rPr lang="en-US" sz="2000" dirty="0" smtClean="0">
                <a:latin typeface="Times New Roman"/>
                <a:ea typeface="Times New Roman"/>
                <a:cs typeface="Times New Roman"/>
                <a:sym typeface="Times New Roman"/>
              </a:rPr>
              <a:t>Personal </a:t>
            </a:r>
            <a:r>
              <a:rPr lang="en-US" sz="2000" dirty="0">
                <a:latin typeface="Times New Roman"/>
                <a:ea typeface="Times New Roman"/>
                <a:cs typeface="Times New Roman"/>
                <a:sym typeface="Times New Roman"/>
              </a:rPr>
              <a:t>Area Network (PAN)</a:t>
            </a:r>
          </a:p>
          <a:p>
            <a:pPr marL="488950" indent="-342900">
              <a:buClr>
                <a:srgbClr val="CC9A00"/>
              </a:buClr>
              <a:buSzPts val="1300"/>
              <a:buFont typeface="Arial" panose="020B0604020202020204" pitchFamily="34" charset="0"/>
              <a:buChar char="•"/>
            </a:pPr>
            <a:r>
              <a:rPr lang="en-US" sz="2000" dirty="0" smtClean="0">
                <a:latin typeface="Times New Roman"/>
                <a:ea typeface="Times New Roman"/>
                <a:cs typeface="Times New Roman"/>
                <a:sym typeface="Times New Roman"/>
              </a:rPr>
              <a:t>Local </a:t>
            </a:r>
            <a:r>
              <a:rPr lang="en-US" sz="2000" dirty="0">
                <a:latin typeface="Times New Roman"/>
                <a:ea typeface="Times New Roman"/>
                <a:cs typeface="Times New Roman"/>
                <a:sym typeface="Times New Roman"/>
              </a:rPr>
              <a:t>area network (LAN)</a:t>
            </a:r>
          </a:p>
          <a:p>
            <a:pPr marL="488950" indent="-342900">
              <a:buClr>
                <a:srgbClr val="CC9A00"/>
              </a:buClr>
              <a:buSzPts val="1300"/>
              <a:buFont typeface="Arial" panose="020B0604020202020204" pitchFamily="34" charset="0"/>
              <a:buChar char="•"/>
            </a:pPr>
            <a:r>
              <a:rPr lang="en-US" sz="2000" dirty="0" smtClean="0">
                <a:latin typeface="Times New Roman"/>
                <a:ea typeface="Times New Roman"/>
                <a:cs typeface="Times New Roman"/>
                <a:sym typeface="Times New Roman"/>
              </a:rPr>
              <a:t>Metropolitan </a:t>
            </a:r>
            <a:r>
              <a:rPr lang="en-US" sz="2000" dirty="0">
                <a:latin typeface="Times New Roman"/>
                <a:ea typeface="Times New Roman"/>
                <a:cs typeface="Times New Roman"/>
                <a:sym typeface="Times New Roman"/>
              </a:rPr>
              <a:t>area network (MAN)</a:t>
            </a:r>
          </a:p>
          <a:p>
            <a:pPr marL="488950" indent="-342900">
              <a:buClr>
                <a:srgbClr val="CC9A00"/>
              </a:buClr>
              <a:buSzPts val="1300"/>
              <a:buFont typeface="Arial" panose="020B0604020202020204" pitchFamily="34" charset="0"/>
              <a:buChar char="•"/>
            </a:pPr>
            <a:r>
              <a:rPr lang="en-US" sz="2000" dirty="0" smtClean="0">
                <a:latin typeface="Times New Roman"/>
                <a:ea typeface="Times New Roman"/>
                <a:cs typeface="Times New Roman"/>
                <a:sym typeface="Times New Roman"/>
              </a:rPr>
              <a:t>Wide </a:t>
            </a:r>
            <a:r>
              <a:rPr lang="en-US" sz="2000" dirty="0">
                <a:latin typeface="Times New Roman"/>
                <a:ea typeface="Times New Roman"/>
                <a:cs typeface="Times New Roman"/>
                <a:sym typeface="Times New Roman"/>
              </a:rPr>
              <a:t>area network (WAN)</a:t>
            </a:r>
          </a:p>
          <a:p>
            <a:pPr marL="146050">
              <a:buClr>
                <a:srgbClr val="CC9A00"/>
              </a:buClr>
              <a:buSzPts val="1300"/>
            </a:pPr>
            <a:endParaRPr lang="en-US" sz="2000" dirty="0">
              <a:latin typeface="Times New Roman"/>
              <a:ea typeface="Times New Roman"/>
              <a:cs typeface="Times New Roman"/>
              <a:sym typeface="Times New Roman"/>
            </a:endParaRP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93410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2413481"/>
          </a:xfrm>
          <a:prstGeom prst="rect">
            <a:avLst/>
          </a:prstGeom>
          <a:noFill/>
          <a:ln>
            <a:noFill/>
          </a:ln>
        </p:spPr>
        <p:txBody>
          <a:bodyPr spcFirstLastPara="1" wrap="square" lIns="0" tIns="12700" rIns="0" bIns="0" anchor="t" anchorCtr="0">
            <a:spAutoFit/>
          </a:bodyPr>
          <a:lstStyle/>
          <a:p>
            <a:r>
              <a:rPr lang="en-US" dirty="0"/>
              <a:t>Personal Area Network (PAN)</a:t>
            </a:r>
            <a:br>
              <a:rPr lang="en-US" dirty="0"/>
            </a:br>
            <a:r>
              <a:rPr lang="en-US" dirty="0" smtClean="0"/>
              <a:t/>
            </a:r>
            <a:br>
              <a:rPr lang="en-US" dirty="0" smtClean="0"/>
            </a:br>
            <a:r>
              <a:rPr lang="en-US" dirty="0" smtClean="0"/>
              <a:t/>
            </a:r>
            <a:br>
              <a:rPr lang="en-US" dirty="0" smtClean="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67</a:t>
            </a:fld>
            <a:endParaRPr/>
          </a:p>
        </p:txBody>
      </p:sp>
      <p:sp>
        <p:nvSpPr>
          <p:cNvPr id="4" name="Google Shape;56;p8"/>
          <p:cNvSpPr txBox="1"/>
          <p:nvPr/>
        </p:nvSpPr>
        <p:spPr>
          <a:xfrm>
            <a:off x="993900" y="1833375"/>
            <a:ext cx="8142000" cy="2560942"/>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The smallest type of network</a:t>
            </a:r>
            <a:r>
              <a:rPr lang="en-US" sz="2000" dirty="0" smtClean="0">
                <a:latin typeface="Times New Roman"/>
                <a:ea typeface="Times New Roman"/>
                <a:cs typeface="Times New Roman"/>
                <a:sym typeface="Times New Roman"/>
              </a:rPr>
              <a:t>.</a:t>
            </a:r>
          </a:p>
          <a:p>
            <a:pPr marL="457200" indent="-311150">
              <a:buClr>
                <a:srgbClr val="CC9A00"/>
              </a:buClr>
              <a:buSzPts val="1300"/>
              <a:buFont typeface="Noto Sans Symbols"/>
              <a:buChar char="❑"/>
            </a:pPr>
            <a:endParaRPr lang="en-US" sz="2000" dirty="0">
              <a:latin typeface="Times New Roman"/>
              <a:ea typeface="Times New Roman"/>
              <a:cs typeface="Times New Roman"/>
              <a:sym typeface="Times New Roman"/>
            </a:endParaRPr>
          </a:p>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Usually covers only a few </a:t>
            </a:r>
            <a:r>
              <a:rPr lang="en-US" sz="2000" dirty="0" smtClean="0">
                <a:latin typeface="Times New Roman"/>
                <a:ea typeface="Times New Roman"/>
                <a:cs typeface="Times New Roman"/>
                <a:sym typeface="Times New Roman"/>
              </a:rPr>
              <a:t>meters</a:t>
            </a:r>
          </a:p>
          <a:p>
            <a:pPr marL="457200" indent="-311150">
              <a:buClr>
                <a:srgbClr val="CC9A00"/>
              </a:buClr>
              <a:buSzPts val="1300"/>
              <a:buFont typeface="Noto Sans Symbols"/>
              <a:buChar char="❑"/>
            </a:pPr>
            <a:endParaRPr lang="en-US" sz="2000" dirty="0">
              <a:latin typeface="Times New Roman"/>
              <a:ea typeface="Times New Roman"/>
              <a:cs typeface="Times New Roman"/>
              <a:sym typeface="Times New Roman"/>
            </a:endParaRPr>
          </a:p>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Examples:</a:t>
            </a:r>
          </a:p>
          <a:p>
            <a:pPr marL="488950" indent="-342900">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Connecting a mobile phone to wireless earbuds using Bluetooth.</a:t>
            </a:r>
          </a:p>
          <a:p>
            <a:pPr marL="488950" indent="-342900">
              <a:buClr>
                <a:srgbClr val="CC9A00"/>
              </a:buClr>
              <a:buSzPts val="1300"/>
              <a:buFont typeface="Arial" panose="020B0604020202020204" pitchFamily="34" charset="0"/>
              <a:buChar char="•"/>
            </a:pPr>
            <a:r>
              <a:rPr lang="en-US" sz="2000" dirty="0" smtClean="0">
                <a:latin typeface="Times New Roman"/>
                <a:ea typeface="Times New Roman"/>
                <a:cs typeface="Times New Roman"/>
                <a:sym typeface="Times New Roman"/>
              </a:rPr>
              <a:t>Sharing </a:t>
            </a:r>
            <a:r>
              <a:rPr lang="en-US" sz="2000" dirty="0">
                <a:latin typeface="Times New Roman"/>
                <a:ea typeface="Times New Roman"/>
                <a:cs typeface="Times New Roman"/>
                <a:sym typeface="Times New Roman"/>
              </a:rPr>
              <a:t>internet from a phone to a laptop via a hotspot.</a:t>
            </a:r>
          </a:p>
          <a:p>
            <a:pPr marL="146050">
              <a:buClr>
                <a:srgbClr val="CC9A00"/>
              </a:buClr>
              <a:buSzPts val="1300"/>
            </a:pPr>
            <a:endParaRPr lang="en-US" sz="2000" dirty="0">
              <a:latin typeface="Times New Roman"/>
              <a:ea typeface="Times New Roman"/>
              <a:cs typeface="Times New Roman"/>
              <a:sym typeface="Times New Roman"/>
            </a:endParaRPr>
          </a:p>
        </p:txBody>
      </p:sp>
      <p:pic>
        <p:nvPicPr>
          <p:cNvPr id="6" name="Picture 5"/>
          <p:cNvPicPr/>
          <p:nvPr/>
        </p:nvPicPr>
        <p:blipFill>
          <a:blip r:embed="rId3"/>
          <a:stretch>
            <a:fillRect/>
          </a:stretch>
        </p:blipFill>
        <p:spPr>
          <a:xfrm>
            <a:off x="3498574" y="4394317"/>
            <a:ext cx="2743200" cy="1939925"/>
          </a:xfrm>
          <a:prstGeom prst="rect">
            <a:avLst/>
          </a:prstGeom>
        </p:spPr>
      </p:pic>
    </p:spTree>
    <p:extLst>
      <p:ext uri="{BB962C8B-B14F-4D97-AF65-F5344CB8AC3E}">
        <p14:creationId xmlns:p14="http://schemas.microsoft.com/office/powerpoint/2010/main" val="4264755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3029034"/>
          </a:xfrm>
          <a:prstGeom prst="rect">
            <a:avLst/>
          </a:prstGeom>
          <a:noFill/>
          <a:ln>
            <a:noFill/>
          </a:ln>
        </p:spPr>
        <p:txBody>
          <a:bodyPr spcFirstLastPara="1" wrap="square" lIns="0" tIns="12700" rIns="0" bIns="0" anchor="t" anchorCtr="0">
            <a:spAutoFit/>
          </a:bodyPr>
          <a:lstStyle/>
          <a:p>
            <a:r>
              <a:rPr lang="en-US" dirty="0"/>
              <a:t>Local </a:t>
            </a:r>
            <a:r>
              <a:rPr lang="en-US" dirty="0" smtClean="0"/>
              <a:t>Area </a:t>
            </a:r>
            <a:r>
              <a:rPr lang="en-US" dirty="0"/>
              <a:t>N</a:t>
            </a:r>
            <a:r>
              <a:rPr lang="en-US" dirty="0" smtClean="0"/>
              <a:t>etwork </a:t>
            </a:r>
            <a:r>
              <a:rPr lang="en-US" dirty="0"/>
              <a:t>(LAN)</a:t>
            </a:r>
            <a:br>
              <a:rPr lang="en-US" dirty="0"/>
            </a:br>
            <a:r>
              <a:rPr lang="en-US" dirty="0"/>
              <a:t/>
            </a:r>
            <a:br>
              <a:rPr lang="en-US" dirty="0"/>
            </a:br>
            <a:r>
              <a:rPr lang="en-US" dirty="0" smtClean="0"/>
              <a:t/>
            </a:r>
            <a:br>
              <a:rPr lang="en-US" dirty="0" smtClean="0"/>
            </a:br>
            <a:r>
              <a:rPr lang="en-US" dirty="0" smtClean="0"/>
              <a:t/>
            </a:r>
            <a:br>
              <a:rPr lang="en-US" dirty="0" smtClean="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68</a:t>
            </a:fld>
            <a:endParaRPr/>
          </a:p>
        </p:txBody>
      </p:sp>
      <p:sp>
        <p:nvSpPr>
          <p:cNvPr id="4" name="Google Shape;56;p8"/>
          <p:cNvSpPr txBox="1"/>
          <p:nvPr/>
        </p:nvSpPr>
        <p:spPr>
          <a:xfrm>
            <a:off x="993900" y="1833375"/>
            <a:ext cx="8142000" cy="5023155"/>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Covers a small geographic area such as a home, office, or school</a:t>
            </a:r>
            <a:r>
              <a:rPr lang="en-US" sz="2000" dirty="0" smtClean="0">
                <a:latin typeface="Times New Roman"/>
                <a:ea typeface="Times New Roman"/>
                <a:cs typeface="Times New Roman"/>
                <a:sym typeface="Times New Roman"/>
              </a:rPr>
              <a:t>.</a:t>
            </a:r>
          </a:p>
          <a:p>
            <a:pPr marL="146050">
              <a:buClr>
                <a:srgbClr val="CC9A00"/>
              </a:buClr>
              <a:buSzPts val="1300"/>
            </a:pPr>
            <a:endParaRPr lang="en-US" sz="2000" dirty="0">
              <a:latin typeface="Times New Roman"/>
              <a:ea typeface="Times New Roman"/>
              <a:cs typeface="Times New Roman"/>
              <a:sym typeface="Times New Roman"/>
            </a:endParaRPr>
          </a:p>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It connects devices like computers, printers, and servers within a limited space</a:t>
            </a:r>
            <a:r>
              <a:rPr lang="en-US" sz="2000" dirty="0" smtClean="0">
                <a:latin typeface="Times New Roman"/>
                <a:ea typeface="Times New Roman"/>
                <a:cs typeface="Times New Roman"/>
                <a:sym typeface="Times New Roman"/>
              </a:rPr>
              <a:t>.</a:t>
            </a:r>
          </a:p>
          <a:p>
            <a:pPr marL="146050">
              <a:buClr>
                <a:srgbClr val="CC9A00"/>
              </a:buClr>
              <a:buSzPts val="1300"/>
            </a:pPr>
            <a:endParaRPr lang="en-US" sz="2000" dirty="0">
              <a:latin typeface="Times New Roman"/>
              <a:ea typeface="Times New Roman"/>
              <a:cs typeface="Times New Roman"/>
              <a:sym typeface="Times New Roman"/>
            </a:endParaRPr>
          </a:p>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LANs provide high data transmission speed</a:t>
            </a:r>
            <a:r>
              <a:rPr lang="en-US" sz="2000" dirty="0" smtClean="0">
                <a:latin typeface="Times New Roman"/>
                <a:ea typeface="Times New Roman"/>
                <a:cs typeface="Times New Roman"/>
                <a:sym typeface="Times New Roman"/>
              </a:rPr>
              <a:t>.</a:t>
            </a:r>
          </a:p>
          <a:p>
            <a:pPr marL="146050">
              <a:buClr>
                <a:srgbClr val="CC9A00"/>
              </a:buClr>
              <a:buSzPts val="1300"/>
            </a:pPr>
            <a:endParaRPr lang="en-US" sz="2000" dirty="0" smtClean="0">
              <a:latin typeface="Times New Roman"/>
              <a:ea typeface="Times New Roman"/>
              <a:cs typeface="Times New Roman"/>
              <a:sym typeface="Times New Roman"/>
            </a:endParaRPr>
          </a:p>
          <a:p>
            <a:pPr marL="45720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Usually </a:t>
            </a:r>
            <a:r>
              <a:rPr lang="en-US" sz="2000" dirty="0">
                <a:latin typeface="Times New Roman"/>
                <a:ea typeface="Times New Roman"/>
                <a:cs typeface="Times New Roman"/>
                <a:sym typeface="Times New Roman"/>
              </a:rPr>
              <a:t>privately owned and managed</a:t>
            </a:r>
            <a:r>
              <a:rPr lang="en-US" sz="2000" dirty="0" smtClean="0">
                <a:latin typeface="Times New Roman"/>
                <a:ea typeface="Times New Roman"/>
                <a:cs typeface="Times New Roman"/>
                <a:sym typeface="Times New Roman"/>
              </a:rPr>
              <a:t>.</a:t>
            </a:r>
          </a:p>
          <a:p>
            <a:pPr marL="146050">
              <a:buClr>
                <a:srgbClr val="CC9A00"/>
              </a:buClr>
              <a:buSzPts val="1300"/>
            </a:pPr>
            <a:endParaRPr lang="en-US" sz="2000" dirty="0">
              <a:latin typeface="Times New Roman"/>
              <a:ea typeface="Times New Roman"/>
              <a:cs typeface="Times New Roman"/>
              <a:sym typeface="Times New Roman"/>
            </a:endParaRPr>
          </a:p>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Enable the sharing of resources such as files or hardware devices that may be needed by multiple users</a:t>
            </a:r>
            <a:r>
              <a:rPr lang="en-US" sz="2000" dirty="0" smtClean="0">
                <a:latin typeface="Times New Roman"/>
                <a:ea typeface="Times New Roman"/>
                <a:cs typeface="Times New Roman"/>
                <a:sym typeface="Times New Roman"/>
              </a:rPr>
              <a:t>.</a:t>
            </a:r>
          </a:p>
          <a:p>
            <a:pPr marL="146050">
              <a:buClr>
                <a:srgbClr val="CC9A00"/>
              </a:buClr>
              <a:buSzPts val="1300"/>
            </a:pPr>
            <a:endParaRPr lang="en-US" sz="2000" dirty="0">
              <a:latin typeface="Times New Roman"/>
              <a:ea typeface="Times New Roman"/>
              <a:cs typeface="Times New Roman"/>
              <a:sym typeface="Times New Roman"/>
            </a:endParaRPr>
          </a:p>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Examples:</a:t>
            </a:r>
          </a:p>
          <a:p>
            <a:pPr marL="488950" indent="-342900">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A computer lab in a school.</a:t>
            </a:r>
          </a:p>
          <a:p>
            <a:pPr marL="488950" indent="-342900">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Office network.</a:t>
            </a:r>
          </a:p>
          <a:p>
            <a:pPr marL="146050">
              <a:buClr>
                <a:srgbClr val="CC9A00"/>
              </a:buClr>
              <a:buSzPts val="1300"/>
            </a:pPr>
            <a:endParaRPr lang="en-US" sz="2000" dirty="0">
              <a:latin typeface="Times New Roman"/>
              <a:ea typeface="Times New Roman"/>
              <a:cs typeface="Times New Roman"/>
              <a:sym typeface="Times New Roman"/>
            </a:endParaRPr>
          </a:p>
        </p:txBody>
      </p:sp>
      <p:pic>
        <p:nvPicPr>
          <p:cNvPr id="7" name="Picture 6"/>
          <p:cNvPicPr/>
          <p:nvPr/>
        </p:nvPicPr>
        <p:blipFill>
          <a:blip r:embed="rId3"/>
          <a:stretch>
            <a:fillRect/>
          </a:stretch>
        </p:blipFill>
        <p:spPr>
          <a:xfrm>
            <a:off x="5983358" y="5128591"/>
            <a:ext cx="2802834" cy="2405269"/>
          </a:xfrm>
          <a:prstGeom prst="rect">
            <a:avLst/>
          </a:prstGeom>
        </p:spPr>
      </p:pic>
    </p:spTree>
    <p:extLst>
      <p:ext uri="{BB962C8B-B14F-4D97-AF65-F5344CB8AC3E}">
        <p14:creationId xmlns:p14="http://schemas.microsoft.com/office/powerpoint/2010/main" val="1194859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3644587"/>
          </a:xfrm>
          <a:prstGeom prst="rect">
            <a:avLst/>
          </a:prstGeom>
          <a:noFill/>
          <a:ln>
            <a:noFill/>
          </a:ln>
        </p:spPr>
        <p:txBody>
          <a:bodyPr spcFirstLastPara="1" wrap="square" lIns="0" tIns="12700" rIns="0" bIns="0" anchor="t" anchorCtr="0">
            <a:spAutoFit/>
          </a:bodyPr>
          <a:lstStyle/>
          <a:p>
            <a:r>
              <a:rPr lang="en-US" dirty="0"/>
              <a:t>Metropolitan </a:t>
            </a:r>
            <a:r>
              <a:rPr lang="en-US" dirty="0" smtClean="0"/>
              <a:t>Area </a:t>
            </a:r>
            <a:r>
              <a:rPr lang="en-US" dirty="0"/>
              <a:t>N</a:t>
            </a:r>
            <a:r>
              <a:rPr lang="en-US" dirty="0" smtClean="0"/>
              <a:t>etwork </a:t>
            </a:r>
            <a:r>
              <a:rPr lang="en-US" dirty="0"/>
              <a:t>(MAN)</a:t>
            </a:r>
            <a:br>
              <a:rPr lang="en-US" dirty="0"/>
            </a:br>
            <a:r>
              <a:rPr lang="en-US" dirty="0"/>
              <a:t/>
            </a:r>
            <a:br>
              <a:rPr lang="en-US" dirty="0"/>
            </a:br>
            <a:r>
              <a:rPr lang="en-US" dirty="0"/>
              <a:t/>
            </a:r>
            <a:br>
              <a:rPr lang="en-US" dirty="0"/>
            </a:br>
            <a:r>
              <a:rPr lang="en-US" dirty="0" smtClean="0"/>
              <a:t/>
            </a:r>
            <a:br>
              <a:rPr lang="en-US" dirty="0" smtClean="0"/>
            </a:br>
            <a:r>
              <a:rPr lang="en-US" dirty="0" smtClean="0"/>
              <a:t/>
            </a:r>
            <a:br>
              <a:rPr lang="en-US" dirty="0" smtClean="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69</a:t>
            </a:fld>
            <a:endParaRPr/>
          </a:p>
        </p:txBody>
      </p:sp>
      <p:sp>
        <p:nvSpPr>
          <p:cNvPr id="4" name="Google Shape;56;p8"/>
          <p:cNvSpPr txBox="1"/>
          <p:nvPr/>
        </p:nvSpPr>
        <p:spPr>
          <a:xfrm>
            <a:off x="993900" y="1833375"/>
            <a:ext cx="8142000" cy="2560942"/>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Covers a larger geographic area such as a city or a large campus</a:t>
            </a:r>
            <a:r>
              <a:rPr lang="en-US" sz="2000" dirty="0" smtClean="0">
                <a:latin typeface="Times New Roman"/>
                <a:ea typeface="Times New Roman"/>
                <a:cs typeface="Times New Roman"/>
                <a:sym typeface="Times New Roman"/>
              </a:rPr>
              <a:t>.</a:t>
            </a:r>
          </a:p>
          <a:p>
            <a:pPr marL="146050">
              <a:buClr>
                <a:srgbClr val="CC9A00"/>
              </a:buClr>
              <a:buSzPts val="1300"/>
            </a:pPr>
            <a:endParaRPr lang="en-US" sz="2000" dirty="0">
              <a:latin typeface="Times New Roman"/>
              <a:ea typeface="Times New Roman"/>
              <a:cs typeface="Times New Roman"/>
              <a:sym typeface="Times New Roman"/>
            </a:endParaRPr>
          </a:p>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Formed by connecting multiple LANs together</a:t>
            </a:r>
            <a:r>
              <a:rPr lang="en-US" sz="2000" dirty="0" smtClean="0">
                <a:latin typeface="Times New Roman"/>
                <a:ea typeface="Times New Roman"/>
                <a:cs typeface="Times New Roman"/>
                <a:sym typeface="Times New Roman"/>
              </a:rPr>
              <a:t>.</a:t>
            </a:r>
          </a:p>
          <a:p>
            <a:pPr marL="146050">
              <a:buClr>
                <a:srgbClr val="CC9A00"/>
              </a:buClr>
              <a:buSzPts val="1300"/>
            </a:pPr>
            <a:endParaRPr lang="en-US" sz="2000" dirty="0">
              <a:latin typeface="Times New Roman"/>
              <a:ea typeface="Times New Roman"/>
              <a:cs typeface="Times New Roman"/>
              <a:sym typeface="Times New Roman"/>
            </a:endParaRPr>
          </a:p>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Example:</a:t>
            </a:r>
          </a:p>
          <a:p>
            <a:pPr marL="488950" indent="-342900">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City-wide internet service.</a:t>
            </a:r>
          </a:p>
          <a:p>
            <a:pPr marL="488950" indent="-342900">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Cable television network in a city.</a:t>
            </a:r>
          </a:p>
          <a:p>
            <a:pPr marL="146050">
              <a:buClr>
                <a:srgbClr val="CC9A00"/>
              </a:buClr>
              <a:buSzPts val="1300"/>
            </a:pPr>
            <a:endParaRPr lang="en-US" sz="2000" dirty="0">
              <a:latin typeface="Times New Roman"/>
              <a:ea typeface="Times New Roman"/>
              <a:cs typeface="Times New Roman"/>
              <a:sym typeface="Times New Roman"/>
            </a:endParaRPr>
          </a:p>
        </p:txBody>
      </p:sp>
    </p:spTree>
    <p:extLst>
      <p:ext uri="{BB962C8B-B14F-4D97-AF65-F5344CB8AC3E}">
        <p14:creationId xmlns:p14="http://schemas.microsoft.com/office/powerpoint/2010/main" val="3011963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4260141"/>
          </a:xfrm>
          <a:prstGeom prst="rect">
            <a:avLst/>
          </a:prstGeom>
          <a:noFill/>
          <a:ln>
            <a:noFill/>
          </a:ln>
        </p:spPr>
        <p:txBody>
          <a:bodyPr spcFirstLastPara="1" wrap="square" lIns="0" tIns="12700" rIns="0" bIns="0" anchor="t" anchorCtr="0">
            <a:spAutoFit/>
          </a:bodyPr>
          <a:lstStyle/>
          <a:p>
            <a:r>
              <a:rPr lang="en-US" dirty="0"/>
              <a:t>Wide area network (WAN)</a:t>
            </a:r>
            <a:br>
              <a:rPr lang="en-US" dirty="0"/>
            </a:br>
            <a:r>
              <a:rPr lang="en-US" dirty="0"/>
              <a:t/>
            </a:r>
            <a:br>
              <a:rPr lang="en-US" dirty="0"/>
            </a:br>
            <a:r>
              <a:rPr lang="en-US" dirty="0"/>
              <a:t/>
            </a:r>
            <a:br>
              <a:rPr lang="en-US" dirty="0"/>
            </a:br>
            <a:r>
              <a:rPr lang="en-US" dirty="0"/>
              <a:t/>
            </a:r>
            <a:br>
              <a:rPr lang="en-US" dirty="0"/>
            </a:br>
            <a:r>
              <a:rPr lang="en-US" dirty="0" smtClean="0"/>
              <a:t/>
            </a:r>
            <a:br>
              <a:rPr lang="en-US" dirty="0" smtClean="0"/>
            </a:br>
            <a:r>
              <a:rPr lang="en-US" dirty="0" smtClean="0"/>
              <a:t/>
            </a:r>
            <a:br>
              <a:rPr lang="en-US" dirty="0" smtClean="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70</a:t>
            </a:fld>
            <a:endParaRPr/>
          </a:p>
        </p:txBody>
      </p:sp>
      <p:sp>
        <p:nvSpPr>
          <p:cNvPr id="4" name="Google Shape;56;p8"/>
          <p:cNvSpPr txBox="1"/>
          <p:nvPr/>
        </p:nvSpPr>
        <p:spPr>
          <a:xfrm>
            <a:off x="993900" y="1833375"/>
            <a:ext cx="8142000" cy="3176495"/>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Covers a very large geographic area such as countries or continents</a:t>
            </a:r>
            <a:r>
              <a:rPr lang="en-US" sz="2000" dirty="0" smtClean="0">
                <a:latin typeface="Times New Roman"/>
                <a:ea typeface="Times New Roman"/>
                <a:cs typeface="Times New Roman"/>
                <a:sym typeface="Times New Roman"/>
              </a:rPr>
              <a:t>.</a:t>
            </a:r>
          </a:p>
          <a:p>
            <a:pPr marL="146050">
              <a:buClr>
                <a:srgbClr val="CC9A00"/>
              </a:buClr>
              <a:buSzPts val="1300"/>
            </a:pPr>
            <a:endParaRPr lang="en-US" sz="2000" dirty="0">
              <a:latin typeface="Times New Roman"/>
              <a:ea typeface="Times New Roman"/>
              <a:cs typeface="Times New Roman"/>
              <a:sym typeface="Times New Roman"/>
            </a:endParaRPr>
          </a:p>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Connects multiple LANs and MANs using long-distance communication links</a:t>
            </a:r>
            <a:r>
              <a:rPr lang="en-US" sz="2000" dirty="0" smtClean="0">
                <a:latin typeface="Times New Roman"/>
                <a:ea typeface="Times New Roman"/>
                <a:cs typeface="Times New Roman"/>
                <a:sym typeface="Times New Roman"/>
              </a:rPr>
              <a:t>.</a:t>
            </a:r>
          </a:p>
          <a:p>
            <a:pPr marL="146050">
              <a:buClr>
                <a:srgbClr val="CC9A00"/>
              </a:buClr>
              <a:buSzPts val="1300"/>
            </a:pPr>
            <a:endParaRPr lang="en-US" sz="2000" dirty="0">
              <a:latin typeface="Times New Roman"/>
              <a:ea typeface="Times New Roman"/>
              <a:cs typeface="Times New Roman"/>
              <a:sym typeface="Times New Roman"/>
            </a:endParaRPr>
          </a:p>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Have higher delays compared to smaller networks</a:t>
            </a:r>
            <a:r>
              <a:rPr lang="en-US" sz="2000" dirty="0" smtClean="0">
                <a:latin typeface="Times New Roman"/>
                <a:ea typeface="Times New Roman"/>
                <a:cs typeface="Times New Roman"/>
                <a:sym typeface="Times New Roman"/>
              </a:rPr>
              <a:t>.</a:t>
            </a:r>
          </a:p>
          <a:p>
            <a:pPr marL="146050">
              <a:buClr>
                <a:srgbClr val="CC9A00"/>
              </a:buClr>
              <a:buSzPts val="1300"/>
            </a:pPr>
            <a:endParaRPr lang="en-US" sz="2000" dirty="0">
              <a:latin typeface="Times New Roman"/>
              <a:ea typeface="Times New Roman"/>
              <a:cs typeface="Times New Roman"/>
              <a:sym typeface="Times New Roman"/>
            </a:endParaRPr>
          </a:p>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Example:</a:t>
            </a:r>
          </a:p>
          <a:p>
            <a:pPr marL="488950" indent="-342900">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 internet</a:t>
            </a:r>
          </a:p>
          <a:p>
            <a:pPr marL="146050">
              <a:buClr>
                <a:srgbClr val="CC9A00"/>
              </a:buClr>
              <a:buSzPts val="1300"/>
            </a:pPr>
            <a:endParaRPr lang="en-US" sz="2000" dirty="0">
              <a:latin typeface="Times New Roman"/>
              <a:ea typeface="Times New Roman"/>
              <a:cs typeface="Times New Roman"/>
              <a:sym typeface="Times New Roman"/>
            </a:endParaRPr>
          </a:p>
        </p:txBody>
      </p:sp>
    </p:spTree>
    <p:extLst>
      <p:ext uri="{BB962C8B-B14F-4D97-AF65-F5344CB8AC3E}">
        <p14:creationId xmlns:p14="http://schemas.microsoft.com/office/powerpoint/2010/main" val="2399383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a:stretch>
            <a:fillRect/>
          </a:stretch>
        </p:blipFill>
        <p:spPr>
          <a:xfrm>
            <a:off x="2057400" y="1470991"/>
            <a:ext cx="5814391" cy="4721087"/>
          </a:xfrm>
          <a:prstGeom prst="rect">
            <a:avLst/>
          </a:prstGeom>
        </p:spPr>
      </p:pic>
    </p:spTree>
    <p:extLst>
      <p:ext uri="{BB962C8B-B14F-4D97-AF65-F5344CB8AC3E}">
        <p14:creationId xmlns:p14="http://schemas.microsoft.com/office/powerpoint/2010/main" val="1227862269"/>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4875694"/>
          </a:xfrm>
          <a:prstGeom prst="rect">
            <a:avLst/>
          </a:prstGeom>
          <a:noFill/>
          <a:ln>
            <a:noFill/>
          </a:ln>
        </p:spPr>
        <p:txBody>
          <a:bodyPr spcFirstLastPara="1" wrap="square" lIns="0" tIns="12700" rIns="0" bIns="0" anchor="t" anchorCtr="0">
            <a:spAutoFit/>
          </a:bodyPr>
          <a:lstStyle/>
          <a:p>
            <a:r>
              <a:rPr lang="en-US" dirty="0"/>
              <a:t>The Internet</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smtClean="0"/>
              <a:t/>
            </a:r>
            <a:br>
              <a:rPr lang="en-US" dirty="0" smtClean="0"/>
            </a:br>
            <a:r>
              <a:rPr lang="en-US" dirty="0" smtClean="0"/>
              <a:t/>
            </a:r>
            <a:br>
              <a:rPr lang="en-US" dirty="0" smtClean="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72</a:t>
            </a:fld>
            <a:endParaRPr/>
          </a:p>
        </p:txBody>
      </p:sp>
      <p:sp>
        <p:nvSpPr>
          <p:cNvPr id="4" name="Google Shape;56;p8"/>
          <p:cNvSpPr txBox="1"/>
          <p:nvPr/>
        </p:nvSpPr>
        <p:spPr>
          <a:xfrm>
            <a:off x="993900" y="1833375"/>
            <a:ext cx="8142000" cy="406506"/>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The internet is a worldwide collection of interconnected networks.</a:t>
            </a:r>
            <a:endParaRPr lang="en-US" sz="2000" dirty="0">
              <a:latin typeface="Times New Roman"/>
              <a:ea typeface="Times New Roman"/>
              <a:cs typeface="Times New Roman"/>
              <a:sym typeface="Times New Roman"/>
            </a:endParaRPr>
          </a:p>
        </p:txBody>
      </p:sp>
    </p:spTree>
    <p:extLst>
      <p:ext uri="{BB962C8B-B14F-4D97-AF65-F5344CB8AC3E}">
        <p14:creationId xmlns:p14="http://schemas.microsoft.com/office/powerpoint/2010/main" val="2125719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4875694"/>
          </a:xfrm>
          <a:prstGeom prst="rect">
            <a:avLst/>
          </a:prstGeom>
          <a:noFill/>
          <a:ln>
            <a:noFill/>
          </a:ln>
        </p:spPr>
        <p:txBody>
          <a:bodyPr spcFirstLastPara="1" wrap="square" lIns="0" tIns="12700" rIns="0" bIns="0" anchor="t" anchorCtr="0">
            <a:spAutoFit/>
          </a:bodyPr>
          <a:lstStyle/>
          <a:p>
            <a:r>
              <a:rPr lang="en-US" dirty="0" smtClean="0"/>
              <a:t>ISP</a:t>
            </a: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smtClean="0"/>
              <a:t/>
            </a:r>
            <a:br>
              <a:rPr lang="en-US" dirty="0" smtClean="0"/>
            </a:br>
            <a:r>
              <a:rPr lang="en-US" dirty="0" smtClean="0"/>
              <a:t/>
            </a:r>
            <a:br>
              <a:rPr lang="en-US" dirty="0" smtClean="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73</a:t>
            </a:fld>
            <a:endParaRPr/>
          </a:p>
        </p:txBody>
      </p:sp>
      <p:sp>
        <p:nvSpPr>
          <p:cNvPr id="4" name="Google Shape;56;p8"/>
          <p:cNvSpPr txBox="1"/>
          <p:nvPr/>
        </p:nvSpPr>
        <p:spPr>
          <a:xfrm>
            <a:off x="993900" y="1833375"/>
            <a:ext cx="8142000" cy="1022060"/>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An Internet Service Provider (ISP) is a company that provides access to the internet for residential, business, and mobile users, connecting them to the global network backbone via fiber, cable, DSL, or satellite.</a:t>
            </a:r>
            <a:endParaRPr lang="en-US" sz="2000" dirty="0">
              <a:latin typeface="Times New Roman"/>
              <a:ea typeface="Times New Roman"/>
              <a:cs typeface="Times New Roman"/>
              <a:sym typeface="Times New Roman"/>
            </a:endParaRPr>
          </a:p>
        </p:txBody>
      </p:sp>
    </p:spTree>
    <p:extLst>
      <p:ext uri="{BB962C8B-B14F-4D97-AF65-F5344CB8AC3E}">
        <p14:creationId xmlns:p14="http://schemas.microsoft.com/office/powerpoint/2010/main" val="2485754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4875694"/>
          </a:xfrm>
          <a:prstGeom prst="rect">
            <a:avLst/>
          </a:prstGeom>
          <a:noFill/>
          <a:ln>
            <a:noFill/>
          </a:ln>
        </p:spPr>
        <p:txBody>
          <a:bodyPr spcFirstLastPara="1" wrap="square" lIns="0" tIns="12700" rIns="0" bIns="0" anchor="t" anchorCtr="0">
            <a:spAutoFit/>
          </a:bodyPr>
          <a:lstStyle/>
          <a:p>
            <a:r>
              <a:rPr lang="en-US" dirty="0"/>
              <a:t>Intranets</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smtClean="0"/>
              <a:t/>
            </a:r>
            <a:br>
              <a:rPr lang="en-US" dirty="0" smtClean="0"/>
            </a:br>
            <a:r>
              <a:rPr lang="en-US" dirty="0" smtClean="0"/>
              <a:t/>
            </a:r>
            <a:br>
              <a:rPr lang="en-US" dirty="0" smtClean="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74</a:t>
            </a:fld>
            <a:endParaRPr/>
          </a:p>
        </p:txBody>
      </p:sp>
      <p:sp>
        <p:nvSpPr>
          <p:cNvPr id="4" name="Google Shape;56;p8"/>
          <p:cNvSpPr txBox="1"/>
          <p:nvPr/>
        </p:nvSpPr>
        <p:spPr>
          <a:xfrm>
            <a:off x="993900" y="1833375"/>
            <a:ext cx="8142000" cy="714283"/>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An intranet is a private network that is used within an organization. It is accessible only to authorized users such as employees.</a:t>
            </a:r>
            <a:endParaRPr lang="en-US" sz="2000" dirty="0">
              <a:latin typeface="Times New Roman"/>
              <a:ea typeface="Times New Roman"/>
              <a:cs typeface="Times New Roman"/>
              <a:sym typeface="Times New Roman"/>
            </a:endParaRPr>
          </a:p>
        </p:txBody>
      </p:sp>
    </p:spTree>
    <p:extLst>
      <p:ext uri="{BB962C8B-B14F-4D97-AF65-F5344CB8AC3E}">
        <p14:creationId xmlns:p14="http://schemas.microsoft.com/office/powerpoint/2010/main" val="848282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4875694"/>
          </a:xfrm>
          <a:prstGeom prst="rect">
            <a:avLst/>
          </a:prstGeom>
          <a:noFill/>
          <a:ln>
            <a:noFill/>
          </a:ln>
        </p:spPr>
        <p:txBody>
          <a:bodyPr spcFirstLastPara="1" wrap="square" lIns="0" tIns="12700" rIns="0" bIns="0" anchor="t" anchorCtr="0">
            <a:spAutoFit/>
          </a:bodyPr>
          <a:lstStyle/>
          <a:p>
            <a:r>
              <a:rPr lang="en-US" dirty="0"/>
              <a:t>Extranets</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smtClean="0"/>
              <a:t/>
            </a:r>
            <a:br>
              <a:rPr lang="en-US" dirty="0" smtClean="0"/>
            </a:br>
            <a:r>
              <a:rPr lang="en-US" dirty="0" smtClean="0"/>
              <a:t/>
            </a:r>
            <a:br>
              <a:rPr lang="en-US" dirty="0" smtClean="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75</a:t>
            </a:fld>
            <a:endParaRPr/>
          </a:p>
        </p:txBody>
      </p:sp>
      <p:sp>
        <p:nvSpPr>
          <p:cNvPr id="4" name="Google Shape;56;p8"/>
          <p:cNvSpPr txBox="1"/>
          <p:nvPr/>
        </p:nvSpPr>
        <p:spPr>
          <a:xfrm>
            <a:off x="993900" y="1833375"/>
            <a:ext cx="8142000" cy="1022060"/>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An extranet is an extension of an intranet that allows limited access to external users such as customers, suppliers, or business partners. It provides controlled access to certain parts of the organization’s network.</a:t>
            </a:r>
            <a:endParaRPr lang="en-US" sz="2000" dirty="0">
              <a:latin typeface="Times New Roman"/>
              <a:ea typeface="Times New Roman"/>
              <a:cs typeface="Times New Roman"/>
              <a:sym typeface="Times New Roman"/>
            </a:endParaRPr>
          </a:p>
        </p:txBody>
      </p:sp>
    </p:spTree>
    <p:extLst>
      <p:ext uri="{BB962C8B-B14F-4D97-AF65-F5344CB8AC3E}">
        <p14:creationId xmlns:p14="http://schemas.microsoft.com/office/powerpoint/2010/main" val="2858772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a:stretch>
            <a:fillRect/>
          </a:stretch>
        </p:blipFill>
        <p:spPr>
          <a:xfrm>
            <a:off x="2117035" y="1123123"/>
            <a:ext cx="5526155" cy="5068956"/>
          </a:xfrm>
          <a:prstGeom prst="rect">
            <a:avLst/>
          </a:prstGeom>
        </p:spPr>
      </p:pic>
    </p:spTree>
    <p:extLst>
      <p:ext uri="{BB962C8B-B14F-4D97-AF65-F5344CB8AC3E}">
        <p14:creationId xmlns:p14="http://schemas.microsoft.com/office/powerpoint/2010/main" val="2991922659"/>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5491247"/>
          </a:xfrm>
          <a:prstGeom prst="rect">
            <a:avLst/>
          </a:prstGeom>
          <a:noFill/>
          <a:ln>
            <a:noFill/>
          </a:ln>
        </p:spPr>
        <p:txBody>
          <a:bodyPr spcFirstLastPara="1" wrap="square" lIns="0" tIns="12700" rIns="0" bIns="0" anchor="t" anchorCtr="0">
            <a:spAutoFit/>
          </a:bodyPr>
          <a:lstStyle/>
          <a:p>
            <a:r>
              <a:rPr lang="en-US" dirty="0"/>
              <a:t>Creating a LAN</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smtClean="0"/>
              <a:t/>
            </a:r>
            <a:br>
              <a:rPr lang="en-US" dirty="0" smtClean="0"/>
            </a:br>
            <a:r>
              <a:rPr lang="en-US" dirty="0" smtClean="0"/>
              <a:t/>
            </a:r>
            <a:br>
              <a:rPr lang="en-US" dirty="0" smtClean="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77</a:t>
            </a:fld>
            <a:endParaRPr/>
          </a:p>
        </p:txBody>
      </p:sp>
      <p:sp>
        <p:nvSpPr>
          <p:cNvPr id="4" name="Google Shape;56;p8"/>
          <p:cNvSpPr txBox="1"/>
          <p:nvPr/>
        </p:nvSpPr>
        <p:spPr>
          <a:xfrm>
            <a:off x="993900" y="1833375"/>
            <a:ext cx="8142000" cy="1637613"/>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LAN’s can either be made wired or wireless</a:t>
            </a:r>
            <a:r>
              <a:rPr lang="en-US" sz="2000" dirty="0" smtClean="0">
                <a:latin typeface="Times New Roman"/>
                <a:ea typeface="Times New Roman"/>
                <a:cs typeface="Times New Roman"/>
                <a:sym typeface="Times New Roman"/>
              </a:rPr>
              <a:t>.</a:t>
            </a:r>
          </a:p>
          <a:p>
            <a:pPr marL="457200" indent="-311150">
              <a:buClr>
                <a:srgbClr val="CC9A00"/>
              </a:buClr>
              <a:buSzPts val="1300"/>
              <a:buFont typeface="Noto Sans Symbols"/>
              <a:buChar char="❑"/>
            </a:pPr>
            <a:endParaRPr lang="en-US" sz="2000" dirty="0">
              <a:latin typeface="Times New Roman"/>
              <a:ea typeface="Times New Roman"/>
              <a:cs typeface="Times New Roman"/>
              <a:sym typeface="Times New Roman"/>
            </a:endParaRPr>
          </a:p>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Twisted pair, coax or fiber optic cable can be used in wired LAN’s</a:t>
            </a:r>
            <a:r>
              <a:rPr lang="en-US" sz="2000" dirty="0" smtClean="0">
                <a:latin typeface="Times New Roman"/>
                <a:ea typeface="Times New Roman"/>
                <a:cs typeface="Times New Roman"/>
                <a:sym typeface="Times New Roman"/>
              </a:rPr>
              <a:t>.</a:t>
            </a:r>
          </a:p>
          <a:p>
            <a:pPr marL="457200" indent="-311150">
              <a:buClr>
                <a:srgbClr val="CC9A00"/>
              </a:buClr>
              <a:buSzPts val="1300"/>
              <a:buFont typeface="Noto Sans Symbols"/>
              <a:buChar char="❑"/>
            </a:pPr>
            <a:endParaRPr lang="en-US" sz="2000" dirty="0">
              <a:latin typeface="Times New Roman"/>
              <a:ea typeface="Times New Roman"/>
              <a:cs typeface="Times New Roman"/>
              <a:sym typeface="Times New Roman"/>
            </a:endParaRPr>
          </a:p>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Nodes are linked together with a certain topology.</a:t>
            </a:r>
          </a:p>
        </p:txBody>
      </p:sp>
    </p:spTree>
    <p:extLst>
      <p:ext uri="{BB962C8B-B14F-4D97-AF65-F5344CB8AC3E}">
        <p14:creationId xmlns:p14="http://schemas.microsoft.com/office/powerpoint/2010/main" val="178524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106800"/>
          </a:xfrm>
          <a:prstGeom prst="rect">
            <a:avLst/>
          </a:prstGeom>
          <a:noFill/>
          <a:ln>
            <a:noFill/>
          </a:ln>
        </p:spPr>
        <p:txBody>
          <a:bodyPr spcFirstLastPara="1" wrap="square" lIns="0" tIns="12700" rIns="0" bIns="0" anchor="t" anchorCtr="0">
            <a:spAutoFit/>
          </a:bodyPr>
          <a:lstStyle/>
          <a:p>
            <a:r>
              <a:rPr lang="en-US" dirty="0"/>
              <a:t>Network </a:t>
            </a:r>
            <a:r>
              <a:rPr lang="en-US" dirty="0" smtClean="0"/>
              <a:t>topologies</a:t>
            </a: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smtClean="0"/>
              <a:t/>
            </a:r>
            <a:br>
              <a:rPr lang="en-US" dirty="0" smtClean="0"/>
            </a:br>
            <a:r>
              <a:rPr lang="en-US" dirty="0" smtClean="0"/>
              <a:t/>
            </a:r>
            <a:br>
              <a:rPr lang="en-US" dirty="0" smtClean="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78</a:t>
            </a:fld>
            <a:endParaRPr/>
          </a:p>
        </p:txBody>
      </p:sp>
      <p:sp>
        <p:nvSpPr>
          <p:cNvPr id="4" name="Google Shape;56;p8"/>
          <p:cNvSpPr txBox="1"/>
          <p:nvPr/>
        </p:nvSpPr>
        <p:spPr>
          <a:xfrm>
            <a:off x="993900" y="1833375"/>
            <a:ext cx="8142000" cy="2253166"/>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The physical or logical arrangement of devices (hosts) and how they are connected to each other in a network</a:t>
            </a:r>
            <a:r>
              <a:rPr lang="en-US" sz="2000" dirty="0" smtClean="0">
                <a:latin typeface="Times New Roman"/>
                <a:ea typeface="Times New Roman"/>
                <a:cs typeface="Times New Roman"/>
                <a:sym typeface="Times New Roman"/>
              </a:rPr>
              <a:t>.</a:t>
            </a:r>
          </a:p>
          <a:p>
            <a:pPr marL="146050">
              <a:buClr>
                <a:srgbClr val="CC9A00"/>
              </a:buClr>
              <a:buSzPts val="1300"/>
            </a:pPr>
            <a:endParaRPr lang="en-US" sz="2000" dirty="0">
              <a:latin typeface="Times New Roman"/>
              <a:ea typeface="Times New Roman"/>
              <a:cs typeface="Times New Roman"/>
              <a:sym typeface="Times New Roman"/>
            </a:endParaRPr>
          </a:p>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Defines how data flows and how devices communicate</a:t>
            </a:r>
            <a:r>
              <a:rPr lang="en-US" sz="2000" dirty="0" smtClean="0">
                <a:latin typeface="Times New Roman"/>
                <a:ea typeface="Times New Roman"/>
                <a:cs typeface="Times New Roman"/>
                <a:sym typeface="Times New Roman"/>
              </a:rPr>
              <a:t>.</a:t>
            </a:r>
          </a:p>
          <a:p>
            <a:pPr marL="457200" indent="-311150">
              <a:buClr>
                <a:srgbClr val="CC9A00"/>
              </a:buClr>
              <a:buSzPts val="1300"/>
              <a:buFont typeface="Noto Sans Symbols"/>
              <a:buChar char="❑"/>
            </a:pPr>
            <a:endParaRPr lang="en-US" sz="2000" dirty="0">
              <a:latin typeface="Times New Roman"/>
              <a:ea typeface="Times New Roman"/>
              <a:cs typeface="Times New Roman"/>
              <a:sym typeface="Times New Roman"/>
            </a:endParaRPr>
          </a:p>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There are two main types of topologies.</a:t>
            </a:r>
          </a:p>
          <a:p>
            <a:pPr marL="488950" indent="-342900">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Physical Topology and Logical Topology</a:t>
            </a:r>
          </a:p>
        </p:txBody>
      </p:sp>
    </p:spTree>
    <p:extLst>
      <p:ext uri="{BB962C8B-B14F-4D97-AF65-F5344CB8AC3E}">
        <p14:creationId xmlns:p14="http://schemas.microsoft.com/office/powerpoint/2010/main" val="1649487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106800"/>
          </a:xfrm>
          <a:prstGeom prst="rect">
            <a:avLst/>
          </a:prstGeom>
          <a:noFill/>
          <a:ln>
            <a:noFill/>
          </a:ln>
        </p:spPr>
        <p:txBody>
          <a:bodyPr spcFirstLastPara="1" wrap="square" lIns="0" tIns="12700" rIns="0" bIns="0" anchor="t" anchorCtr="0">
            <a:spAutoFit/>
          </a:bodyPr>
          <a:lstStyle/>
          <a:p>
            <a:r>
              <a:rPr lang="en-US" dirty="0"/>
              <a:t>Physical Topology</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smtClean="0"/>
              <a:t/>
            </a:r>
            <a:br>
              <a:rPr lang="en-US" dirty="0" smtClean="0"/>
            </a:br>
            <a:r>
              <a:rPr lang="en-US" dirty="0" smtClean="0"/>
              <a:t/>
            </a:r>
            <a:br>
              <a:rPr lang="en-US" dirty="0" smtClean="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79</a:t>
            </a:fld>
            <a:endParaRPr/>
          </a:p>
        </p:txBody>
      </p:sp>
      <p:sp>
        <p:nvSpPr>
          <p:cNvPr id="4" name="Google Shape;56;p8"/>
          <p:cNvSpPr txBox="1"/>
          <p:nvPr/>
        </p:nvSpPr>
        <p:spPr>
          <a:xfrm>
            <a:off x="993900" y="1833375"/>
            <a:ext cx="8142000" cy="1945389"/>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The actual physical layout of cables and devices</a:t>
            </a:r>
            <a:r>
              <a:rPr lang="en-US" sz="2000" dirty="0" smtClean="0">
                <a:latin typeface="Times New Roman"/>
                <a:ea typeface="Times New Roman"/>
                <a:cs typeface="Times New Roman"/>
                <a:sym typeface="Times New Roman"/>
              </a:rPr>
              <a:t>.</a:t>
            </a:r>
          </a:p>
          <a:p>
            <a:pPr marL="146050">
              <a:buClr>
                <a:srgbClr val="CC9A00"/>
              </a:buClr>
              <a:buSzPts val="1300"/>
            </a:pPr>
            <a:endParaRPr lang="en-US" sz="2000" dirty="0">
              <a:latin typeface="Times New Roman"/>
              <a:ea typeface="Times New Roman"/>
              <a:cs typeface="Times New Roman"/>
              <a:sym typeface="Times New Roman"/>
            </a:endParaRPr>
          </a:p>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Shows how devices are physically connected.</a:t>
            </a:r>
          </a:p>
          <a:p>
            <a:pPr marL="457200" indent="-311150">
              <a:buClr>
                <a:srgbClr val="CC9A00"/>
              </a:buClr>
              <a:buSzPts val="1300"/>
              <a:buFont typeface="Noto Sans Symbols"/>
              <a:buChar char="❑"/>
            </a:pPr>
            <a:endParaRPr lang="en-US" sz="2000" dirty="0">
              <a:latin typeface="Times New Roman"/>
              <a:ea typeface="Times New Roman"/>
              <a:cs typeface="Times New Roman"/>
              <a:sym typeface="Times New Roman"/>
            </a:endParaRPr>
          </a:p>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Examples:</a:t>
            </a:r>
          </a:p>
          <a:p>
            <a:pPr marL="488950" indent="-342900">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Bus, Star, Mesh, Ring, Tree, Hybrid</a:t>
            </a:r>
          </a:p>
        </p:txBody>
      </p:sp>
    </p:spTree>
    <p:extLst>
      <p:ext uri="{BB962C8B-B14F-4D97-AF65-F5344CB8AC3E}">
        <p14:creationId xmlns:p14="http://schemas.microsoft.com/office/powerpoint/2010/main" val="1790385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722353"/>
          </a:xfrm>
          <a:prstGeom prst="rect">
            <a:avLst/>
          </a:prstGeom>
          <a:noFill/>
          <a:ln>
            <a:noFill/>
          </a:ln>
        </p:spPr>
        <p:txBody>
          <a:bodyPr spcFirstLastPara="1" wrap="square" lIns="0" tIns="12700" rIns="0" bIns="0" anchor="t" anchorCtr="0">
            <a:spAutoFit/>
          </a:bodyPr>
          <a:lstStyle/>
          <a:p>
            <a:r>
              <a:rPr lang="en-US" dirty="0"/>
              <a:t>Star Topology</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smtClean="0"/>
              <a:t/>
            </a:r>
            <a:br>
              <a:rPr lang="en-US" dirty="0" smtClean="0"/>
            </a:br>
            <a:r>
              <a:rPr lang="en-US" dirty="0" smtClean="0"/>
              <a:t/>
            </a:r>
            <a:br>
              <a:rPr lang="en-US" dirty="0" smtClean="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80</a:t>
            </a:fld>
            <a:endParaRPr/>
          </a:p>
        </p:txBody>
      </p:sp>
      <p:sp>
        <p:nvSpPr>
          <p:cNvPr id="4" name="Google Shape;56;p8"/>
          <p:cNvSpPr txBox="1"/>
          <p:nvPr/>
        </p:nvSpPr>
        <p:spPr>
          <a:xfrm>
            <a:off x="993900" y="1833375"/>
            <a:ext cx="8142000" cy="2868719"/>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All devices are connected to a central device such as a switch or hub</a:t>
            </a:r>
            <a:r>
              <a:rPr lang="en-US" sz="2000" dirty="0" smtClean="0">
                <a:latin typeface="Times New Roman"/>
                <a:ea typeface="Times New Roman"/>
                <a:cs typeface="Times New Roman"/>
                <a:sym typeface="Times New Roman"/>
              </a:rPr>
              <a:t>.</a:t>
            </a:r>
          </a:p>
          <a:p>
            <a:pPr marL="146050">
              <a:buClr>
                <a:srgbClr val="CC9A00"/>
              </a:buClr>
              <a:buSzPts val="1300"/>
            </a:pPr>
            <a:r>
              <a:rPr lang="en-US" sz="2000" dirty="0" smtClean="0">
                <a:latin typeface="Times New Roman"/>
                <a:ea typeface="Times New Roman"/>
                <a:cs typeface="Times New Roman"/>
                <a:sym typeface="Times New Roman"/>
              </a:rPr>
              <a:t> </a:t>
            </a:r>
            <a:endParaRPr lang="en-US" sz="2000" dirty="0">
              <a:latin typeface="Times New Roman"/>
              <a:ea typeface="Times New Roman"/>
              <a:cs typeface="Times New Roman"/>
              <a:sym typeface="Times New Roman"/>
            </a:endParaRPr>
          </a:p>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All communication passes through this central point</a:t>
            </a:r>
            <a:r>
              <a:rPr lang="en-US" sz="2000" dirty="0" smtClean="0">
                <a:latin typeface="Times New Roman"/>
                <a:ea typeface="Times New Roman"/>
                <a:cs typeface="Times New Roman"/>
                <a:sym typeface="Times New Roman"/>
              </a:rPr>
              <a:t>.</a:t>
            </a:r>
          </a:p>
          <a:p>
            <a:pPr marL="146050">
              <a:buClr>
                <a:srgbClr val="CC9A00"/>
              </a:buClr>
              <a:buSzPts val="1300"/>
            </a:pPr>
            <a:endParaRPr lang="en-US" sz="2000" dirty="0">
              <a:latin typeface="Times New Roman"/>
              <a:ea typeface="Times New Roman"/>
              <a:cs typeface="Times New Roman"/>
              <a:sym typeface="Times New Roman"/>
            </a:endParaRPr>
          </a:p>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Easy to manage and troubleshoot</a:t>
            </a:r>
            <a:r>
              <a:rPr lang="en-US" sz="2000" dirty="0" smtClean="0">
                <a:latin typeface="Times New Roman"/>
                <a:ea typeface="Times New Roman"/>
                <a:cs typeface="Times New Roman"/>
                <a:sym typeface="Times New Roman"/>
              </a:rPr>
              <a:t>.</a:t>
            </a:r>
          </a:p>
          <a:p>
            <a:pPr marL="146050">
              <a:buClr>
                <a:srgbClr val="CC9A00"/>
              </a:buClr>
              <a:buSzPts val="1300"/>
            </a:pPr>
            <a:endParaRPr lang="en-US" sz="2000" dirty="0">
              <a:latin typeface="Times New Roman"/>
              <a:ea typeface="Times New Roman"/>
              <a:cs typeface="Times New Roman"/>
              <a:sym typeface="Times New Roman"/>
            </a:endParaRPr>
          </a:p>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Failure of one device does not affect others</a:t>
            </a:r>
            <a:r>
              <a:rPr lang="en-US" sz="2000" dirty="0" smtClean="0">
                <a:latin typeface="Times New Roman"/>
                <a:ea typeface="Times New Roman"/>
                <a:cs typeface="Times New Roman"/>
                <a:sym typeface="Times New Roman"/>
              </a:rPr>
              <a:t>.</a:t>
            </a:r>
          </a:p>
          <a:p>
            <a:pPr marL="146050">
              <a:buClr>
                <a:srgbClr val="CC9A00"/>
              </a:buClr>
              <a:buSzPts val="1300"/>
            </a:pPr>
            <a:endParaRPr lang="en-US" sz="2000" dirty="0">
              <a:latin typeface="Times New Roman"/>
              <a:ea typeface="Times New Roman"/>
              <a:cs typeface="Times New Roman"/>
              <a:sym typeface="Times New Roman"/>
            </a:endParaRPr>
          </a:p>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If the central device fails, the whole network stops.</a:t>
            </a:r>
          </a:p>
        </p:txBody>
      </p:sp>
    </p:spTree>
    <p:extLst>
      <p:ext uri="{BB962C8B-B14F-4D97-AF65-F5344CB8AC3E}">
        <p14:creationId xmlns:p14="http://schemas.microsoft.com/office/powerpoint/2010/main" val="3235557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1252330" y="1808190"/>
            <a:ext cx="7609884" cy="3711759"/>
          </a:xfrm>
          <a:prstGeom prst="rect">
            <a:avLst/>
          </a:prstGeom>
        </p:spPr>
      </p:pic>
    </p:spTree>
    <p:extLst>
      <p:ext uri="{BB962C8B-B14F-4D97-AF65-F5344CB8AC3E}">
        <p14:creationId xmlns:p14="http://schemas.microsoft.com/office/powerpoint/2010/main" val="2202415720"/>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7337906"/>
          </a:xfrm>
          <a:prstGeom prst="rect">
            <a:avLst/>
          </a:prstGeom>
          <a:noFill/>
          <a:ln>
            <a:noFill/>
          </a:ln>
        </p:spPr>
        <p:txBody>
          <a:bodyPr spcFirstLastPara="1" wrap="square" lIns="0" tIns="12700" rIns="0" bIns="0" anchor="t" anchorCtr="0">
            <a:spAutoFit/>
          </a:bodyPr>
          <a:lstStyle/>
          <a:p>
            <a:r>
              <a:rPr lang="en-US" dirty="0"/>
              <a:t>Bus Topology</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smtClean="0"/>
              <a:t/>
            </a:r>
            <a:br>
              <a:rPr lang="en-US" dirty="0" smtClean="0"/>
            </a:br>
            <a:r>
              <a:rPr lang="en-US" dirty="0" smtClean="0"/>
              <a:t/>
            </a:r>
            <a:br>
              <a:rPr lang="en-US" dirty="0" smtClean="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82</a:t>
            </a:fld>
            <a:endParaRPr/>
          </a:p>
        </p:txBody>
      </p:sp>
      <p:sp>
        <p:nvSpPr>
          <p:cNvPr id="4" name="Google Shape;56;p8"/>
          <p:cNvSpPr txBox="1"/>
          <p:nvPr/>
        </p:nvSpPr>
        <p:spPr>
          <a:xfrm>
            <a:off x="993900" y="1833375"/>
            <a:ext cx="8142000" cy="2560942"/>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All devices are connected to a single central cable called the backbone</a:t>
            </a:r>
            <a:r>
              <a:rPr lang="en-US" sz="2000" dirty="0" smtClean="0">
                <a:latin typeface="Times New Roman"/>
                <a:ea typeface="Times New Roman"/>
                <a:cs typeface="Times New Roman"/>
                <a:sym typeface="Times New Roman"/>
              </a:rPr>
              <a:t>.</a:t>
            </a:r>
          </a:p>
          <a:p>
            <a:pPr marL="457200" indent="-311150">
              <a:buClr>
                <a:srgbClr val="CC9A00"/>
              </a:buClr>
              <a:buSzPts val="1300"/>
              <a:buFont typeface="Noto Sans Symbols"/>
              <a:buChar char="❑"/>
            </a:pPr>
            <a:endParaRPr lang="en-US" sz="2000" dirty="0">
              <a:latin typeface="Times New Roman"/>
              <a:ea typeface="Times New Roman"/>
              <a:cs typeface="Times New Roman"/>
              <a:sym typeface="Times New Roman"/>
            </a:endParaRPr>
          </a:p>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Data sent by one device travels along the cable and is received by all devices, but only the intended device processes it</a:t>
            </a:r>
            <a:r>
              <a:rPr lang="en-US" sz="2000" dirty="0" smtClean="0">
                <a:latin typeface="Times New Roman"/>
                <a:ea typeface="Times New Roman"/>
                <a:cs typeface="Times New Roman"/>
                <a:sym typeface="Times New Roman"/>
              </a:rPr>
              <a:t>.</a:t>
            </a:r>
          </a:p>
          <a:p>
            <a:pPr marL="457200" indent="-311150">
              <a:buClr>
                <a:srgbClr val="CC9A00"/>
              </a:buClr>
              <a:buSzPts val="1300"/>
              <a:buFont typeface="Noto Sans Symbols"/>
              <a:buChar char="❑"/>
            </a:pPr>
            <a:endParaRPr lang="en-US" sz="2000" dirty="0">
              <a:latin typeface="Times New Roman"/>
              <a:ea typeface="Times New Roman"/>
              <a:cs typeface="Times New Roman"/>
              <a:sym typeface="Times New Roman"/>
            </a:endParaRPr>
          </a:p>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Simple and low-cost</a:t>
            </a:r>
            <a:r>
              <a:rPr lang="en-US" sz="2000" dirty="0" smtClean="0">
                <a:latin typeface="Times New Roman"/>
                <a:ea typeface="Times New Roman"/>
                <a:cs typeface="Times New Roman"/>
                <a:sym typeface="Times New Roman"/>
              </a:rPr>
              <a:t>.</a:t>
            </a:r>
          </a:p>
          <a:p>
            <a:pPr marL="457200" indent="-311150">
              <a:buClr>
                <a:srgbClr val="CC9A00"/>
              </a:buClr>
              <a:buSzPts val="1300"/>
              <a:buFont typeface="Noto Sans Symbols"/>
              <a:buChar char="❑"/>
            </a:pPr>
            <a:endParaRPr lang="en-US" sz="2000" dirty="0">
              <a:latin typeface="Times New Roman"/>
              <a:ea typeface="Times New Roman"/>
              <a:cs typeface="Times New Roman"/>
              <a:sym typeface="Times New Roman"/>
            </a:endParaRPr>
          </a:p>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If the main cable fails, the entire network goes down.</a:t>
            </a:r>
          </a:p>
        </p:txBody>
      </p:sp>
    </p:spTree>
    <p:extLst>
      <p:ext uri="{BB962C8B-B14F-4D97-AF65-F5344CB8AC3E}">
        <p14:creationId xmlns:p14="http://schemas.microsoft.com/office/powerpoint/2010/main" val="4124918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469655" y="1956737"/>
            <a:ext cx="7278116" cy="3381847"/>
          </a:xfrm>
          <a:prstGeom prst="rect">
            <a:avLst/>
          </a:prstGeom>
        </p:spPr>
      </p:pic>
    </p:spTree>
    <p:extLst>
      <p:ext uri="{BB962C8B-B14F-4D97-AF65-F5344CB8AC3E}">
        <p14:creationId xmlns:p14="http://schemas.microsoft.com/office/powerpoint/2010/main" val="3584792710"/>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7953459"/>
          </a:xfrm>
          <a:prstGeom prst="rect">
            <a:avLst/>
          </a:prstGeom>
          <a:noFill/>
          <a:ln>
            <a:noFill/>
          </a:ln>
        </p:spPr>
        <p:txBody>
          <a:bodyPr spcFirstLastPara="1" wrap="square" lIns="0" tIns="12700" rIns="0" bIns="0" anchor="t" anchorCtr="0">
            <a:spAutoFit/>
          </a:bodyPr>
          <a:lstStyle/>
          <a:p>
            <a:r>
              <a:rPr lang="en-US" dirty="0"/>
              <a:t>Ring Topology</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smtClean="0"/>
              <a:t/>
            </a:r>
            <a:br>
              <a:rPr lang="en-US" dirty="0" smtClean="0"/>
            </a:br>
            <a:r>
              <a:rPr lang="en-US" dirty="0" smtClean="0"/>
              <a:t/>
            </a:r>
            <a:br>
              <a:rPr lang="en-US" dirty="0" smtClean="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84</a:t>
            </a:fld>
            <a:endParaRPr/>
          </a:p>
        </p:txBody>
      </p:sp>
      <p:sp>
        <p:nvSpPr>
          <p:cNvPr id="4" name="Google Shape;56;p8"/>
          <p:cNvSpPr txBox="1"/>
          <p:nvPr/>
        </p:nvSpPr>
        <p:spPr>
          <a:xfrm>
            <a:off x="993900" y="1833375"/>
            <a:ext cx="8142000" cy="2560942"/>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Devices are connected in a circular manner where each device is connected to two others</a:t>
            </a:r>
            <a:r>
              <a:rPr lang="en-US" sz="2000" dirty="0" smtClean="0">
                <a:latin typeface="Times New Roman"/>
                <a:ea typeface="Times New Roman"/>
                <a:cs typeface="Times New Roman"/>
                <a:sym typeface="Times New Roman"/>
              </a:rPr>
              <a:t>.</a:t>
            </a:r>
          </a:p>
          <a:p>
            <a:pPr marL="457200" indent="-311150">
              <a:buClr>
                <a:srgbClr val="CC9A00"/>
              </a:buClr>
              <a:buSzPts val="1300"/>
              <a:buFont typeface="Noto Sans Symbols"/>
              <a:buChar char="❑"/>
            </a:pPr>
            <a:endParaRPr lang="en-US" sz="2000" dirty="0">
              <a:latin typeface="Times New Roman"/>
              <a:ea typeface="Times New Roman"/>
              <a:cs typeface="Times New Roman"/>
              <a:sym typeface="Times New Roman"/>
            </a:endParaRPr>
          </a:p>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Data travels in one direction around the ring until it reaches the destination</a:t>
            </a:r>
            <a:r>
              <a:rPr lang="en-US" sz="2000" dirty="0" smtClean="0">
                <a:latin typeface="Times New Roman"/>
                <a:ea typeface="Times New Roman"/>
                <a:cs typeface="Times New Roman"/>
                <a:sym typeface="Times New Roman"/>
              </a:rPr>
              <a:t>.</a:t>
            </a:r>
          </a:p>
          <a:p>
            <a:pPr marL="457200" indent="-311150">
              <a:buClr>
                <a:srgbClr val="CC9A00"/>
              </a:buClr>
              <a:buSzPts val="1300"/>
              <a:buFont typeface="Noto Sans Symbols"/>
              <a:buChar char="❑"/>
            </a:pPr>
            <a:endParaRPr lang="en-US" sz="2000" dirty="0">
              <a:latin typeface="Times New Roman"/>
              <a:ea typeface="Times New Roman"/>
              <a:cs typeface="Times New Roman"/>
              <a:sym typeface="Times New Roman"/>
            </a:endParaRPr>
          </a:p>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Provides orderly data transmission</a:t>
            </a:r>
            <a:r>
              <a:rPr lang="en-US" sz="2000" dirty="0" smtClean="0">
                <a:latin typeface="Times New Roman"/>
                <a:ea typeface="Times New Roman"/>
                <a:cs typeface="Times New Roman"/>
                <a:sym typeface="Times New Roman"/>
              </a:rPr>
              <a:t>.</a:t>
            </a:r>
          </a:p>
          <a:p>
            <a:pPr marL="457200" indent="-311150">
              <a:buClr>
                <a:srgbClr val="CC9A00"/>
              </a:buClr>
              <a:buSzPts val="1300"/>
              <a:buFont typeface="Noto Sans Symbols"/>
              <a:buChar char="❑"/>
            </a:pPr>
            <a:endParaRPr lang="en-US" sz="2000" dirty="0">
              <a:latin typeface="Times New Roman"/>
              <a:ea typeface="Times New Roman"/>
              <a:cs typeface="Times New Roman"/>
              <a:sym typeface="Times New Roman"/>
            </a:endParaRPr>
          </a:p>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Failure in one device or connection can disrupt the entire network.</a:t>
            </a:r>
          </a:p>
        </p:txBody>
      </p:sp>
    </p:spTree>
    <p:extLst>
      <p:ext uri="{BB962C8B-B14F-4D97-AF65-F5344CB8AC3E}">
        <p14:creationId xmlns:p14="http://schemas.microsoft.com/office/powerpoint/2010/main" val="209068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282148" y="1805904"/>
            <a:ext cx="7464321" cy="3713254"/>
          </a:xfrm>
          <a:prstGeom prst="rect">
            <a:avLst/>
          </a:prstGeom>
        </p:spPr>
      </p:pic>
    </p:spTree>
    <p:extLst>
      <p:ext uri="{BB962C8B-B14F-4D97-AF65-F5344CB8AC3E}">
        <p14:creationId xmlns:p14="http://schemas.microsoft.com/office/powerpoint/2010/main" val="1346100753"/>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8569012"/>
          </a:xfrm>
          <a:prstGeom prst="rect">
            <a:avLst/>
          </a:prstGeom>
          <a:noFill/>
          <a:ln>
            <a:noFill/>
          </a:ln>
        </p:spPr>
        <p:txBody>
          <a:bodyPr spcFirstLastPara="1" wrap="square" lIns="0" tIns="12700" rIns="0" bIns="0" anchor="t" anchorCtr="0">
            <a:spAutoFit/>
          </a:bodyPr>
          <a:lstStyle/>
          <a:p>
            <a:r>
              <a:rPr lang="en-US" dirty="0"/>
              <a:t>Mesh Topology</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smtClean="0"/>
              <a:t/>
            </a:r>
            <a:br>
              <a:rPr lang="en-US" dirty="0" smtClean="0"/>
            </a:br>
            <a:r>
              <a:rPr lang="en-US" dirty="0" smtClean="0"/>
              <a:t/>
            </a:r>
            <a:br>
              <a:rPr lang="en-US" dirty="0" smtClean="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86</a:t>
            </a:fld>
            <a:endParaRPr/>
          </a:p>
        </p:txBody>
      </p:sp>
      <p:sp>
        <p:nvSpPr>
          <p:cNvPr id="4" name="Google Shape;56;p8"/>
          <p:cNvSpPr txBox="1"/>
          <p:nvPr/>
        </p:nvSpPr>
        <p:spPr>
          <a:xfrm>
            <a:off x="993900" y="1833375"/>
            <a:ext cx="8142000" cy="2253166"/>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Each device is connected to multiple other devices</a:t>
            </a:r>
            <a:r>
              <a:rPr lang="en-US" sz="2000" dirty="0" smtClean="0">
                <a:latin typeface="Times New Roman"/>
                <a:ea typeface="Times New Roman"/>
                <a:cs typeface="Times New Roman"/>
                <a:sym typeface="Times New Roman"/>
              </a:rPr>
              <a:t>.</a:t>
            </a:r>
          </a:p>
          <a:p>
            <a:pPr marL="146050">
              <a:buClr>
                <a:srgbClr val="CC9A00"/>
              </a:buClr>
              <a:buSzPts val="1300"/>
            </a:pPr>
            <a:endParaRPr lang="en-US" sz="2000" dirty="0">
              <a:latin typeface="Times New Roman"/>
              <a:ea typeface="Times New Roman"/>
              <a:cs typeface="Times New Roman"/>
              <a:sym typeface="Times New Roman"/>
            </a:endParaRPr>
          </a:p>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In a full mesh, each device is connected to every other device</a:t>
            </a:r>
            <a:r>
              <a:rPr lang="en-US" sz="2000" dirty="0" smtClean="0">
                <a:latin typeface="Times New Roman"/>
                <a:ea typeface="Times New Roman"/>
                <a:cs typeface="Times New Roman"/>
                <a:sym typeface="Times New Roman"/>
              </a:rPr>
              <a:t>.</a:t>
            </a:r>
          </a:p>
          <a:p>
            <a:pPr marL="457200" indent="-311150">
              <a:buClr>
                <a:srgbClr val="CC9A00"/>
              </a:buClr>
              <a:buSzPts val="1300"/>
              <a:buFont typeface="Noto Sans Symbols"/>
              <a:buChar char="❑"/>
            </a:pPr>
            <a:endParaRPr lang="en-US" sz="2000" dirty="0" smtClean="0">
              <a:latin typeface="Times New Roman"/>
              <a:ea typeface="Times New Roman"/>
              <a:cs typeface="Times New Roman"/>
              <a:sym typeface="Times New Roman"/>
            </a:endParaRPr>
          </a:p>
          <a:p>
            <a:pPr marL="45720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Provides </a:t>
            </a:r>
            <a:r>
              <a:rPr lang="en-US" sz="2000" dirty="0">
                <a:latin typeface="Times New Roman"/>
                <a:ea typeface="Times New Roman"/>
                <a:cs typeface="Times New Roman"/>
                <a:sym typeface="Times New Roman"/>
              </a:rPr>
              <a:t>high reliability and multiple paths for data</a:t>
            </a:r>
            <a:r>
              <a:rPr lang="en-US" sz="2000" dirty="0" smtClean="0">
                <a:latin typeface="Times New Roman"/>
                <a:ea typeface="Times New Roman"/>
                <a:cs typeface="Times New Roman"/>
                <a:sym typeface="Times New Roman"/>
              </a:rPr>
              <a:t>.</a:t>
            </a:r>
          </a:p>
          <a:p>
            <a:pPr marL="457200" indent="-311150">
              <a:buClr>
                <a:srgbClr val="CC9A00"/>
              </a:buClr>
              <a:buSzPts val="1300"/>
              <a:buFont typeface="Noto Sans Symbols"/>
              <a:buChar char="❑"/>
            </a:pPr>
            <a:endParaRPr lang="en-US" sz="2000" dirty="0">
              <a:latin typeface="Times New Roman"/>
              <a:ea typeface="Times New Roman"/>
              <a:cs typeface="Times New Roman"/>
              <a:sym typeface="Times New Roman"/>
            </a:endParaRPr>
          </a:p>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Expensive and complex to set up due to the large number of connections.</a:t>
            </a:r>
          </a:p>
        </p:txBody>
      </p:sp>
    </p:spTree>
    <p:extLst>
      <p:ext uri="{BB962C8B-B14F-4D97-AF65-F5344CB8AC3E}">
        <p14:creationId xmlns:p14="http://schemas.microsoft.com/office/powerpoint/2010/main" val="973358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222512" y="1899929"/>
            <a:ext cx="7451271" cy="3542782"/>
          </a:xfrm>
          <a:prstGeom prst="rect">
            <a:avLst/>
          </a:prstGeom>
        </p:spPr>
      </p:pic>
    </p:spTree>
    <p:extLst>
      <p:ext uri="{BB962C8B-B14F-4D97-AF65-F5344CB8AC3E}">
        <p14:creationId xmlns:p14="http://schemas.microsoft.com/office/powerpoint/2010/main" val="193058213"/>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9184566"/>
          </a:xfrm>
          <a:prstGeom prst="rect">
            <a:avLst/>
          </a:prstGeom>
          <a:noFill/>
          <a:ln>
            <a:noFill/>
          </a:ln>
        </p:spPr>
        <p:txBody>
          <a:bodyPr spcFirstLastPara="1" wrap="square" lIns="0" tIns="12700" rIns="0" bIns="0" anchor="t" anchorCtr="0">
            <a:spAutoFit/>
          </a:bodyPr>
          <a:lstStyle/>
          <a:p>
            <a:r>
              <a:rPr lang="en-US" dirty="0"/>
              <a:t>Tree Topology</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smtClean="0"/>
              <a:t/>
            </a:r>
            <a:br>
              <a:rPr lang="en-US" dirty="0" smtClean="0"/>
            </a:br>
            <a:r>
              <a:rPr lang="en-US" dirty="0" smtClean="0"/>
              <a:t/>
            </a:r>
            <a:br>
              <a:rPr lang="en-US" dirty="0" smtClean="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88</a:t>
            </a:fld>
            <a:endParaRPr/>
          </a:p>
        </p:txBody>
      </p:sp>
      <p:sp>
        <p:nvSpPr>
          <p:cNvPr id="4" name="Google Shape;56;p8"/>
          <p:cNvSpPr txBox="1"/>
          <p:nvPr/>
        </p:nvSpPr>
        <p:spPr>
          <a:xfrm>
            <a:off x="993900" y="1833375"/>
            <a:ext cx="8142000" cy="2560942"/>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A hierarchical structure that combines characteristics of star and bus topologies</a:t>
            </a:r>
            <a:r>
              <a:rPr lang="en-US" sz="2000" dirty="0" smtClean="0">
                <a:latin typeface="Times New Roman"/>
                <a:ea typeface="Times New Roman"/>
                <a:cs typeface="Times New Roman"/>
                <a:sym typeface="Times New Roman"/>
              </a:rPr>
              <a:t>.</a:t>
            </a:r>
          </a:p>
          <a:p>
            <a:pPr marL="146050">
              <a:buClr>
                <a:srgbClr val="CC9A00"/>
              </a:buClr>
              <a:buSzPts val="1300"/>
            </a:pPr>
            <a:endParaRPr lang="en-US" sz="2000" dirty="0">
              <a:latin typeface="Times New Roman"/>
              <a:ea typeface="Times New Roman"/>
              <a:cs typeface="Times New Roman"/>
              <a:sym typeface="Times New Roman"/>
            </a:endParaRPr>
          </a:p>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Has a root node and branches out to multiple levels of devices</a:t>
            </a:r>
            <a:r>
              <a:rPr lang="en-US" sz="2000" dirty="0" smtClean="0">
                <a:latin typeface="Times New Roman"/>
                <a:ea typeface="Times New Roman"/>
                <a:cs typeface="Times New Roman"/>
                <a:sym typeface="Times New Roman"/>
              </a:rPr>
              <a:t>.</a:t>
            </a:r>
          </a:p>
          <a:p>
            <a:pPr marL="146050">
              <a:buClr>
                <a:srgbClr val="CC9A00"/>
              </a:buClr>
              <a:buSzPts val="1300"/>
            </a:pPr>
            <a:endParaRPr lang="en-US" sz="2000" dirty="0">
              <a:latin typeface="Times New Roman"/>
              <a:ea typeface="Times New Roman"/>
              <a:cs typeface="Times New Roman"/>
              <a:sym typeface="Times New Roman"/>
            </a:endParaRPr>
          </a:p>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Scalable and suitable for large networks</a:t>
            </a:r>
            <a:r>
              <a:rPr lang="en-US" sz="2000" dirty="0" smtClean="0">
                <a:latin typeface="Times New Roman"/>
                <a:ea typeface="Times New Roman"/>
                <a:cs typeface="Times New Roman"/>
                <a:sym typeface="Times New Roman"/>
              </a:rPr>
              <a:t>.</a:t>
            </a:r>
          </a:p>
          <a:p>
            <a:pPr marL="146050">
              <a:buClr>
                <a:srgbClr val="CC9A00"/>
              </a:buClr>
              <a:buSzPts val="1300"/>
            </a:pPr>
            <a:endParaRPr lang="en-US" sz="2000" dirty="0">
              <a:latin typeface="Times New Roman"/>
              <a:ea typeface="Times New Roman"/>
              <a:cs typeface="Times New Roman"/>
              <a:sym typeface="Times New Roman"/>
            </a:endParaRPr>
          </a:p>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Failure of higher-level devices can affect many lower-level nodes.</a:t>
            </a:r>
          </a:p>
        </p:txBody>
      </p:sp>
    </p:spTree>
    <p:extLst>
      <p:ext uri="{BB962C8B-B14F-4D97-AF65-F5344CB8AC3E}">
        <p14:creationId xmlns:p14="http://schemas.microsoft.com/office/powerpoint/2010/main" val="1196948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365216" y="1970105"/>
            <a:ext cx="7345021" cy="3635564"/>
          </a:xfrm>
          <a:prstGeom prst="rect">
            <a:avLst/>
          </a:prstGeom>
        </p:spPr>
      </p:pic>
    </p:spTree>
    <p:extLst>
      <p:ext uri="{BB962C8B-B14F-4D97-AF65-F5344CB8AC3E}">
        <p14:creationId xmlns:p14="http://schemas.microsoft.com/office/powerpoint/2010/main" val="2652040684"/>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9800119"/>
          </a:xfrm>
          <a:prstGeom prst="rect">
            <a:avLst/>
          </a:prstGeom>
          <a:noFill/>
          <a:ln>
            <a:noFill/>
          </a:ln>
        </p:spPr>
        <p:txBody>
          <a:bodyPr spcFirstLastPara="1" wrap="square" lIns="0" tIns="12700" rIns="0" bIns="0" anchor="t" anchorCtr="0">
            <a:spAutoFit/>
          </a:bodyPr>
          <a:lstStyle/>
          <a:p>
            <a:r>
              <a:rPr lang="en-US" dirty="0"/>
              <a:t>Hybrid Topology</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smtClean="0"/>
              <a:t/>
            </a:r>
            <a:br>
              <a:rPr lang="en-US" dirty="0" smtClean="0"/>
            </a:br>
            <a:r>
              <a:rPr lang="en-US" dirty="0" smtClean="0"/>
              <a:t/>
            </a:r>
            <a:br>
              <a:rPr lang="en-US" dirty="0" smtClean="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90</a:t>
            </a:fld>
            <a:endParaRPr/>
          </a:p>
        </p:txBody>
      </p:sp>
      <p:sp>
        <p:nvSpPr>
          <p:cNvPr id="4" name="Google Shape;56;p8"/>
          <p:cNvSpPr txBox="1"/>
          <p:nvPr/>
        </p:nvSpPr>
        <p:spPr>
          <a:xfrm>
            <a:off x="993900" y="1833375"/>
            <a:ext cx="8142000" cy="2253166"/>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A combination of two or more different topologies</a:t>
            </a:r>
            <a:r>
              <a:rPr lang="en-US" sz="2000" dirty="0" smtClean="0">
                <a:latin typeface="Times New Roman"/>
                <a:ea typeface="Times New Roman"/>
                <a:cs typeface="Times New Roman"/>
                <a:sym typeface="Times New Roman"/>
              </a:rPr>
              <a:t>.</a:t>
            </a:r>
          </a:p>
          <a:p>
            <a:pPr marL="457200" indent="-311150">
              <a:buClr>
                <a:srgbClr val="CC9A00"/>
              </a:buClr>
              <a:buSzPts val="1300"/>
              <a:buFont typeface="Noto Sans Symbols"/>
              <a:buChar char="❑"/>
            </a:pPr>
            <a:endParaRPr lang="en-US" sz="2000" dirty="0">
              <a:latin typeface="Times New Roman"/>
              <a:ea typeface="Times New Roman"/>
              <a:cs typeface="Times New Roman"/>
              <a:sym typeface="Times New Roman"/>
            </a:endParaRPr>
          </a:p>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Example: star-bus, </a:t>
            </a:r>
            <a:r>
              <a:rPr lang="en-US" sz="2000" dirty="0" smtClean="0">
                <a:latin typeface="Times New Roman"/>
                <a:ea typeface="Times New Roman"/>
                <a:cs typeface="Times New Roman"/>
                <a:sym typeface="Times New Roman"/>
              </a:rPr>
              <a:t>star-ring</a:t>
            </a:r>
          </a:p>
          <a:p>
            <a:pPr marL="457200" indent="-311150">
              <a:buClr>
                <a:srgbClr val="CC9A00"/>
              </a:buClr>
              <a:buSzPts val="1300"/>
              <a:buFont typeface="Noto Sans Symbols"/>
              <a:buChar char="❑"/>
            </a:pPr>
            <a:endParaRPr lang="en-US" sz="2000" dirty="0">
              <a:latin typeface="Times New Roman"/>
              <a:ea typeface="Times New Roman"/>
              <a:cs typeface="Times New Roman"/>
              <a:sym typeface="Times New Roman"/>
            </a:endParaRPr>
          </a:p>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Flexible and can be designed to meet specific network needs</a:t>
            </a:r>
            <a:r>
              <a:rPr lang="en-US" sz="2000" dirty="0" smtClean="0">
                <a:latin typeface="Times New Roman"/>
                <a:ea typeface="Times New Roman"/>
                <a:cs typeface="Times New Roman"/>
                <a:sym typeface="Times New Roman"/>
              </a:rPr>
              <a:t>.</a:t>
            </a:r>
          </a:p>
          <a:p>
            <a:pPr marL="457200" indent="-311150">
              <a:buClr>
                <a:srgbClr val="CC9A00"/>
              </a:buClr>
              <a:buSzPts val="1300"/>
              <a:buFont typeface="Noto Sans Symbols"/>
              <a:buChar char="❑"/>
            </a:pPr>
            <a:endParaRPr lang="en-US" sz="2000" dirty="0">
              <a:latin typeface="Times New Roman"/>
              <a:ea typeface="Times New Roman"/>
              <a:cs typeface="Times New Roman"/>
              <a:sym typeface="Times New Roman"/>
            </a:endParaRPr>
          </a:p>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Can be complex and costly to implement and manage.</a:t>
            </a:r>
          </a:p>
        </p:txBody>
      </p:sp>
    </p:spTree>
    <p:extLst>
      <p:ext uri="{BB962C8B-B14F-4D97-AF65-F5344CB8AC3E}">
        <p14:creationId xmlns:p14="http://schemas.microsoft.com/office/powerpoint/2010/main" val="675307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043608" y="1761384"/>
            <a:ext cx="7887767" cy="3951916"/>
          </a:xfrm>
          <a:prstGeom prst="rect">
            <a:avLst/>
          </a:prstGeom>
        </p:spPr>
      </p:pic>
    </p:spTree>
    <p:extLst>
      <p:ext uri="{BB962C8B-B14F-4D97-AF65-F5344CB8AC3E}">
        <p14:creationId xmlns:p14="http://schemas.microsoft.com/office/powerpoint/2010/main" val="1847788252"/>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9800119"/>
          </a:xfrm>
          <a:prstGeom prst="rect">
            <a:avLst/>
          </a:prstGeom>
          <a:noFill/>
          <a:ln>
            <a:noFill/>
          </a:ln>
        </p:spPr>
        <p:txBody>
          <a:bodyPr spcFirstLastPara="1" wrap="square" lIns="0" tIns="12700" rIns="0" bIns="0" anchor="t" anchorCtr="0">
            <a:spAutoFit/>
          </a:bodyPr>
          <a:lstStyle/>
          <a:p>
            <a:r>
              <a:rPr lang="en-US" dirty="0"/>
              <a:t>Logical Topology</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smtClean="0"/>
              <a:t/>
            </a:r>
            <a:br>
              <a:rPr lang="en-US" dirty="0" smtClean="0"/>
            </a:br>
            <a:r>
              <a:rPr lang="en-US" dirty="0" smtClean="0"/>
              <a:t/>
            </a:r>
            <a:br>
              <a:rPr lang="en-US" dirty="0" smtClean="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92</a:t>
            </a:fld>
            <a:endParaRPr/>
          </a:p>
        </p:txBody>
      </p:sp>
      <p:sp>
        <p:nvSpPr>
          <p:cNvPr id="4" name="Google Shape;56;p8"/>
          <p:cNvSpPr txBox="1"/>
          <p:nvPr/>
        </p:nvSpPr>
        <p:spPr>
          <a:xfrm>
            <a:off x="993900" y="1833375"/>
            <a:ext cx="8142000" cy="714283"/>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Refers to how data actually moves across the network regardless of the physical layout.</a:t>
            </a:r>
          </a:p>
        </p:txBody>
      </p:sp>
    </p:spTree>
    <p:extLst>
      <p:ext uri="{BB962C8B-B14F-4D97-AF65-F5344CB8AC3E}">
        <p14:creationId xmlns:p14="http://schemas.microsoft.com/office/powerpoint/2010/main" val="2556303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Question</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93</a:t>
            </a:fld>
            <a:endParaRPr/>
          </a:p>
        </p:txBody>
      </p:sp>
      <p:sp>
        <p:nvSpPr>
          <p:cNvPr id="4" name="Google Shape;56;p8"/>
          <p:cNvSpPr txBox="1"/>
          <p:nvPr/>
        </p:nvSpPr>
        <p:spPr>
          <a:xfrm>
            <a:off x="993900" y="1833375"/>
            <a:ext cx="8142000" cy="714283"/>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A network is physically arranged in a star topology but uses a hub. What is its logical topology?</a:t>
            </a:r>
            <a:endParaRPr lang="en-US" sz="2000" dirty="0">
              <a:latin typeface="Times New Roman"/>
              <a:ea typeface="Times New Roman"/>
              <a:cs typeface="Times New Roman"/>
              <a:sym typeface="Times New Roman"/>
            </a:endParaRP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68557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Answer</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94</a:t>
            </a:fld>
            <a:endParaRPr/>
          </a:p>
        </p:txBody>
      </p:sp>
      <p:sp>
        <p:nvSpPr>
          <p:cNvPr id="4" name="Google Shape;56;p8"/>
          <p:cNvSpPr txBox="1"/>
          <p:nvPr/>
        </p:nvSpPr>
        <p:spPr>
          <a:xfrm>
            <a:off x="993900" y="1833375"/>
            <a:ext cx="8142000" cy="1329836"/>
          </a:xfrm>
          <a:prstGeom prst="rect">
            <a:avLst/>
          </a:prstGeom>
          <a:noFill/>
          <a:ln>
            <a:noFill/>
          </a:ln>
        </p:spPr>
        <p:txBody>
          <a:bodyPr spcFirstLastPara="1" wrap="square" lIns="0" tIns="97775" rIns="0" bIns="0" anchor="t" anchorCtr="0">
            <a:spAutoFit/>
          </a:bodyPr>
          <a:lstStyle/>
          <a:p>
            <a:pPr marL="146050">
              <a:buClr>
                <a:srgbClr val="CC9A00"/>
              </a:buClr>
              <a:buSzPts val="1300"/>
            </a:pPr>
            <a:r>
              <a:rPr lang="en-US" sz="2000" dirty="0">
                <a:latin typeface="Times New Roman"/>
                <a:ea typeface="Times New Roman"/>
                <a:cs typeface="Times New Roman"/>
                <a:sym typeface="Times New Roman"/>
              </a:rPr>
              <a:t>The logical topology is Bus</a:t>
            </a:r>
            <a:r>
              <a:rPr lang="en-US" sz="2000" dirty="0" smtClean="0">
                <a:latin typeface="Times New Roman"/>
                <a:ea typeface="Times New Roman"/>
                <a:cs typeface="Times New Roman"/>
                <a:sym typeface="Times New Roman"/>
              </a:rPr>
              <a:t>.</a:t>
            </a:r>
          </a:p>
          <a:p>
            <a:pPr marL="457200" indent="-311150">
              <a:buClr>
                <a:srgbClr val="CC9A00"/>
              </a:buClr>
              <a:buSzPts val="1300"/>
              <a:buFont typeface="Noto Sans Symbols"/>
              <a:buChar char="❑"/>
            </a:pPr>
            <a:endParaRPr lang="en-US" sz="2000" dirty="0">
              <a:latin typeface="Times New Roman"/>
              <a:ea typeface="Times New Roman"/>
              <a:cs typeface="Times New Roman"/>
              <a:sym typeface="Times New Roman"/>
            </a:endParaRPr>
          </a:p>
          <a:p>
            <a:pPr marL="146050">
              <a:buClr>
                <a:srgbClr val="CC9A00"/>
              </a:buClr>
              <a:buSzPts val="1300"/>
            </a:pPr>
            <a:r>
              <a:rPr lang="en-US" sz="2000" dirty="0" smtClean="0">
                <a:latin typeface="Times New Roman"/>
                <a:ea typeface="Times New Roman"/>
                <a:cs typeface="Times New Roman"/>
                <a:sym typeface="Times New Roman"/>
              </a:rPr>
              <a:t>Because </a:t>
            </a:r>
            <a:r>
              <a:rPr lang="en-US" sz="2000" dirty="0">
                <a:latin typeface="Times New Roman"/>
                <a:ea typeface="Times New Roman"/>
                <a:cs typeface="Times New Roman"/>
                <a:sym typeface="Times New Roman"/>
              </a:rPr>
              <a:t>a hub broadcasts data to all connected devices. Similar to how data is transmitted in a bus topology.</a:t>
            </a: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00869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Question</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95</a:t>
            </a:fld>
            <a:endParaRPr/>
          </a:p>
        </p:txBody>
      </p:sp>
      <p:sp>
        <p:nvSpPr>
          <p:cNvPr id="4" name="Google Shape;56;p8"/>
          <p:cNvSpPr txBox="1"/>
          <p:nvPr/>
        </p:nvSpPr>
        <p:spPr>
          <a:xfrm>
            <a:off x="993900" y="1833375"/>
            <a:ext cx="8142000" cy="714283"/>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A network uses a switch and is arranged in a star topology. What is its logical topology?</a:t>
            </a:r>
            <a:endParaRPr lang="en-US" sz="2000" dirty="0">
              <a:latin typeface="Times New Roman"/>
              <a:ea typeface="Times New Roman"/>
              <a:cs typeface="Times New Roman"/>
              <a:sym typeface="Times New Roman"/>
            </a:endParaRP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54018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Answer</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96</a:t>
            </a:fld>
            <a:endParaRPr/>
          </a:p>
        </p:txBody>
      </p:sp>
      <p:sp>
        <p:nvSpPr>
          <p:cNvPr id="4" name="Google Shape;56;p8"/>
          <p:cNvSpPr txBox="1"/>
          <p:nvPr/>
        </p:nvSpPr>
        <p:spPr>
          <a:xfrm>
            <a:off x="993900" y="1833375"/>
            <a:ext cx="8142000" cy="1022060"/>
          </a:xfrm>
          <a:prstGeom prst="rect">
            <a:avLst/>
          </a:prstGeom>
          <a:noFill/>
          <a:ln>
            <a:noFill/>
          </a:ln>
        </p:spPr>
        <p:txBody>
          <a:bodyPr spcFirstLastPara="1" wrap="square" lIns="0" tIns="97775" rIns="0" bIns="0" anchor="t" anchorCtr="0">
            <a:spAutoFit/>
          </a:bodyPr>
          <a:lstStyle/>
          <a:p>
            <a:pPr marL="146050">
              <a:buClr>
                <a:srgbClr val="CC9A00"/>
              </a:buClr>
              <a:buSzPts val="1300"/>
            </a:pPr>
            <a:r>
              <a:rPr lang="en-US" sz="2000" dirty="0">
                <a:latin typeface="Times New Roman"/>
                <a:ea typeface="Times New Roman"/>
                <a:cs typeface="Times New Roman"/>
                <a:sym typeface="Times New Roman"/>
              </a:rPr>
              <a:t>The logical topology is Star</a:t>
            </a:r>
            <a:r>
              <a:rPr lang="en-US" sz="2000" dirty="0" smtClean="0">
                <a:latin typeface="Times New Roman"/>
                <a:ea typeface="Times New Roman"/>
                <a:cs typeface="Times New Roman"/>
                <a:sym typeface="Times New Roman"/>
              </a:rPr>
              <a:t>.</a:t>
            </a:r>
          </a:p>
          <a:p>
            <a:pPr marL="146050">
              <a:buClr>
                <a:srgbClr val="CC9A00"/>
              </a:buClr>
              <a:buSzPts val="1300"/>
            </a:pPr>
            <a:endParaRPr lang="en-US" sz="2000" dirty="0">
              <a:latin typeface="Times New Roman"/>
              <a:ea typeface="Times New Roman"/>
              <a:cs typeface="Times New Roman"/>
              <a:sym typeface="Times New Roman"/>
            </a:endParaRPr>
          </a:p>
          <a:p>
            <a:pPr marL="146050">
              <a:buClr>
                <a:srgbClr val="CC9A00"/>
              </a:buClr>
              <a:buSzPts val="1300"/>
            </a:pPr>
            <a:r>
              <a:rPr lang="en-US" sz="2000" dirty="0">
                <a:latin typeface="Times New Roman"/>
                <a:ea typeface="Times New Roman"/>
                <a:cs typeface="Times New Roman"/>
                <a:sym typeface="Times New Roman"/>
              </a:rPr>
              <a:t>Because switch sends data only to the intended destination device.</a:t>
            </a: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33654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Question</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97</a:t>
            </a:fld>
            <a:endParaRPr/>
          </a:p>
        </p:txBody>
      </p:sp>
      <p:sp>
        <p:nvSpPr>
          <p:cNvPr id="4" name="Google Shape;56;p8"/>
          <p:cNvSpPr txBox="1"/>
          <p:nvPr/>
        </p:nvSpPr>
        <p:spPr>
          <a:xfrm>
            <a:off x="993900" y="1833375"/>
            <a:ext cx="8142000" cy="714283"/>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Why is logical topology more important than physical topology in understanding network behavior?</a:t>
            </a:r>
            <a:endParaRPr lang="en-US" sz="2000" dirty="0">
              <a:latin typeface="Times New Roman"/>
              <a:ea typeface="Times New Roman"/>
              <a:cs typeface="Times New Roman"/>
              <a:sym typeface="Times New Roman"/>
            </a:endParaRP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11275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Answer</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98</a:t>
            </a:fld>
            <a:endParaRPr/>
          </a:p>
        </p:txBody>
      </p:sp>
      <p:sp>
        <p:nvSpPr>
          <p:cNvPr id="4" name="Google Shape;56;p8"/>
          <p:cNvSpPr txBox="1"/>
          <p:nvPr/>
        </p:nvSpPr>
        <p:spPr>
          <a:xfrm>
            <a:off x="993900" y="1833375"/>
            <a:ext cx="8142000" cy="1637613"/>
          </a:xfrm>
          <a:prstGeom prst="rect">
            <a:avLst/>
          </a:prstGeom>
          <a:noFill/>
          <a:ln>
            <a:noFill/>
          </a:ln>
        </p:spPr>
        <p:txBody>
          <a:bodyPr spcFirstLastPara="1" wrap="square" lIns="0" tIns="97775" rIns="0" bIns="0" anchor="t" anchorCtr="0">
            <a:spAutoFit/>
          </a:bodyPr>
          <a:lstStyle/>
          <a:p>
            <a:pPr marL="146050">
              <a:buClr>
                <a:srgbClr val="CC9A00"/>
              </a:buClr>
              <a:buSzPts val="1300"/>
            </a:pPr>
            <a:r>
              <a:rPr lang="en-US" sz="2000" dirty="0">
                <a:latin typeface="Times New Roman"/>
                <a:ea typeface="Times New Roman"/>
                <a:cs typeface="Times New Roman"/>
                <a:sym typeface="Times New Roman"/>
              </a:rPr>
              <a:t>Logical topology is more important because it defines how data flows between devices</a:t>
            </a:r>
            <a:r>
              <a:rPr lang="en-US" sz="2000" dirty="0" smtClean="0">
                <a:latin typeface="Times New Roman"/>
                <a:ea typeface="Times New Roman"/>
                <a:cs typeface="Times New Roman"/>
                <a:sym typeface="Times New Roman"/>
              </a:rPr>
              <a:t>.</a:t>
            </a:r>
          </a:p>
          <a:p>
            <a:pPr marL="146050">
              <a:buClr>
                <a:srgbClr val="CC9A00"/>
              </a:buClr>
              <a:buSzPts val="1300"/>
            </a:pPr>
            <a:endParaRPr lang="en-US" sz="2000" dirty="0">
              <a:latin typeface="Times New Roman"/>
              <a:ea typeface="Times New Roman"/>
              <a:cs typeface="Times New Roman"/>
              <a:sym typeface="Times New Roman"/>
            </a:endParaRPr>
          </a:p>
          <a:p>
            <a:pPr marL="146050">
              <a:buClr>
                <a:srgbClr val="CC9A00"/>
              </a:buClr>
              <a:buSzPts val="1300"/>
            </a:pPr>
            <a:r>
              <a:rPr lang="en-US" sz="2000" dirty="0">
                <a:latin typeface="Times New Roman"/>
                <a:ea typeface="Times New Roman"/>
                <a:cs typeface="Times New Roman"/>
                <a:sym typeface="Times New Roman"/>
              </a:rPr>
              <a:t>Network performance, efficiency, and troubleshooting depend on how data moves rather than how devices are physically connected.</a:t>
            </a: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84819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Question</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99</a:t>
            </a:fld>
            <a:endParaRPr/>
          </a:p>
        </p:txBody>
      </p:sp>
      <p:sp>
        <p:nvSpPr>
          <p:cNvPr id="4" name="Google Shape;56;p8"/>
          <p:cNvSpPr txBox="1"/>
          <p:nvPr/>
        </p:nvSpPr>
        <p:spPr>
          <a:xfrm>
            <a:off x="993900" y="1833375"/>
            <a:ext cx="8142000" cy="1637613"/>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Design a network for a school computer lab that consists of 10 student computers, 1 teacher computer, and 1 network printer. All devices should be connected using a switch in a star topology to form a Local Area Network (LAN). The network must allow all computers to communicate with each other and share the printer.</a:t>
            </a:r>
            <a:endParaRPr lang="en-US" sz="2000" dirty="0">
              <a:latin typeface="Times New Roman"/>
              <a:ea typeface="Times New Roman"/>
              <a:cs typeface="Times New Roman"/>
              <a:sym typeface="Times New Roman"/>
            </a:endParaRP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80656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9800119"/>
          </a:xfrm>
          <a:prstGeom prst="rect">
            <a:avLst/>
          </a:prstGeom>
          <a:noFill/>
          <a:ln>
            <a:noFill/>
          </a:ln>
        </p:spPr>
        <p:txBody>
          <a:bodyPr spcFirstLastPara="1" wrap="square" lIns="0" tIns="12700" rIns="0" bIns="0" anchor="t" anchorCtr="0">
            <a:spAutoFit/>
          </a:bodyPr>
          <a:lstStyle/>
          <a:p>
            <a:r>
              <a:rPr lang="en-US" dirty="0" smtClean="0"/>
              <a:t>Data Packets</a:t>
            </a: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smtClean="0"/>
              <a:t/>
            </a:r>
            <a:br>
              <a:rPr lang="en-US" dirty="0" smtClean="0"/>
            </a:br>
            <a:r>
              <a:rPr lang="en-US" dirty="0" smtClean="0"/>
              <a:t/>
            </a:r>
            <a:br>
              <a:rPr lang="en-US" dirty="0" smtClean="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100</a:t>
            </a:fld>
            <a:endParaRPr/>
          </a:p>
        </p:txBody>
      </p:sp>
      <p:sp>
        <p:nvSpPr>
          <p:cNvPr id="4" name="Google Shape;56;p8"/>
          <p:cNvSpPr txBox="1"/>
          <p:nvPr/>
        </p:nvSpPr>
        <p:spPr>
          <a:xfrm>
            <a:off x="993900" y="1833375"/>
            <a:ext cx="8142000" cy="2560942"/>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When data transfers through a network, it is not sent as a single large block. Instead, it is divided into smaller units called packets</a:t>
            </a:r>
            <a:r>
              <a:rPr lang="en-US" sz="2000" dirty="0" smtClean="0">
                <a:latin typeface="Times New Roman"/>
                <a:ea typeface="Times New Roman"/>
                <a:cs typeface="Times New Roman"/>
                <a:sym typeface="Times New Roman"/>
              </a:rPr>
              <a:t>.</a:t>
            </a:r>
          </a:p>
          <a:p>
            <a:pPr marL="457200" indent="-311150">
              <a:buClr>
                <a:srgbClr val="CC9A00"/>
              </a:buClr>
              <a:buSzPts val="1300"/>
              <a:buFont typeface="Noto Sans Symbols"/>
              <a:buChar char="❑"/>
            </a:pPr>
            <a:endParaRPr lang="en-US" sz="2000" dirty="0">
              <a:latin typeface="Times New Roman"/>
              <a:ea typeface="Times New Roman"/>
              <a:cs typeface="Times New Roman"/>
              <a:sym typeface="Times New Roman"/>
            </a:endParaRPr>
          </a:p>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Packets are transmitted separately across the network and may take different paths. At the destination, they are reassembled in the correct order to form the original message</a:t>
            </a:r>
            <a:r>
              <a:rPr lang="en-US" sz="2000" dirty="0" smtClean="0">
                <a:latin typeface="Times New Roman"/>
                <a:ea typeface="Times New Roman"/>
                <a:cs typeface="Times New Roman"/>
                <a:sym typeface="Times New Roman"/>
              </a:rPr>
              <a:t>.</a:t>
            </a:r>
          </a:p>
          <a:p>
            <a:pPr marL="146050">
              <a:buClr>
                <a:srgbClr val="CC9A00"/>
              </a:buClr>
              <a:buSzPts val="1300"/>
            </a:pPr>
            <a:endParaRPr lang="en-US" sz="2000" dirty="0">
              <a:latin typeface="Times New Roman"/>
              <a:ea typeface="Times New Roman"/>
              <a:cs typeface="Times New Roman"/>
              <a:sym typeface="Times New Roman"/>
            </a:endParaRPr>
          </a:p>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This method is called packet switching.</a:t>
            </a:r>
          </a:p>
        </p:txBody>
      </p:sp>
    </p:spTree>
    <p:extLst>
      <p:ext uri="{BB962C8B-B14F-4D97-AF65-F5344CB8AC3E}">
        <p14:creationId xmlns:p14="http://schemas.microsoft.com/office/powerpoint/2010/main" val="1345152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Data Packet</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101</a:t>
            </a:fld>
            <a:endParaRPr/>
          </a:p>
        </p:txBody>
      </p:sp>
      <p:pic>
        <p:nvPicPr>
          <p:cNvPr id="1026" name="Picture 2" descr="Data Packets - Conquer Computer Scienc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9531" y="2705346"/>
            <a:ext cx="6578530" cy="3700423"/>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56;p8"/>
          <p:cNvSpPr txBox="1"/>
          <p:nvPr/>
        </p:nvSpPr>
        <p:spPr>
          <a:xfrm>
            <a:off x="883805" y="1683286"/>
            <a:ext cx="8142000" cy="714283"/>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The unit of data that contains the information to be transmitted across a network</a:t>
            </a:r>
            <a:endParaRPr lang="en-US" sz="2000" dirty="0" smtClean="0">
              <a:latin typeface="Times New Roman"/>
              <a:ea typeface="Times New Roman"/>
              <a:cs typeface="Times New Roman"/>
              <a:sym typeface="Times New Roman"/>
            </a:endParaRPr>
          </a:p>
        </p:txBody>
      </p:sp>
    </p:spTree>
    <p:extLst>
      <p:ext uri="{BB962C8B-B14F-4D97-AF65-F5344CB8AC3E}">
        <p14:creationId xmlns:p14="http://schemas.microsoft.com/office/powerpoint/2010/main" val="2851195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9800119"/>
          </a:xfrm>
          <a:prstGeom prst="rect">
            <a:avLst/>
          </a:prstGeom>
          <a:noFill/>
          <a:ln>
            <a:noFill/>
          </a:ln>
        </p:spPr>
        <p:txBody>
          <a:bodyPr spcFirstLastPara="1" wrap="square" lIns="0" tIns="12700" rIns="0" bIns="0" anchor="t" anchorCtr="0">
            <a:spAutoFit/>
          </a:bodyPr>
          <a:lstStyle/>
          <a:p>
            <a:r>
              <a:rPr lang="en-US" dirty="0" smtClean="0"/>
              <a:t>Circuit Switching</a:t>
            </a: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smtClean="0"/>
              <a:t/>
            </a:r>
            <a:br>
              <a:rPr lang="en-US" dirty="0" smtClean="0"/>
            </a:br>
            <a:r>
              <a:rPr lang="en-US" dirty="0" smtClean="0"/>
              <a:t/>
            </a:r>
            <a:br>
              <a:rPr lang="en-US" dirty="0" smtClean="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102</a:t>
            </a:fld>
            <a:endParaRPr/>
          </a:p>
        </p:txBody>
      </p:sp>
      <p:sp>
        <p:nvSpPr>
          <p:cNvPr id="4" name="Google Shape;56;p8"/>
          <p:cNvSpPr txBox="1"/>
          <p:nvPr/>
        </p:nvSpPr>
        <p:spPr>
          <a:xfrm>
            <a:off x="993900" y="1833375"/>
            <a:ext cx="8142000" cy="2560942"/>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In </a:t>
            </a:r>
            <a:r>
              <a:rPr lang="en-US" sz="2000" dirty="0">
                <a:latin typeface="Times New Roman"/>
                <a:ea typeface="Times New Roman"/>
                <a:cs typeface="Times New Roman"/>
                <a:sym typeface="Times New Roman"/>
              </a:rPr>
              <a:t>circuit switching, a dedicated communication path is established between sender and receiver before any data is transmitted, and this path remains reserved for the entire session, even during idle </a:t>
            </a:r>
            <a:r>
              <a:rPr lang="en-US" sz="2000" dirty="0" smtClean="0">
                <a:latin typeface="Times New Roman"/>
                <a:ea typeface="Times New Roman"/>
                <a:cs typeface="Times New Roman"/>
                <a:sym typeface="Times New Roman"/>
              </a:rPr>
              <a:t>periods.</a:t>
            </a:r>
          </a:p>
          <a:p>
            <a:pPr marL="146050">
              <a:buClr>
                <a:srgbClr val="CC9A00"/>
              </a:buClr>
              <a:buSzPts val="1300"/>
            </a:pPr>
            <a:endParaRPr lang="en-US" sz="2000" dirty="0">
              <a:latin typeface="Times New Roman"/>
              <a:ea typeface="Times New Roman"/>
              <a:cs typeface="Times New Roman"/>
              <a:sym typeface="Times New Roman"/>
            </a:endParaRPr>
          </a:p>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Example: Traditional telephone systems</a:t>
            </a:r>
            <a:r>
              <a:rPr lang="en-US" sz="2000" dirty="0" smtClean="0">
                <a:latin typeface="Times New Roman"/>
                <a:ea typeface="Times New Roman"/>
                <a:cs typeface="Times New Roman"/>
                <a:sym typeface="Times New Roman"/>
              </a:rPr>
              <a:t>.</a:t>
            </a:r>
          </a:p>
          <a:p>
            <a:pPr marL="146050">
              <a:buClr>
                <a:srgbClr val="CC9A00"/>
              </a:buClr>
              <a:buSzPts val="1300"/>
            </a:pPr>
            <a:endParaRPr lang="en-US" sz="2000" dirty="0">
              <a:latin typeface="Times New Roman"/>
              <a:ea typeface="Times New Roman"/>
              <a:cs typeface="Times New Roman"/>
              <a:sym typeface="Times New Roman"/>
            </a:endParaRPr>
          </a:p>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This results in fixed delay and data arriving in order, but it is inefficient because bandwidth is wasted when no data is being sent.</a:t>
            </a:r>
          </a:p>
        </p:txBody>
      </p:sp>
    </p:spTree>
    <p:extLst>
      <p:ext uri="{BB962C8B-B14F-4D97-AF65-F5344CB8AC3E}">
        <p14:creationId xmlns:p14="http://schemas.microsoft.com/office/powerpoint/2010/main" val="396865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9800119"/>
          </a:xfrm>
          <a:prstGeom prst="rect">
            <a:avLst/>
          </a:prstGeom>
          <a:noFill/>
          <a:ln>
            <a:noFill/>
          </a:ln>
        </p:spPr>
        <p:txBody>
          <a:bodyPr spcFirstLastPara="1" wrap="square" lIns="0" tIns="12700" rIns="0" bIns="0" anchor="t" anchorCtr="0">
            <a:spAutoFit/>
          </a:bodyPr>
          <a:lstStyle/>
          <a:p>
            <a:r>
              <a:rPr lang="en-US" dirty="0" smtClean="0"/>
              <a:t>Packet Switching</a:t>
            </a: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smtClean="0"/>
              <a:t/>
            </a:r>
            <a:br>
              <a:rPr lang="en-US" dirty="0" smtClean="0"/>
            </a:br>
            <a:r>
              <a:rPr lang="en-US" dirty="0" smtClean="0"/>
              <a:t/>
            </a:r>
            <a:br>
              <a:rPr lang="en-US" dirty="0" smtClean="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103</a:t>
            </a:fld>
            <a:endParaRPr/>
          </a:p>
        </p:txBody>
      </p:sp>
      <p:sp>
        <p:nvSpPr>
          <p:cNvPr id="4" name="Google Shape;56;p8"/>
          <p:cNvSpPr txBox="1"/>
          <p:nvPr/>
        </p:nvSpPr>
        <p:spPr>
          <a:xfrm>
            <a:off x="993900" y="1833375"/>
            <a:ext cx="8142000" cy="4715378"/>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Packet switching breaks data into smaller packets</a:t>
            </a:r>
            <a:r>
              <a:rPr lang="en-US" sz="2000" dirty="0" smtClean="0">
                <a:latin typeface="Times New Roman"/>
                <a:ea typeface="Times New Roman"/>
                <a:cs typeface="Times New Roman"/>
                <a:sym typeface="Times New Roman"/>
              </a:rPr>
              <a:t>.</a:t>
            </a:r>
          </a:p>
          <a:p>
            <a:pPr marL="146050">
              <a:buClr>
                <a:srgbClr val="CC9A00"/>
              </a:buClr>
              <a:buSzPts val="1300"/>
            </a:pPr>
            <a:endParaRPr lang="en-US" sz="2000" dirty="0">
              <a:latin typeface="Times New Roman"/>
              <a:ea typeface="Times New Roman"/>
              <a:cs typeface="Times New Roman"/>
              <a:sym typeface="Times New Roman"/>
            </a:endParaRPr>
          </a:p>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Each packet travel independently across the network via different routes and be reassembled at the destination</a:t>
            </a:r>
            <a:r>
              <a:rPr lang="en-US" sz="2000" dirty="0" smtClean="0">
                <a:latin typeface="Times New Roman"/>
                <a:ea typeface="Times New Roman"/>
                <a:cs typeface="Times New Roman"/>
                <a:sym typeface="Times New Roman"/>
              </a:rPr>
              <a:t>.</a:t>
            </a:r>
          </a:p>
          <a:p>
            <a:pPr marL="146050">
              <a:buClr>
                <a:srgbClr val="CC9A00"/>
              </a:buClr>
              <a:buSzPts val="1300"/>
            </a:pPr>
            <a:endParaRPr lang="en-US" sz="2000" dirty="0">
              <a:latin typeface="Times New Roman"/>
              <a:ea typeface="Times New Roman"/>
              <a:cs typeface="Times New Roman"/>
              <a:sym typeface="Times New Roman"/>
            </a:endParaRPr>
          </a:p>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No dedicated path is reserved. </a:t>
            </a:r>
            <a:endParaRPr lang="en-US" sz="2000" dirty="0" smtClean="0">
              <a:latin typeface="Times New Roman"/>
              <a:ea typeface="Times New Roman"/>
              <a:cs typeface="Times New Roman"/>
              <a:sym typeface="Times New Roman"/>
            </a:endParaRPr>
          </a:p>
          <a:p>
            <a:pPr marL="146050">
              <a:buClr>
                <a:srgbClr val="CC9A00"/>
              </a:buClr>
              <a:buSzPts val="1300"/>
            </a:pPr>
            <a:endParaRPr lang="en-US" sz="2000" dirty="0">
              <a:latin typeface="Times New Roman"/>
              <a:ea typeface="Times New Roman"/>
              <a:cs typeface="Times New Roman"/>
              <a:sym typeface="Times New Roman"/>
            </a:endParaRPr>
          </a:p>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Network resources are used only when packets are actually transmitted</a:t>
            </a:r>
            <a:r>
              <a:rPr lang="en-US" sz="2000" dirty="0" smtClean="0">
                <a:latin typeface="Times New Roman"/>
                <a:ea typeface="Times New Roman"/>
                <a:cs typeface="Times New Roman"/>
                <a:sym typeface="Times New Roman"/>
              </a:rPr>
              <a:t>.</a:t>
            </a:r>
          </a:p>
          <a:p>
            <a:pPr marL="146050">
              <a:buClr>
                <a:srgbClr val="CC9A00"/>
              </a:buClr>
              <a:buSzPts val="1300"/>
            </a:pPr>
            <a:endParaRPr lang="en-US" sz="2000" dirty="0">
              <a:latin typeface="Times New Roman"/>
              <a:ea typeface="Times New Roman"/>
              <a:cs typeface="Times New Roman"/>
              <a:sym typeface="Times New Roman"/>
            </a:endParaRPr>
          </a:p>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Packet switching is more efficient and reliable</a:t>
            </a:r>
            <a:r>
              <a:rPr lang="en-US" sz="2000" dirty="0" smtClean="0">
                <a:latin typeface="Times New Roman"/>
                <a:ea typeface="Times New Roman"/>
                <a:cs typeface="Times New Roman"/>
                <a:sym typeface="Times New Roman"/>
              </a:rPr>
              <a:t>.</a:t>
            </a:r>
          </a:p>
          <a:p>
            <a:pPr marL="146050">
              <a:buClr>
                <a:srgbClr val="CC9A00"/>
              </a:buClr>
              <a:buSzPts val="1300"/>
            </a:pPr>
            <a:endParaRPr lang="en-US" sz="2000" dirty="0">
              <a:latin typeface="Times New Roman"/>
              <a:ea typeface="Times New Roman"/>
              <a:cs typeface="Times New Roman"/>
              <a:sym typeface="Times New Roman"/>
            </a:endParaRPr>
          </a:p>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Packet switching has variable delay. Packets may arrive out of order. Requires reassembly</a:t>
            </a:r>
            <a:r>
              <a:rPr lang="en-US" sz="2000" dirty="0" smtClean="0">
                <a:latin typeface="Times New Roman"/>
                <a:ea typeface="Times New Roman"/>
                <a:cs typeface="Times New Roman"/>
                <a:sym typeface="Times New Roman"/>
              </a:rPr>
              <a:t>.</a:t>
            </a:r>
          </a:p>
          <a:p>
            <a:pPr marL="146050">
              <a:buClr>
                <a:srgbClr val="CC9A00"/>
              </a:buClr>
              <a:buSzPts val="1300"/>
            </a:pPr>
            <a:endParaRPr lang="en-US" sz="2000" dirty="0">
              <a:latin typeface="Times New Roman"/>
              <a:ea typeface="Times New Roman"/>
              <a:cs typeface="Times New Roman"/>
              <a:sym typeface="Times New Roman"/>
            </a:endParaRPr>
          </a:p>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Packet switching is the foundation of the modern internet. </a:t>
            </a:r>
          </a:p>
        </p:txBody>
      </p:sp>
    </p:spTree>
    <p:extLst>
      <p:ext uri="{BB962C8B-B14F-4D97-AF65-F5344CB8AC3E}">
        <p14:creationId xmlns:p14="http://schemas.microsoft.com/office/powerpoint/2010/main" val="349964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Question</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104</a:t>
            </a:fld>
            <a:endParaRPr/>
          </a:p>
        </p:txBody>
      </p:sp>
      <p:sp>
        <p:nvSpPr>
          <p:cNvPr id="4" name="Google Shape;56;p8"/>
          <p:cNvSpPr txBox="1"/>
          <p:nvPr/>
        </p:nvSpPr>
        <p:spPr>
          <a:xfrm>
            <a:off x="993900" y="1833375"/>
            <a:ext cx="8142000" cy="1022060"/>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Each device in a network has a unique MAC address assigned to its NIC. Is the MAC address alone sufficient for communication in all types of networks?</a:t>
            </a:r>
            <a:endParaRPr lang="en-US" sz="2000" dirty="0">
              <a:latin typeface="Times New Roman"/>
              <a:ea typeface="Times New Roman"/>
              <a:cs typeface="Times New Roman"/>
              <a:sym typeface="Times New Roman"/>
            </a:endParaRP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98587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Answer</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105</a:t>
            </a:fld>
            <a:endParaRPr/>
          </a:p>
        </p:txBody>
      </p:sp>
      <p:sp>
        <p:nvSpPr>
          <p:cNvPr id="4" name="Google Shape;56;p8"/>
          <p:cNvSpPr txBox="1"/>
          <p:nvPr/>
        </p:nvSpPr>
        <p:spPr>
          <a:xfrm>
            <a:off x="993900" y="1833375"/>
            <a:ext cx="8142000" cy="2253166"/>
          </a:xfrm>
          <a:prstGeom prst="rect">
            <a:avLst/>
          </a:prstGeom>
          <a:noFill/>
          <a:ln>
            <a:noFill/>
          </a:ln>
        </p:spPr>
        <p:txBody>
          <a:bodyPr spcFirstLastPara="1" wrap="square" lIns="0" tIns="97775" rIns="0" bIns="0" anchor="t" anchorCtr="0">
            <a:spAutoFit/>
          </a:bodyPr>
          <a:lstStyle/>
          <a:p>
            <a:pPr marL="146050">
              <a:buClr>
                <a:srgbClr val="CC9A00"/>
              </a:buClr>
              <a:buSzPts val="1300"/>
            </a:pPr>
            <a:r>
              <a:rPr lang="en-US" sz="2000" dirty="0">
                <a:latin typeface="Times New Roman"/>
                <a:ea typeface="Times New Roman"/>
                <a:cs typeface="Times New Roman"/>
                <a:sym typeface="Times New Roman"/>
              </a:rPr>
              <a:t>MAC addresses alone are not sufficient for communication across multiple networks. Because MAC addresses do not provide any information about the location or network to which a device belongs</a:t>
            </a:r>
            <a:r>
              <a:rPr lang="en-US" sz="2000" dirty="0" smtClean="0">
                <a:latin typeface="Times New Roman"/>
                <a:ea typeface="Times New Roman"/>
                <a:cs typeface="Times New Roman"/>
                <a:sym typeface="Times New Roman"/>
              </a:rPr>
              <a:t>.</a:t>
            </a:r>
          </a:p>
          <a:p>
            <a:pPr marL="146050">
              <a:buClr>
                <a:srgbClr val="CC9A00"/>
              </a:buClr>
              <a:buSzPts val="1300"/>
            </a:pPr>
            <a:endParaRPr lang="en-US" sz="2000" dirty="0">
              <a:latin typeface="Times New Roman"/>
              <a:ea typeface="Times New Roman"/>
              <a:cs typeface="Times New Roman"/>
              <a:sym typeface="Times New Roman"/>
            </a:endParaRPr>
          </a:p>
          <a:p>
            <a:pPr marL="146050">
              <a:buClr>
                <a:srgbClr val="CC9A00"/>
              </a:buClr>
              <a:buSzPts val="1300"/>
            </a:pPr>
            <a:r>
              <a:rPr lang="en-US" sz="2000" dirty="0">
                <a:latin typeface="Times New Roman"/>
                <a:ea typeface="Times New Roman"/>
                <a:cs typeface="Times New Roman"/>
                <a:sym typeface="Times New Roman"/>
              </a:rPr>
              <a:t>Cannot use MAC address to determine the path for data to travel</a:t>
            </a:r>
            <a:r>
              <a:rPr lang="en-US" sz="2000" dirty="0" smtClean="0">
                <a:latin typeface="Times New Roman"/>
                <a:ea typeface="Times New Roman"/>
                <a:cs typeface="Times New Roman"/>
                <a:sym typeface="Times New Roman"/>
              </a:rPr>
              <a:t>.</a:t>
            </a:r>
          </a:p>
          <a:p>
            <a:pPr marL="146050">
              <a:buClr>
                <a:srgbClr val="CC9A00"/>
              </a:buClr>
              <a:buSzPts val="1300"/>
            </a:pPr>
            <a:endParaRPr lang="en-US" sz="2000" dirty="0">
              <a:latin typeface="Times New Roman"/>
              <a:ea typeface="Times New Roman"/>
              <a:cs typeface="Times New Roman"/>
              <a:sym typeface="Times New Roman"/>
            </a:endParaRPr>
          </a:p>
          <a:p>
            <a:pPr marL="146050">
              <a:buClr>
                <a:srgbClr val="CC9A00"/>
              </a:buClr>
              <a:buSzPts val="1300"/>
            </a:pPr>
            <a:r>
              <a:rPr lang="en-US" sz="2000" dirty="0">
                <a:latin typeface="Times New Roman"/>
                <a:ea typeface="Times New Roman"/>
                <a:cs typeface="Times New Roman"/>
                <a:sym typeface="Times New Roman"/>
              </a:rPr>
              <a:t>Solution: IP Addresses</a:t>
            </a: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51827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smtClean="0"/>
              <a:t>IP Address</a:t>
            </a:r>
            <a:endParaRPr sz="3600" dirty="0"/>
          </a:p>
        </p:txBody>
      </p:sp>
      <p:sp>
        <p:nvSpPr>
          <p:cNvPr id="56" name="Google Shape;56;p8"/>
          <p:cNvSpPr txBox="1"/>
          <p:nvPr/>
        </p:nvSpPr>
        <p:spPr>
          <a:xfrm>
            <a:off x="883805" y="1864906"/>
            <a:ext cx="8142000" cy="4099825"/>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An IP address (Internet Protocol Address) is a unique numerical identifier assigned to each device connected to a network that uses the Internet Protocol for communication.</a:t>
            </a:r>
          </a:p>
          <a:p>
            <a:pPr marL="146050" lvl="0">
              <a:buClr>
                <a:srgbClr val="CC9A00"/>
              </a:buClr>
              <a:buSzPts val="1300"/>
            </a:pP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IP address is use to uniquely identify a device on the network and to determine where the device is located in the network, so data can be sent to and from it.</a:t>
            </a:r>
          </a:p>
          <a:p>
            <a:pPr marL="146050" lvl="0">
              <a:buClr>
                <a:srgbClr val="CC9A00"/>
              </a:buClr>
              <a:buSzPts val="1300"/>
            </a:pP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smtClean="0">
                <a:latin typeface="Times New Roman"/>
                <a:cs typeface="Times New Roman"/>
                <a:sym typeface="Times New Roman"/>
              </a:rPr>
              <a:t>IPV4 – 192.168.1.1</a:t>
            </a:r>
          </a:p>
          <a:p>
            <a:pPr marL="146050" lvl="0">
              <a:buClr>
                <a:srgbClr val="CC9A00"/>
              </a:buClr>
              <a:buSzPts val="1300"/>
            </a:pPr>
            <a:r>
              <a:rPr lang="en-US" sz="2000" dirty="0" smtClean="0">
                <a:latin typeface="Times New Roman"/>
                <a:ea typeface="Times New Roman"/>
                <a:cs typeface="Times New Roman"/>
                <a:sym typeface="Times New Roman"/>
              </a:rPr>
              <a:t>     IPV6 - 2001:0db8:85a3:0000:0000:8a2e:0370:7334</a:t>
            </a:r>
          </a:p>
          <a:p>
            <a:pPr marL="146050" lvl="0">
              <a:buClr>
                <a:srgbClr val="CC9A00"/>
              </a:buClr>
              <a:buSzPts val="1300"/>
            </a:pP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The sender includes the destination IP address in the data packet. Routers use this IP address to forward the packet to the correct destination.</a:t>
            </a:r>
            <a:endParaRPr lang="en-US" sz="2000" dirty="0" smtClean="0">
              <a:latin typeface="Times New Roman"/>
              <a:ea typeface="Times New Roman"/>
              <a:cs typeface="Times New Roman"/>
              <a:sym typeface="Times New Roman"/>
            </a:endParaRP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106</a:t>
            </a:fld>
            <a:endParaRPr/>
          </a:p>
        </p:txBody>
      </p:sp>
      <p:sp>
        <p:nvSpPr>
          <p:cNvPr id="2" name="AutoShape 2" descr="Network Switches | Juniper Networks U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309688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a:t>Layered Network Architecture</a:t>
            </a:r>
          </a:p>
        </p:txBody>
      </p:sp>
      <p:sp>
        <p:nvSpPr>
          <p:cNvPr id="56" name="Google Shape;56;p8"/>
          <p:cNvSpPr txBox="1"/>
          <p:nvPr/>
        </p:nvSpPr>
        <p:spPr>
          <a:xfrm>
            <a:off x="883805" y="1864906"/>
            <a:ext cx="8142000" cy="2253166"/>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Layering is a technique used to divide network communication into multiple layers</a:t>
            </a:r>
            <a:r>
              <a:rPr lang="en-US" sz="2000" dirty="0" smtClean="0">
                <a:latin typeface="Times New Roman"/>
                <a:ea typeface="Times New Roman"/>
                <a:cs typeface="Times New Roman"/>
                <a:sym typeface="Times New Roman"/>
              </a:rPr>
              <a:t>.</a:t>
            </a:r>
          </a:p>
          <a:p>
            <a:pPr marL="146050" lvl="0">
              <a:buClr>
                <a:srgbClr val="CC9A00"/>
              </a:buClr>
              <a:buSzPts val="1300"/>
            </a:pPr>
            <a:endParaRPr lang="en-US" sz="2000" dirty="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Each layer performs a specific function</a:t>
            </a:r>
            <a:r>
              <a:rPr lang="en-US" sz="2000" dirty="0" smtClean="0">
                <a:latin typeface="Times New Roman"/>
                <a:ea typeface="Times New Roman"/>
                <a:cs typeface="Times New Roman"/>
                <a:sym typeface="Times New Roman"/>
              </a:rPr>
              <a:t>.</a:t>
            </a:r>
          </a:p>
          <a:p>
            <a:pPr marL="146050" lvl="0">
              <a:buClr>
                <a:srgbClr val="CC9A00"/>
              </a:buClr>
              <a:buSzPts val="1300"/>
            </a:pPr>
            <a:endParaRPr lang="en-US" sz="2000" dirty="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Layered network architecture was introduced to overcome the limitations of proprietary systems.</a:t>
            </a: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107</a:t>
            </a:fld>
            <a:endParaRPr/>
          </a:p>
        </p:txBody>
      </p:sp>
      <p:sp>
        <p:nvSpPr>
          <p:cNvPr id="2" name="AutoShape 2" descr="Network Switches | Juniper Networks U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498880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a:t>Proprietary </a:t>
            </a:r>
            <a:r>
              <a:rPr lang="en-US" dirty="0" smtClean="0"/>
              <a:t>Systems</a:t>
            </a:r>
            <a:endParaRPr lang="en-US" dirty="0"/>
          </a:p>
        </p:txBody>
      </p:sp>
      <p:sp>
        <p:nvSpPr>
          <p:cNvPr id="56" name="Google Shape;56;p8"/>
          <p:cNvSpPr txBox="1"/>
          <p:nvPr/>
        </p:nvSpPr>
        <p:spPr>
          <a:xfrm>
            <a:off x="883805" y="1864906"/>
            <a:ext cx="8142000" cy="3792049"/>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In the early days of computing, different companies such as IBM, Apple, and Microsoft developed their own communication systems. These were known as proprietary systems because they were designed to work only with that company’s own hardware and software</a:t>
            </a:r>
            <a:r>
              <a:rPr lang="en-US" sz="2000" dirty="0" smtClean="0">
                <a:latin typeface="Times New Roman"/>
                <a:ea typeface="Times New Roman"/>
                <a:cs typeface="Times New Roman"/>
                <a:sym typeface="Times New Roman"/>
              </a:rPr>
              <a:t>.</a:t>
            </a:r>
          </a:p>
          <a:p>
            <a:pPr marL="457200" lvl="0" indent="-311150">
              <a:buClr>
                <a:srgbClr val="CC9A00"/>
              </a:buClr>
              <a:buSzPts val="1300"/>
              <a:buFont typeface="Noto Sans Symbols"/>
              <a:buChar char="❑"/>
            </a:pPr>
            <a:endParaRPr lang="en-US" sz="2000" dirty="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In proprietary systems, each manufacturer used its own rules, formats, and protocols for communication. As a result, devices from different vendors could not easily communicate with each other</a:t>
            </a:r>
            <a:r>
              <a:rPr lang="en-US" sz="2000" dirty="0" smtClean="0">
                <a:latin typeface="Times New Roman"/>
                <a:ea typeface="Times New Roman"/>
                <a:cs typeface="Times New Roman"/>
                <a:sym typeface="Times New Roman"/>
              </a:rPr>
              <a:t>.</a:t>
            </a:r>
          </a:p>
          <a:p>
            <a:pPr marL="457200" lvl="0" indent="-311150">
              <a:buClr>
                <a:srgbClr val="CC9A00"/>
              </a:buClr>
              <a:buSzPts val="1300"/>
              <a:buFont typeface="Noto Sans Symbols"/>
              <a:buChar char="❑"/>
            </a:pPr>
            <a:endParaRPr lang="en-US" sz="2000" dirty="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Example:</a:t>
            </a:r>
          </a:p>
          <a:p>
            <a:pPr marL="488950" lvl="0" indent="-342900">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IBM systems could communicate only with other IBM systems</a:t>
            </a:r>
          </a:p>
          <a:p>
            <a:pPr marL="488950" lvl="0" indent="-342900">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Apple devices could not easily connect with Windows-based systems</a:t>
            </a: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108</a:t>
            </a:fld>
            <a:endParaRPr/>
          </a:p>
        </p:txBody>
      </p:sp>
      <p:sp>
        <p:nvSpPr>
          <p:cNvPr id="2" name="AutoShape 2" descr="Network Switches | Juniper Networks U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611750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Question</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109</a:t>
            </a:fld>
            <a:endParaRPr/>
          </a:p>
        </p:txBody>
      </p:sp>
      <p:sp>
        <p:nvSpPr>
          <p:cNvPr id="4" name="Google Shape;56;p8"/>
          <p:cNvSpPr txBox="1"/>
          <p:nvPr/>
        </p:nvSpPr>
        <p:spPr>
          <a:xfrm>
            <a:off x="993900" y="1833375"/>
            <a:ext cx="8142000" cy="714283"/>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How layered network architecture solves the problem of proprietary systems?</a:t>
            </a:r>
            <a:endParaRPr lang="en-US" sz="2000" dirty="0">
              <a:latin typeface="Times New Roman"/>
              <a:ea typeface="Times New Roman"/>
              <a:cs typeface="Times New Roman"/>
              <a:sym typeface="Times New Roman"/>
            </a:endParaRP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92416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Answer</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110</a:t>
            </a:fld>
            <a:endParaRPr/>
          </a:p>
        </p:txBody>
      </p:sp>
      <p:sp>
        <p:nvSpPr>
          <p:cNvPr id="4" name="Google Shape;56;p8"/>
          <p:cNvSpPr txBox="1"/>
          <p:nvPr/>
        </p:nvSpPr>
        <p:spPr>
          <a:xfrm>
            <a:off x="993900" y="1833375"/>
            <a:ext cx="8142000" cy="2868719"/>
          </a:xfrm>
          <a:prstGeom prst="rect">
            <a:avLst/>
          </a:prstGeom>
          <a:noFill/>
          <a:ln>
            <a:noFill/>
          </a:ln>
        </p:spPr>
        <p:txBody>
          <a:bodyPr spcFirstLastPara="1" wrap="square" lIns="0" tIns="97775" rIns="0" bIns="0" anchor="t" anchorCtr="0">
            <a:spAutoFit/>
          </a:bodyPr>
          <a:lstStyle/>
          <a:p>
            <a:pPr marL="146050">
              <a:buClr>
                <a:srgbClr val="CC9A00"/>
              </a:buClr>
              <a:buSzPts val="1300"/>
            </a:pPr>
            <a:r>
              <a:rPr lang="en-US" sz="2000" dirty="0">
                <a:latin typeface="Times New Roman"/>
                <a:ea typeface="Times New Roman"/>
                <a:cs typeface="Times New Roman"/>
                <a:sym typeface="Times New Roman"/>
              </a:rPr>
              <a:t>Layered network architecture solves the problem of proprietary systems by introducing standard rules at each layer of communication. </a:t>
            </a:r>
            <a:endParaRPr lang="en-US" sz="2000" dirty="0" smtClean="0">
              <a:latin typeface="Times New Roman"/>
              <a:ea typeface="Times New Roman"/>
              <a:cs typeface="Times New Roman"/>
              <a:sym typeface="Times New Roman"/>
            </a:endParaRPr>
          </a:p>
          <a:p>
            <a:pPr marL="146050">
              <a:buClr>
                <a:srgbClr val="CC9A00"/>
              </a:buClr>
              <a:buSzPts val="1300"/>
            </a:pPr>
            <a:endParaRPr lang="en-US" sz="2000" dirty="0">
              <a:latin typeface="Times New Roman"/>
              <a:ea typeface="Times New Roman"/>
              <a:cs typeface="Times New Roman"/>
              <a:sym typeface="Times New Roman"/>
            </a:endParaRPr>
          </a:p>
          <a:p>
            <a:pPr marL="146050">
              <a:buClr>
                <a:srgbClr val="CC9A00"/>
              </a:buClr>
              <a:buSzPts val="1300"/>
            </a:pPr>
            <a:r>
              <a:rPr lang="en-US" sz="2000" dirty="0">
                <a:latin typeface="Times New Roman"/>
                <a:ea typeface="Times New Roman"/>
                <a:cs typeface="Times New Roman"/>
                <a:sym typeface="Times New Roman"/>
              </a:rPr>
              <a:t>Instead of each company using its own complete system, all devices follow the same set of protocols at each layer. </a:t>
            </a:r>
            <a:endParaRPr lang="en-US" sz="2000" dirty="0" smtClean="0">
              <a:latin typeface="Times New Roman"/>
              <a:ea typeface="Times New Roman"/>
              <a:cs typeface="Times New Roman"/>
              <a:sym typeface="Times New Roman"/>
            </a:endParaRPr>
          </a:p>
          <a:p>
            <a:pPr marL="146050">
              <a:buClr>
                <a:srgbClr val="CC9A00"/>
              </a:buClr>
              <a:buSzPts val="1300"/>
            </a:pPr>
            <a:endParaRPr lang="en-US" sz="2000" dirty="0">
              <a:latin typeface="Times New Roman"/>
              <a:ea typeface="Times New Roman"/>
              <a:cs typeface="Times New Roman"/>
              <a:sym typeface="Times New Roman"/>
            </a:endParaRPr>
          </a:p>
          <a:p>
            <a:pPr marL="146050">
              <a:buClr>
                <a:srgbClr val="CC9A00"/>
              </a:buClr>
              <a:buSzPts val="1300"/>
            </a:pPr>
            <a:r>
              <a:rPr lang="en-US" sz="2000" dirty="0">
                <a:latin typeface="Times New Roman"/>
                <a:ea typeface="Times New Roman"/>
                <a:cs typeface="Times New Roman"/>
                <a:sym typeface="Times New Roman"/>
              </a:rPr>
              <a:t>This ensures that even devices from different manufacturers can communicate with each other, as they understand the same formats, addressing methods, and transmission rules.</a:t>
            </a: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25911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OSI Model</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111</a:t>
            </a:fld>
            <a:endParaRPr/>
          </a:p>
        </p:txBody>
      </p:sp>
      <p:sp>
        <p:nvSpPr>
          <p:cNvPr id="5" name="Google Shape;56;p8"/>
          <p:cNvSpPr txBox="1"/>
          <p:nvPr/>
        </p:nvSpPr>
        <p:spPr>
          <a:xfrm>
            <a:off x="883805" y="1683286"/>
            <a:ext cx="8142000" cy="1637613"/>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The Open Systems Interconnection (OSI) model was developed by the International Organization for Standardization (ISO) to standardize communication between different computer systems</a:t>
            </a:r>
            <a:r>
              <a:rPr lang="en-US" sz="2000" dirty="0" smtClean="0">
                <a:latin typeface="Times New Roman"/>
                <a:ea typeface="Times New Roman"/>
                <a:cs typeface="Times New Roman"/>
                <a:sym typeface="Times New Roman"/>
              </a:rPr>
              <a:t>.</a:t>
            </a:r>
          </a:p>
          <a:p>
            <a:pPr marL="146050" lvl="0">
              <a:buClr>
                <a:srgbClr val="CC9A00"/>
              </a:buClr>
              <a:buSzPts val="1300"/>
            </a:pPr>
            <a:endParaRPr lang="en-US" sz="2000" dirty="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OSI Model has 7 layers.</a:t>
            </a:r>
          </a:p>
        </p:txBody>
      </p:sp>
    </p:spTree>
    <p:extLst>
      <p:ext uri="{BB962C8B-B14F-4D97-AF65-F5344CB8AC3E}">
        <p14:creationId xmlns:p14="http://schemas.microsoft.com/office/powerpoint/2010/main" val="2934183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a:stretch>
            <a:fillRect/>
          </a:stretch>
        </p:blipFill>
        <p:spPr>
          <a:xfrm>
            <a:off x="2564296" y="854765"/>
            <a:ext cx="4393096" cy="5625548"/>
          </a:xfrm>
          <a:prstGeom prst="rect">
            <a:avLst/>
          </a:prstGeom>
        </p:spPr>
      </p:pic>
    </p:spTree>
    <p:extLst>
      <p:ext uri="{BB962C8B-B14F-4D97-AF65-F5344CB8AC3E}">
        <p14:creationId xmlns:p14="http://schemas.microsoft.com/office/powerpoint/2010/main" val="3320387046"/>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p:nvPr/>
        </p:nvPicPr>
        <p:blipFill>
          <a:blip r:embed="rId2"/>
          <a:stretch>
            <a:fillRect/>
          </a:stretch>
        </p:blipFill>
        <p:spPr>
          <a:xfrm>
            <a:off x="2156791" y="1441173"/>
            <a:ext cx="5327374" cy="4452731"/>
          </a:xfrm>
          <a:prstGeom prst="rect">
            <a:avLst/>
          </a:prstGeom>
        </p:spPr>
      </p:pic>
    </p:spTree>
    <p:extLst>
      <p:ext uri="{BB962C8B-B14F-4D97-AF65-F5344CB8AC3E}">
        <p14:creationId xmlns:p14="http://schemas.microsoft.com/office/powerpoint/2010/main" val="1735443688"/>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a:t>Application Layer:</a:t>
            </a:r>
          </a:p>
        </p:txBody>
      </p:sp>
      <p:sp>
        <p:nvSpPr>
          <p:cNvPr id="56" name="Google Shape;56;p8"/>
          <p:cNvSpPr txBox="1"/>
          <p:nvPr/>
        </p:nvSpPr>
        <p:spPr>
          <a:xfrm>
            <a:off x="883805" y="1864906"/>
            <a:ext cx="8142000" cy="714283"/>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Provides the interface for applications to access network services, such as email, file transfer, and web browsing.</a:t>
            </a: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114</a:t>
            </a:fld>
            <a:endParaRPr/>
          </a:p>
        </p:txBody>
      </p:sp>
      <p:sp>
        <p:nvSpPr>
          <p:cNvPr id="2" name="AutoShape 2" descr="Network Switches | Juniper Networks U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780122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a:t>Presentation Layer:</a:t>
            </a:r>
          </a:p>
        </p:txBody>
      </p:sp>
      <p:sp>
        <p:nvSpPr>
          <p:cNvPr id="56" name="Google Shape;56;p8"/>
          <p:cNvSpPr txBox="1"/>
          <p:nvPr/>
        </p:nvSpPr>
        <p:spPr>
          <a:xfrm>
            <a:off x="883805" y="1864906"/>
            <a:ext cx="8142000" cy="714283"/>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Handles data formatting, encryption, and compression to ensure compatibility between different systems.</a:t>
            </a: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115</a:t>
            </a:fld>
            <a:endParaRPr/>
          </a:p>
        </p:txBody>
      </p:sp>
      <p:sp>
        <p:nvSpPr>
          <p:cNvPr id="2" name="AutoShape 2" descr="Network Switches | Juniper Networks U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404332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a:t>Session Layer:</a:t>
            </a:r>
          </a:p>
        </p:txBody>
      </p:sp>
      <p:sp>
        <p:nvSpPr>
          <p:cNvPr id="56" name="Google Shape;56;p8"/>
          <p:cNvSpPr txBox="1"/>
          <p:nvPr/>
        </p:nvSpPr>
        <p:spPr>
          <a:xfrm>
            <a:off x="883805" y="1864906"/>
            <a:ext cx="8142000" cy="714283"/>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Manages communication sessions between applications, establishing, coordinating, and terminating connections.</a:t>
            </a: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116</a:t>
            </a:fld>
            <a:endParaRPr/>
          </a:p>
        </p:txBody>
      </p:sp>
      <p:sp>
        <p:nvSpPr>
          <p:cNvPr id="2" name="AutoShape 2" descr="Network Switches | Juniper Networks U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433251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a:t>Transport Layer:</a:t>
            </a:r>
          </a:p>
        </p:txBody>
      </p:sp>
      <p:sp>
        <p:nvSpPr>
          <p:cNvPr id="56" name="Google Shape;56;p8"/>
          <p:cNvSpPr txBox="1"/>
          <p:nvPr/>
        </p:nvSpPr>
        <p:spPr>
          <a:xfrm>
            <a:off x="883805" y="1864906"/>
            <a:ext cx="8142000" cy="714283"/>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Ensures reliable end-to-end delivery of data, including error detection and correction.</a:t>
            </a: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117</a:t>
            </a:fld>
            <a:endParaRPr/>
          </a:p>
        </p:txBody>
      </p:sp>
      <p:sp>
        <p:nvSpPr>
          <p:cNvPr id="2" name="AutoShape 2" descr="Network Switches | Juniper Networks U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525892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smtClean="0"/>
              <a:t>Network </a:t>
            </a:r>
            <a:r>
              <a:rPr lang="en-US" dirty="0"/>
              <a:t>Layer:</a:t>
            </a:r>
          </a:p>
        </p:txBody>
      </p:sp>
      <p:sp>
        <p:nvSpPr>
          <p:cNvPr id="56" name="Google Shape;56;p8"/>
          <p:cNvSpPr txBox="1"/>
          <p:nvPr/>
        </p:nvSpPr>
        <p:spPr>
          <a:xfrm>
            <a:off x="883805" y="1864906"/>
            <a:ext cx="8142000" cy="714283"/>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Handles routing of data packets across networks, determining the best path for data to travel.</a:t>
            </a: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118</a:t>
            </a:fld>
            <a:endParaRPr/>
          </a:p>
        </p:txBody>
      </p:sp>
      <p:sp>
        <p:nvSpPr>
          <p:cNvPr id="2" name="AutoShape 2" descr="Network Switches | Juniper Networks U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858537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a:t>Data Link Layer:</a:t>
            </a:r>
          </a:p>
        </p:txBody>
      </p:sp>
      <p:sp>
        <p:nvSpPr>
          <p:cNvPr id="56" name="Google Shape;56;p8"/>
          <p:cNvSpPr txBox="1"/>
          <p:nvPr/>
        </p:nvSpPr>
        <p:spPr>
          <a:xfrm>
            <a:off x="883805" y="1864906"/>
            <a:ext cx="8142000" cy="714283"/>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Provides reliable transmission of data frames between two directly connected nodes.</a:t>
            </a: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119</a:t>
            </a:fld>
            <a:endParaRPr/>
          </a:p>
        </p:txBody>
      </p:sp>
      <p:sp>
        <p:nvSpPr>
          <p:cNvPr id="2" name="AutoShape 2" descr="Network Switches | Juniper Networks U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527570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a:t>Physical Layer:</a:t>
            </a:r>
          </a:p>
        </p:txBody>
      </p:sp>
      <p:sp>
        <p:nvSpPr>
          <p:cNvPr id="56" name="Google Shape;56;p8"/>
          <p:cNvSpPr txBox="1"/>
          <p:nvPr/>
        </p:nvSpPr>
        <p:spPr>
          <a:xfrm>
            <a:off x="883805" y="1864906"/>
            <a:ext cx="8142000" cy="714283"/>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Deals with the physical transmission of data over the network medium (e.g., cables, wireless signals).</a:t>
            </a: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120</a:t>
            </a:fld>
            <a:endParaRPr/>
          </a:p>
        </p:txBody>
      </p:sp>
      <p:sp>
        <p:nvSpPr>
          <p:cNvPr id="2" name="AutoShape 2" descr="Network Switches | Juniper Networks U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44130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Question</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121</a:t>
            </a:fld>
            <a:endParaRPr/>
          </a:p>
        </p:txBody>
      </p:sp>
      <p:sp>
        <p:nvSpPr>
          <p:cNvPr id="4" name="Google Shape;56;p8"/>
          <p:cNvSpPr txBox="1"/>
          <p:nvPr/>
        </p:nvSpPr>
        <p:spPr>
          <a:xfrm>
            <a:off x="993900" y="1833375"/>
            <a:ext cx="8142000" cy="1022060"/>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Imagine you are sending a message to your friend using WhatsApp on your phone while connected to Wi-Fi</a:t>
            </a:r>
            <a:r>
              <a:rPr lang="en-US" sz="2000" dirty="0" smtClean="0">
                <a:latin typeface="Times New Roman"/>
                <a:ea typeface="Times New Roman"/>
                <a:cs typeface="Times New Roman"/>
                <a:sym typeface="Times New Roman"/>
              </a:rPr>
              <a:t>. Explain what happen the process with OSI model?</a:t>
            </a:r>
            <a:endParaRPr lang="en-US" sz="2000" dirty="0">
              <a:latin typeface="Times New Roman"/>
              <a:ea typeface="Times New Roman"/>
              <a:cs typeface="Times New Roman"/>
              <a:sym typeface="Times New Roman"/>
            </a:endParaRP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52376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11152</TotalTime>
  <Words>4243</Words>
  <Application>Microsoft Office PowerPoint</Application>
  <PresentationFormat>Custom</PresentationFormat>
  <Paragraphs>668</Paragraphs>
  <Slides>121</Slides>
  <Notes>109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121</vt:i4>
      </vt:variant>
    </vt:vector>
  </HeadingPairs>
  <TitlesOfParts>
    <vt:vector size="129" baseType="lpstr">
      <vt:lpstr>Arial</vt:lpstr>
      <vt:lpstr>Calibri</vt:lpstr>
      <vt:lpstr>CiscoSansTT</vt:lpstr>
      <vt:lpstr>Iskoola Pota</vt:lpstr>
      <vt:lpstr>Noto Sans Symbols</vt:lpstr>
      <vt:lpstr>Times New Roman</vt:lpstr>
      <vt:lpstr>Wingdings</vt:lpstr>
      <vt:lpstr>Office Theme</vt:lpstr>
      <vt:lpstr>Computer Networks</vt:lpstr>
      <vt:lpstr>What is a Computer Network? </vt:lpstr>
      <vt:lpstr>Host / End Device? </vt:lpstr>
      <vt:lpstr>Intermediary Devices </vt:lpstr>
      <vt:lpstr>Intermediary Devices </vt:lpstr>
      <vt:lpstr>Components of Data Communication System  </vt:lpstr>
      <vt:lpstr>1. Sender </vt:lpstr>
      <vt:lpstr>2. Receiver </vt:lpstr>
      <vt:lpstr>Question:  </vt:lpstr>
      <vt:lpstr>Client? </vt:lpstr>
      <vt:lpstr>Server? </vt:lpstr>
      <vt:lpstr>PowerPoint Presentation</vt:lpstr>
      <vt:lpstr>Answer:  </vt:lpstr>
      <vt:lpstr>3. Transmission Media </vt:lpstr>
      <vt:lpstr>Guided Media (Wired)  </vt:lpstr>
      <vt:lpstr>Twisted pair cable</vt:lpstr>
      <vt:lpstr>Coaxial cable</vt:lpstr>
      <vt:lpstr>Fiber optic cable</vt:lpstr>
      <vt:lpstr>Unguided Media (Wireless)  </vt:lpstr>
      <vt:lpstr>Microwaves</vt:lpstr>
      <vt:lpstr>Radio waves</vt:lpstr>
      <vt:lpstr>Ethernet</vt:lpstr>
      <vt:lpstr>USB</vt:lpstr>
      <vt:lpstr>Question  </vt:lpstr>
      <vt:lpstr>NIC?   </vt:lpstr>
      <vt:lpstr>PowerPoint Presentation</vt:lpstr>
      <vt:lpstr>Question  </vt:lpstr>
      <vt:lpstr>Answer  </vt:lpstr>
      <vt:lpstr>How MAC addresses stay unique  </vt:lpstr>
      <vt:lpstr>MAC Address</vt:lpstr>
      <vt:lpstr>4. Message </vt:lpstr>
      <vt:lpstr>Question  </vt:lpstr>
      <vt:lpstr>The Bit</vt:lpstr>
      <vt:lpstr>Signals</vt:lpstr>
      <vt:lpstr>Digital Signals</vt:lpstr>
      <vt:lpstr>Digital Signals</vt:lpstr>
      <vt:lpstr>Analog Signals</vt:lpstr>
      <vt:lpstr>Characteristics of an Analog system</vt:lpstr>
      <vt:lpstr>Modulation</vt:lpstr>
      <vt:lpstr>Modem</vt:lpstr>
      <vt:lpstr>Answer  </vt:lpstr>
      <vt:lpstr>Question  </vt:lpstr>
      <vt:lpstr>Answer  </vt:lpstr>
      <vt:lpstr>Bandwidth  </vt:lpstr>
      <vt:lpstr>Throughput  </vt:lpstr>
      <vt:lpstr>Question  </vt:lpstr>
      <vt:lpstr>Answer  </vt:lpstr>
      <vt:lpstr>Question  </vt:lpstr>
      <vt:lpstr>Answer  </vt:lpstr>
      <vt:lpstr>Data Transmission Rate (Bit Rate)  </vt:lpstr>
      <vt:lpstr>Baud Rate (Signaling Rate)  </vt:lpstr>
      <vt:lpstr>Question  </vt:lpstr>
      <vt:lpstr>Answer  </vt:lpstr>
      <vt:lpstr>Question  </vt:lpstr>
      <vt:lpstr>Answer  </vt:lpstr>
      <vt:lpstr>5. Protocol </vt:lpstr>
      <vt:lpstr>Question  </vt:lpstr>
      <vt:lpstr>Answer  </vt:lpstr>
      <vt:lpstr> Rules or Main aspects in HTTP  </vt:lpstr>
      <vt:lpstr>PowerPoint Presentation</vt:lpstr>
      <vt:lpstr>Network Infrastructure</vt:lpstr>
      <vt:lpstr>Hub</vt:lpstr>
      <vt:lpstr>Switch</vt:lpstr>
      <vt:lpstr>Router</vt:lpstr>
      <vt:lpstr>Activity: Install Packet Tracer</vt:lpstr>
      <vt:lpstr>Types of Computer Networks  </vt:lpstr>
      <vt:lpstr>Personal Area Network (PAN)   </vt:lpstr>
      <vt:lpstr>Local Area Network (LAN)    </vt:lpstr>
      <vt:lpstr>Metropolitan Area Network (MAN)     </vt:lpstr>
      <vt:lpstr>Wide area network (WAN)      </vt:lpstr>
      <vt:lpstr>PowerPoint Presentation</vt:lpstr>
      <vt:lpstr>The Internet       </vt:lpstr>
      <vt:lpstr>ISP       </vt:lpstr>
      <vt:lpstr>Intranets       </vt:lpstr>
      <vt:lpstr>Extranets       </vt:lpstr>
      <vt:lpstr>PowerPoint Presentation</vt:lpstr>
      <vt:lpstr>Creating a LAN        </vt:lpstr>
      <vt:lpstr>Network topologies         </vt:lpstr>
      <vt:lpstr>Physical Topology         </vt:lpstr>
      <vt:lpstr>Star Topology          </vt:lpstr>
      <vt:lpstr>PowerPoint Presentation</vt:lpstr>
      <vt:lpstr>Bus Topology           </vt:lpstr>
      <vt:lpstr>PowerPoint Presentation</vt:lpstr>
      <vt:lpstr>Ring Topology            </vt:lpstr>
      <vt:lpstr>PowerPoint Presentation</vt:lpstr>
      <vt:lpstr>Mesh Topology             </vt:lpstr>
      <vt:lpstr>PowerPoint Presentation</vt:lpstr>
      <vt:lpstr>Tree Topology              </vt:lpstr>
      <vt:lpstr>PowerPoint Presentation</vt:lpstr>
      <vt:lpstr>Hybrid Topology               </vt:lpstr>
      <vt:lpstr>PowerPoint Presentation</vt:lpstr>
      <vt:lpstr>Logical Topology               </vt:lpstr>
      <vt:lpstr>Question  </vt:lpstr>
      <vt:lpstr>Answer  </vt:lpstr>
      <vt:lpstr>Question  </vt:lpstr>
      <vt:lpstr>Answer  </vt:lpstr>
      <vt:lpstr>Question  </vt:lpstr>
      <vt:lpstr>Answer  </vt:lpstr>
      <vt:lpstr>Question  </vt:lpstr>
      <vt:lpstr>Data Packets               </vt:lpstr>
      <vt:lpstr>Data Packet  </vt:lpstr>
      <vt:lpstr>Circuit Switching               </vt:lpstr>
      <vt:lpstr>Packet Switching               </vt:lpstr>
      <vt:lpstr>Question  </vt:lpstr>
      <vt:lpstr>Answer  </vt:lpstr>
      <vt:lpstr>IP Address</vt:lpstr>
      <vt:lpstr>Layered Network Architecture</vt:lpstr>
      <vt:lpstr>Proprietary Systems</vt:lpstr>
      <vt:lpstr>Question  </vt:lpstr>
      <vt:lpstr>Answer  </vt:lpstr>
      <vt:lpstr>OSI Model  </vt:lpstr>
      <vt:lpstr>PowerPoint Presentation</vt:lpstr>
      <vt:lpstr>PowerPoint Presentation</vt:lpstr>
      <vt:lpstr>Application Layer:</vt:lpstr>
      <vt:lpstr>Presentation Layer:</vt:lpstr>
      <vt:lpstr>Session Layer:</vt:lpstr>
      <vt:lpstr>Transport Layer:</vt:lpstr>
      <vt:lpstr>Network Layer:</vt:lpstr>
      <vt:lpstr>Data Link Layer:</vt:lpstr>
      <vt:lpstr>Physical Layer:</vt:lpstr>
      <vt:lpstr>Question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System Administration</dc:title>
  <dc:creator>Chamindu</dc:creator>
  <cp:lastModifiedBy>Chamindu</cp:lastModifiedBy>
  <cp:revision>108</cp:revision>
  <dcterms:modified xsi:type="dcterms:W3CDTF">2026-04-23T01:29:06Z</dcterms:modified>
</cp:coreProperties>
</file>